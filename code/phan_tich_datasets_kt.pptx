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notesMasterIdLst>
    <p:notesMasterId r:id="rId7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4709160"/>
            <a:ext cx="12191695" cy="2148840"/>
          </a:xfrm>
          <a:prstGeom prst="rect">
            <a:avLst/>
          </a:prstGeom>
          <a:solidFill>
            <a:srgbClr val="141A45"/>
          </a:solidFill>
          <a:ln/>
        </p:spPr>
      </p:sp>
      <p:sp>
        <p:nvSpPr>
          <p:cNvPr id="3" name="Text 1"/>
          <p:cNvSpPr/>
          <p:nvPr/>
        </p:nvSpPr>
        <p:spPr>
          <a:xfrm>
            <a:off x="822960" y="1874520"/>
            <a:ext cx="10515600" cy="457200"/>
          </a:xfrm>
          <a:prstGeom prst="rect">
            <a:avLst/>
          </a:prstGeom>
          <a:noFill/>
          <a:ln/>
        </p:spPr>
        <p:txBody>
          <a:bodyPr wrap="square" lIns="0" tIns="0" rIns="0" bIns="0" rtlCol="0" anchor="ctr"/>
          <a:lstStyle/>
          <a:p>
            <a:pPr algn="l" indent="0" marL="0">
              <a:buNone/>
            </a:pPr>
            <a:r>
              <a:rPr lang="en-US" sz="1400" b="1" spc="300" kern="0" dirty="0">
                <a:solidFill>
                  <a:srgbClr val="FFFFFF"/>
                </a:solidFill>
                <a:latin typeface="Calibri" pitchFamily="34" charset="0"/>
                <a:ea typeface="Calibri" pitchFamily="34" charset="-122"/>
                <a:cs typeface="Calibri" pitchFamily="34" charset="-120"/>
              </a:rPr>
              <a:t>PHÂN TÍCH DỮ LIỆU KNOWLEDGE TRACING</a:t>
            </a:r>
            <a:endParaRPr lang="en-US" sz="1400" dirty="0"/>
          </a:p>
        </p:txBody>
      </p:sp>
      <p:sp>
        <p:nvSpPr>
          <p:cNvPr id="4" name="Text 2"/>
          <p:cNvSpPr/>
          <p:nvPr/>
        </p:nvSpPr>
        <p:spPr>
          <a:xfrm>
            <a:off x="777240" y="2286000"/>
            <a:ext cx="10607040" cy="13716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Khảo sát cấu trúc &amp; thống kê mô tả</a:t>
            </a:r>
            <a:endParaRPr lang="en-US" sz="4000" dirty="0"/>
          </a:p>
        </p:txBody>
      </p:sp>
      <p:sp>
        <p:nvSpPr>
          <p:cNvPr id="5" name="Text 3"/>
          <p:cNvSpPr/>
          <p:nvPr/>
        </p:nvSpPr>
        <p:spPr>
          <a:xfrm>
            <a:off x="822960" y="3429000"/>
            <a:ext cx="10058400" cy="45720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5 dataset family  ·  7 config  ·  hơn 43 triệu tương tác  ·  15 GB dữ liệu thô</a:t>
            </a:r>
            <a:endParaRPr lang="en-US" sz="1600" dirty="0"/>
          </a:p>
        </p:txBody>
      </p:sp>
      <p:sp>
        <p:nvSpPr>
          <p:cNvPr id="6" name="Shape 4"/>
          <p:cNvSpPr/>
          <p:nvPr/>
        </p:nvSpPr>
        <p:spPr>
          <a:xfrm>
            <a:off x="822960" y="5074920"/>
            <a:ext cx="1115568" cy="384048"/>
          </a:xfrm>
          <a:prstGeom prst="roundRect">
            <a:avLst>
              <a:gd name="adj" fmla="val 19048"/>
            </a:avLst>
          </a:prstGeom>
          <a:solidFill>
            <a:srgbClr val="2A78D6"/>
          </a:solidFill>
          <a:ln/>
        </p:spPr>
      </p:sp>
      <p:sp>
        <p:nvSpPr>
          <p:cNvPr id="7" name="Text 5"/>
          <p:cNvSpPr/>
          <p:nvPr/>
        </p:nvSpPr>
        <p:spPr>
          <a:xfrm>
            <a:off x="822960" y="5074920"/>
            <a:ext cx="11155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assist09</a:t>
            </a:r>
            <a:endParaRPr lang="en-US" sz="1200" dirty="0"/>
          </a:p>
        </p:txBody>
      </p:sp>
      <p:sp>
        <p:nvSpPr>
          <p:cNvPr id="8" name="Shape 6"/>
          <p:cNvSpPr/>
          <p:nvPr/>
        </p:nvSpPr>
        <p:spPr>
          <a:xfrm>
            <a:off x="2103120" y="5074920"/>
            <a:ext cx="1115568" cy="384048"/>
          </a:xfrm>
          <a:prstGeom prst="roundRect">
            <a:avLst>
              <a:gd name="adj" fmla="val 19048"/>
            </a:avLst>
          </a:prstGeom>
          <a:solidFill>
            <a:srgbClr val="EB6834"/>
          </a:solidFill>
          <a:ln/>
        </p:spPr>
      </p:sp>
      <p:sp>
        <p:nvSpPr>
          <p:cNvPr id="9" name="Text 7"/>
          <p:cNvSpPr/>
          <p:nvPr/>
        </p:nvSpPr>
        <p:spPr>
          <a:xfrm>
            <a:off x="2103120" y="5074920"/>
            <a:ext cx="111556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assist12</a:t>
            </a:r>
            <a:endParaRPr lang="en-US" sz="1200" dirty="0"/>
          </a:p>
        </p:txBody>
      </p:sp>
      <p:sp>
        <p:nvSpPr>
          <p:cNvPr id="10" name="Shape 8"/>
          <p:cNvSpPr/>
          <p:nvPr/>
        </p:nvSpPr>
        <p:spPr>
          <a:xfrm>
            <a:off x="3383280" y="5074920"/>
            <a:ext cx="1207008" cy="384048"/>
          </a:xfrm>
          <a:prstGeom prst="roundRect">
            <a:avLst>
              <a:gd name="adj" fmla="val 19048"/>
            </a:avLst>
          </a:prstGeom>
          <a:solidFill>
            <a:srgbClr val="1BAF7A"/>
          </a:solidFill>
          <a:ln/>
        </p:spPr>
      </p:sp>
      <p:sp>
        <p:nvSpPr>
          <p:cNvPr id="11" name="Text 9"/>
          <p:cNvSpPr/>
          <p:nvPr/>
        </p:nvSpPr>
        <p:spPr>
          <a:xfrm>
            <a:off x="3383280" y="5074920"/>
            <a:ext cx="1207008" cy="384048"/>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algebra05</a:t>
            </a:r>
            <a:endParaRPr lang="en-US" sz="1200" dirty="0"/>
          </a:p>
        </p:txBody>
      </p:sp>
      <p:sp>
        <p:nvSpPr>
          <p:cNvPr id="12" name="Shape 10"/>
          <p:cNvSpPr/>
          <p:nvPr/>
        </p:nvSpPr>
        <p:spPr>
          <a:xfrm>
            <a:off x="4754880" y="5074920"/>
            <a:ext cx="1115568" cy="384048"/>
          </a:xfrm>
          <a:prstGeom prst="roundRect">
            <a:avLst>
              <a:gd name="adj" fmla="val 19048"/>
            </a:avLst>
          </a:prstGeom>
          <a:solidFill>
            <a:srgbClr val="EDA100"/>
          </a:solidFill>
          <a:ln/>
        </p:spPr>
      </p:sp>
      <p:sp>
        <p:nvSpPr>
          <p:cNvPr id="13" name="Text 11"/>
          <p:cNvSpPr/>
          <p:nvPr/>
        </p:nvSpPr>
        <p:spPr>
          <a:xfrm>
            <a:off x="4754880" y="5074920"/>
            <a:ext cx="1115568" cy="384048"/>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bridge06</a:t>
            </a:r>
            <a:endParaRPr lang="en-US" sz="1200" dirty="0"/>
          </a:p>
        </p:txBody>
      </p:sp>
      <p:sp>
        <p:nvSpPr>
          <p:cNvPr id="14" name="Shape 12"/>
          <p:cNvSpPr/>
          <p:nvPr/>
        </p:nvSpPr>
        <p:spPr>
          <a:xfrm>
            <a:off x="6035040" y="5074920"/>
            <a:ext cx="1024128" cy="384048"/>
          </a:xfrm>
          <a:prstGeom prst="roundRect">
            <a:avLst>
              <a:gd name="adj" fmla="val 19048"/>
            </a:avLst>
          </a:prstGeom>
          <a:solidFill>
            <a:srgbClr val="E87BA4"/>
          </a:solidFill>
          <a:ln/>
        </p:spPr>
      </p:sp>
      <p:sp>
        <p:nvSpPr>
          <p:cNvPr id="15" name="Text 13"/>
          <p:cNvSpPr/>
          <p:nvPr/>
        </p:nvSpPr>
        <p:spPr>
          <a:xfrm>
            <a:off x="6035040" y="5074920"/>
            <a:ext cx="1024128" cy="384048"/>
          </a:xfrm>
          <a:prstGeom prst="rect">
            <a:avLst/>
          </a:prstGeom>
          <a:noFill/>
          <a:ln/>
        </p:spPr>
        <p:txBody>
          <a:bodyPr wrap="square" lIns="0" tIns="0" rIns="0" bIns="0" rtlCol="0" anchor="ctr"/>
          <a:lstStyle/>
          <a:p>
            <a:pPr algn="ctr" indent="0" marL="0">
              <a:buNone/>
            </a:pPr>
            <a:r>
              <a:rPr lang="en-US" sz="1200" b="1" dirty="0">
                <a:solidFill>
                  <a:srgbClr val="000000"/>
                </a:solidFill>
                <a:latin typeface="Calibri" pitchFamily="34" charset="0"/>
                <a:ea typeface="Calibri" pitchFamily="34" charset="-122"/>
                <a:cs typeface="Calibri" pitchFamily="34" charset="-120"/>
              </a:rPr>
              <a:t>xes3g5m</a:t>
            </a:r>
            <a:endParaRPr lang="en-US" sz="1200" dirty="0"/>
          </a:p>
        </p:txBody>
      </p:sp>
      <p:sp>
        <p:nvSpPr>
          <p:cNvPr id="16" name="Shape 14"/>
          <p:cNvSpPr/>
          <p:nvPr/>
        </p:nvSpPr>
        <p:spPr>
          <a:xfrm>
            <a:off x="7223760" y="5074920"/>
            <a:ext cx="749808" cy="384048"/>
          </a:xfrm>
          <a:prstGeom prst="roundRect">
            <a:avLst>
              <a:gd name="adj" fmla="val 19048"/>
            </a:avLst>
          </a:prstGeom>
          <a:solidFill>
            <a:srgbClr val="008300"/>
          </a:solidFill>
          <a:ln/>
        </p:spPr>
      </p:sp>
      <p:sp>
        <p:nvSpPr>
          <p:cNvPr id="17" name="Text 15"/>
          <p:cNvSpPr/>
          <p:nvPr/>
        </p:nvSpPr>
        <p:spPr>
          <a:xfrm>
            <a:off x="7223760" y="5074920"/>
            <a:ext cx="74980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eedi</a:t>
            </a:r>
            <a:endParaRPr lang="en-US" sz="1200" dirty="0"/>
          </a:p>
        </p:txBody>
      </p:sp>
      <p:sp>
        <p:nvSpPr>
          <p:cNvPr id="18" name="Shape 16"/>
          <p:cNvSpPr/>
          <p:nvPr/>
        </p:nvSpPr>
        <p:spPr>
          <a:xfrm>
            <a:off x="8138160" y="5074920"/>
            <a:ext cx="841248" cy="384048"/>
          </a:xfrm>
          <a:prstGeom prst="roundRect">
            <a:avLst>
              <a:gd name="adj" fmla="val 19048"/>
            </a:avLst>
          </a:prstGeom>
          <a:solidFill>
            <a:srgbClr val="4A3AA7"/>
          </a:solidFill>
          <a:ln/>
        </p:spPr>
      </p:sp>
      <p:sp>
        <p:nvSpPr>
          <p:cNvPr id="19" name="Text 17"/>
          <p:cNvSpPr/>
          <p:nvPr/>
        </p:nvSpPr>
        <p:spPr>
          <a:xfrm>
            <a:off x="8138160" y="5074920"/>
            <a:ext cx="8412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junyi</a:t>
            </a:r>
            <a:endParaRPr lang="en-US" sz="1200" dirty="0"/>
          </a:p>
        </p:txBody>
      </p:sp>
      <p:sp>
        <p:nvSpPr>
          <p:cNvPr id="20" name="Text 18"/>
          <p:cNvSpPr/>
          <p:nvPr/>
        </p:nvSpPr>
        <p:spPr>
          <a:xfrm>
            <a:off x="822960" y="5989320"/>
            <a:ext cx="9144000" cy="32004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Nguồn: code/notebooks/datasets_deep_dive.ipynb  ·  code/datasets/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640080"/>
          </a:xfrm>
          <a:prstGeom prst="rect">
            <a:avLst/>
          </a:prstGeom>
          <a:noFill/>
          <a:ln/>
        </p:spPr>
        <p:txBody>
          <a:bodyPr wrap="square" lIns="0" tIns="0" rIns="0" bIns="0" rtlCol="0" anchor="ctr"/>
          <a:lstStyle/>
          <a:p>
            <a:pPr indent="0" marL="0">
              <a:buNone/>
            </a:pPr>
            <a:r>
              <a:rPr lang="en-US" sz="3400" b="1" dirty="0">
                <a:solidFill>
                  <a:srgbClr val="000000"/>
                </a:solidFill>
                <a:latin typeface="Cambria" pitchFamily="34" charset="0"/>
                <a:ea typeface="Cambria" pitchFamily="34" charset="-122"/>
                <a:cs typeface="Cambria" pitchFamily="34" charset="-120"/>
              </a:rPr>
              <a:t>Nội dung báo cáo</a:t>
            </a:r>
            <a:endParaRPr lang="en-US" sz="3400" dirty="0"/>
          </a:p>
        </p:txBody>
      </p:sp>
      <p:sp>
        <p:nvSpPr>
          <p:cNvPr id="3" name="Shape 1"/>
          <p:cNvSpPr/>
          <p:nvPr/>
        </p:nvSpPr>
        <p:spPr>
          <a:xfrm>
            <a:off x="548640" y="2423160"/>
            <a:ext cx="5349240" cy="0"/>
          </a:xfrm>
          <a:prstGeom prst="line">
            <a:avLst/>
          </a:prstGeom>
          <a:noFill/>
          <a:ln w="9525">
            <a:solidFill>
              <a:srgbClr val="E3E7F1"/>
            </a:solidFill>
            <a:prstDash val="solid"/>
          </a:ln>
        </p:spPr>
      </p:sp>
      <p:sp>
        <p:nvSpPr>
          <p:cNvPr id="4" name="Text 2"/>
          <p:cNvSpPr/>
          <p:nvPr/>
        </p:nvSpPr>
        <p:spPr>
          <a:xfrm>
            <a:off x="548640" y="1417320"/>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01</a:t>
            </a:r>
            <a:endParaRPr lang="en-US" sz="3000" dirty="0"/>
          </a:p>
        </p:txBody>
      </p:sp>
      <p:sp>
        <p:nvSpPr>
          <p:cNvPr id="5" name="Text 3"/>
          <p:cNvSpPr/>
          <p:nvPr/>
        </p:nvSpPr>
        <p:spPr>
          <a:xfrm>
            <a:off x="1371600" y="1453896"/>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Tổng quan</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Quy mô dữ liệu, phương pháp khảo sát</a:t>
            </a:r>
            <a:endParaRPr lang="en-US" sz="1700" dirty="0"/>
          </a:p>
        </p:txBody>
      </p:sp>
      <p:sp>
        <p:nvSpPr>
          <p:cNvPr id="6" name="Shape 4"/>
          <p:cNvSpPr/>
          <p:nvPr/>
        </p:nvSpPr>
        <p:spPr>
          <a:xfrm>
            <a:off x="548640" y="3630168"/>
            <a:ext cx="5349240" cy="0"/>
          </a:xfrm>
          <a:prstGeom prst="line">
            <a:avLst/>
          </a:prstGeom>
          <a:noFill/>
          <a:ln w="9525">
            <a:solidFill>
              <a:srgbClr val="E3E7F1"/>
            </a:solidFill>
            <a:prstDash val="solid"/>
          </a:ln>
        </p:spPr>
      </p:sp>
      <p:sp>
        <p:nvSpPr>
          <p:cNvPr id="7" name="Text 5"/>
          <p:cNvSpPr/>
          <p:nvPr/>
        </p:nvSpPr>
        <p:spPr>
          <a:xfrm>
            <a:off x="548640" y="2624328"/>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02</a:t>
            </a:r>
            <a:endParaRPr lang="en-US" sz="3000" dirty="0"/>
          </a:p>
        </p:txBody>
      </p:sp>
      <p:sp>
        <p:nvSpPr>
          <p:cNvPr id="8" name="Text 6"/>
          <p:cNvSpPr/>
          <p:nvPr/>
        </p:nvSpPr>
        <p:spPr>
          <a:xfrm>
            <a:off x="1371600" y="2660904"/>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ASSISTments</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assist09 (skill-builder) &amp; assist12 (with-affect)</a:t>
            </a:r>
            <a:endParaRPr lang="en-US" sz="1700" dirty="0"/>
          </a:p>
        </p:txBody>
      </p:sp>
      <p:sp>
        <p:nvSpPr>
          <p:cNvPr id="9" name="Shape 7"/>
          <p:cNvSpPr/>
          <p:nvPr/>
        </p:nvSpPr>
        <p:spPr>
          <a:xfrm>
            <a:off x="548640" y="4837176"/>
            <a:ext cx="5349240" cy="0"/>
          </a:xfrm>
          <a:prstGeom prst="line">
            <a:avLst/>
          </a:prstGeom>
          <a:noFill/>
          <a:ln w="9525">
            <a:solidFill>
              <a:srgbClr val="E3E7F1"/>
            </a:solidFill>
            <a:prstDash val="solid"/>
          </a:ln>
        </p:spPr>
      </p:sp>
      <p:sp>
        <p:nvSpPr>
          <p:cNvPr id="10" name="Text 8"/>
          <p:cNvSpPr/>
          <p:nvPr/>
        </p:nvSpPr>
        <p:spPr>
          <a:xfrm>
            <a:off x="548640" y="3831336"/>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03</a:t>
            </a:r>
            <a:endParaRPr lang="en-US" sz="3000" dirty="0"/>
          </a:p>
        </p:txBody>
      </p:sp>
      <p:sp>
        <p:nvSpPr>
          <p:cNvPr id="11" name="Text 9"/>
          <p:cNvSpPr/>
          <p:nvPr/>
        </p:nvSpPr>
        <p:spPr>
          <a:xfrm>
            <a:off x="1371600" y="3867912"/>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Eedi NeurIPS 2020</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Trắc nghiệm toán, cây môn học 4 cấp + ảnh minh hoạ</a:t>
            </a:r>
            <a:endParaRPr lang="en-US" sz="1700" dirty="0"/>
          </a:p>
        </p:txBody>
      </p:sp>
      <p:sp>
        <p:nvSpPr>
          <p:cNvPr id="12" name="Shape 10"/>
          <p:cNvSpPr/>
          <p:nvPr/>
        </p:nvSpPr>
        <p:spPr>
          <a:xfrm>
            <a:off x="548640" y="6044184"/>
            <a:ext cx="5349240" cy="0"/>
          </a:xfrm>
          <a:prstGeom prst="line">
            <a:avLst/>
          </a:prstGeom>
          <a:noFill/>
          <a:ln w="9525">
            <a:solidFill>
              <a:srgbClr val="E3E7F1"/>
            </a:solidFill>
            <a:prstDash val="solid"/>
          </a:ln>
        </p:spPr>
      </p:sp>
      <p:sp>
        <p:nvSpPr>
          <p:cNvPr id="13" name="Text 11"/>
          <p:cNvSpPr/>
          <p:nvPr/>
        </p:nvSpPr>
        <p:spPr>
          <a:xfrm>
            <a:off x="548640" y="5038344"/>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04</a:t>
            </a:r>
            <a:endParaRPr lang="en-US" sz="3000" dirty="0"/>
          </a:p>
        </p:txBody>
      </p:sp>
      <p:sp>
        <p:nvSpPr>
          <p:cNvPr id="14" name="Text 12"/>
          <p:cNvSpPr/>
          <p:nvPr/>
        </p:nvSpPr>
        <p:spPr>
          <a:xfrm>
            <a:off x="1371600" y="5074920"/>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Junyi Academy</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Log luyện tập, độ khó thích ứng</a:t>
            </a:r>
            <a:endParaRPr lang="en-US" sz="1700" dirty="0"/>
          </a:p>
        </p:txBody>
      </p:sp>
      <p:sp>
        <p:nvSpPr>
          <p:cNvPr id="15" name="Shape 13"/>
          <p:cNvSpPr/>
          <p:nvPr/>
        </p:nvSpPr>
        <p:spPr>
          <a:xfrm>
            <a:off x="6400800" y="2423160"/>
            <a:ext cx="5349240" cy="0"/>
          </a:xfrm>
          <a:prstGeom prst="line">
            <a:avLst/>
          </a:prstGeom>
          <a:noFill/>
          <a:ln w="9525">
            <a:solidFill>
              <a:srgbClr val="E3E7F1"/>
            </a:solidFill>
            <a:prstDash val="solid"/>
          </a:ln>
        </p:spPr>
      </p:sp>
      <p:sp>
        <p:nvSpPr>
          <p:cNvPr id="16" name="Text 14"/>
          <p:cNvSpPr/>
          <p:nvPr/>
        </p:nvSpPr>
        <p:spPr>
          <a:xfrm>
            <a:off x="6400800" y="1417320"/>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05</a:t>
            </a:r>
            <a:endParaRPr lang="en-US" sz="3000" dirty="0"/>
          </a:p>
        </p:txBody>
      </p:sp>
      <p:sp>
        <p:nvSpPr>
          <p:cNvPr id="17" name="Text 15"/>
          <p:cNvSpPr/>
          <p:nvPr/>
        </p:nvSpPr>
        <p:spPr>
          <a:xfrm>
            <a:off x="7223760" y="1453896"/>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PSLC KDD Cup 2010</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algebra05 &amp; bridge06 - log cấp bước (step)</a:t>
            </a:r>
            <a:endParaRPr lang="en-US" sz="1700" dirty="0"/>
          </a:p>
        </p:txBody>
      </p:sp>
      <p:sp>
        <p:nvSpPr>
          <p:cNvPr id="18" name="Shape 16"/>
          <p:cNvSpPr/>
          <p:nvPr/>
        </p:nvSpPr>
        <p:spPr>
          <a:xfrm>
            <a:off x="6400800" y="3630168"/>
            <a:ext cx="5349240" cy="0"/>
          </a:xfrm>
          <a:prstGeom prst="line">
            <a:avLst/>
          </a:prstGeom>
          <a:noFill/>
          <a:ln w="9525">
            <a:solidFill>
              <a:srgbClr val="E3E7F1"/>
            </a:solidFill>
            <a:prstDash val="solid"/>
          </a:ln>
        </p:spPr>
      </p:sp>
      <p:sp>
        <p:nvSpPr>
          <p:cNvPr id="19" name="Text 17"/>
          <p:cNvSpPr/>
          <p:nvPr/>
        </p:nvSpPr>
        <p:spPr>
          <a:xfrm>
            <a:off x="6400800" y="2624328"/>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06</a:t>
            </a:r>
            <a:endParaRPr lang="en-US" sz="3000" dirty="0"/>
          </a:p>
        </p:txBody>
      </p:sp>
      <p:sp>
        <p:nvSpPr>
          <p:cNvPr id="20" name="Text 18"/>
          <p:cNvSpPr/>
          <p:nvPr/>
        </p:nvSpPr>
        <p:spPr>
          <a:xfrm>
            <a:off x="7223760" y="2660904"/>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XES3G5M</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Câu hỏi tiếng Trung có ảnh + lời giải</a:t>
            </a:r>
            <a:endParaRPr lang="en-US" sz="1700" dirty="0"/>
          </a:p>
        </p:txBody>
      </p:sp>
      <p:sp>
        <p:nvSpPr>
          <p:cNvPr id="21" name="Shape 19"/>
          <p:cNvSpPr/>
          <p:nvPr/>
        </p:nvSpPr>
        <p:spPr>
          <a:xfrm>
            <a:off x="6400800" y="4837176"/>
            <a:ext cx="5349240" cy="0"/>
          </a:xfrm>
          <a:prstGeom prst="line">
            <a:avLst/>
          </a:prstGeom>
          <a:noFill/>
          <a:ln w="9525">
            <a:solidFill>
              <a:srgbClr val="E3E7F1"/>
            </a:solidFill>
            <a:prstDash val="solid"/>
          </a:ln>
        </p:spPr>
      </p:sp>
      <p:sp>
        <p:nvSpPr>
          <p:cNvPr id="22" name="Text 20"/>
          <p:cNvSpPr/>
          <p:nvPr/>
        </p:nvSpPr>
        <p:spPr>
          <a:xfrm>
            <a:off x="6400800" y="3831336"/>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07</a:t>
            </a:r>
            <a:endParaRPr lang="en-US" sz="3000" dirty="0"/>
          </a:p>
        </p:txBody>
      </p:sp>
      <p:sp>
        <p:nvSpPr>
          <p:cNvPr id="23" name="Text 21"/>
          <p:cNvSpPr/>
          <p:nvPr/>
        </p:nvSpPr>
        <p:spPr>
          <a:xfrm>
            <a:off x="7223760" y="3867912"/>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So sánh chéo</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Quy mô, tỉ lệ đa-KC, modality giữa 7 config</a:t>
            </a:r>
            <a:endParaRPr lang="en-US" sz="1700" dirty="0"/>
          </a:p>
        </p:txBody>
      </p:sp>
      <p:sp>
        <p:nvSpPr>
          <p:cNvPr id="24" name="Shape 22"/>
          <p:cNvSpPr/>
          <p:nvPr/>
        </p:nvSpPr>
        <p:spPr>
          <a:xfrm>
            <a:off x="6400800" y="6044184"/>
            <a:ext cx="5349240" cy="0"/>
          </a:xfrm>
          <a:prstGeom prst="line">
            <a:avLst/>
          </a:prstGeom>
          <a:noFill/>
          <a:ln w="9525">
            <a:solidFill>
              <a:srgbClr val="E3E7F1"/>
            </a:solidFill>
            <a:prstDash val="solid"/>
          </a:ln>
        </p:spPr>
      </p:sp>
      <p:sp>
        <p:nvSpPr>
          <p:cNvPr id="25" name="Text 23"/>
          <p:cNvSpPr/>
          <p:nvPr/>
        </p:nvSpPr>
        <p:spPr>
          <a:xfrm>
            <a:off x="6400800" y="5038344"/>
            <a:ext cx="822960" cy="932688"/>
          </a:xfrm>
          <a:prstGeom prst="rect">
            <a:avLst/>
          </a:prstGeom>
          <a:noFill/>
          <a:ln/>
        </p:spPr>
        <p:txBody>
          <a:bodyPr wrap="square" lIns="0" tIns="0" rIns="0" bIns="0" rtlCol="0" anchor="t"/>
          <a:lstStyle/>
          <a:p>
            <a:pPr algn="l" indent="0" marL="0">
              <a:buNone/>
            </a:pPr>
            <a:r>
              <a:rPr lang="en-US" sz="3000" b="1" dirty="0">
                <a:solidFill>
                  <a:srgbClr val="000000"/>
                </a:solidFill>
                <a:latin typeface="Cambria" pitchFamily="34" charset="0"/>
                <a:ea typeface="Cambria" pitchFamily="34" charset="-122"/>
                <a:cs typeface="Cambria" pitchFamily="34" charset="-120"/>
              </a:rPr>
              <a:t>08</a:t>
            </a:r>
            <a:endParaRPr lang="en-US" sz="3000" dirty="0"/>
          </a:p>
        </p:txBody>
      </p:sp>
      <p:sp>
        <p:nvSpPr>
          <p:cNvPr id="26" name="Text 24"/>
          <p:cNvSpPr/>
          <p:nvPr/>
        </p:nvSpPr>
        <p:spPr>
          <a:xfrm>
            <a:off x="7223760" y="5074920"/>
            <a:ext cx="4526280" cy="896112"/>
          </a:xfrm>
          <a:prstGeom prst="rect">
            <a:avLst/>
          </a:prstGeom>
          <a:noFill/>
          <a:ln/>
        </p:spPr>
        <p:txBody>
          <a:bodyPr wrap="square" lIns="0" tIns="0" rIns="0" bIns="0" rtlCol="0" anchor="t"/>
          <a:lstStyle/>
          <a:p>
            <a:pPr indent="0" marL="0">
              <a:lnSpc>
                <a:spcPct val="130000"/>
              </a:lnSpc>
              <a:buNone/>
            </a:pPr>
            <a:r>
              <a:rPr lang="en-US" sz="1700" b="1" dirty="0">
                <a:solidFill>
                  <a:srgbClr val="000000"/>
                </a:solidFill>
                <a:latin typeface="Calibri" pitchFamily="34" charset="0"/>
                <a:ea typeface="Calibri" pitchFamily="34" charset="-122"/>
                <a:cs typeface="Calibri" pitchFamily="34" charset="-120"/>
              </a:rPr>
              <a:t>Tổng hợp &amp; kết luận</a:t>
            </a:r>
            <a:endParaRPr lang="en-US" sz="1700" dirty="0"/>
          </a:p>
          <a:p>
            <a:pPr indent="0" marL="0">
              <a:lnSpc>
                <a:spcPct val="130000"/>
              </a:lnSpc>
              <a:buNone/>
            </a:pPr>
            <a:r>
              <a:rPr lang="en-US" sz="1200" dirty="0">
                <a:solidFill>
                  <a:srgbClr val="000000"/>
                </a:solidFill>
                <a:latin typeface="Calibri" pitchFamily="34" charset="0"/>
                <a:ea typeface="Calibri" pitchFamily="34" charset="-122"/>
                <a:cs typeface="Calibri" pitchFamily="34" charset="-120"/>
              </a:rPr>
              <a:t>Điểm giống/khác, liên hệ lựa chọn mô hình</a:t>
            </a:r>
            <a:endParaRPr lang="en-US" sz="1700" dirty="0"/>
          </a:p>
        </p:txBody>
      </p:sp>
      <p:sp>
        <p:nvSpPr>
          <p:cNvPr id="27" name="Text 25"/>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Phân tích dữ liệu Knowledge Tracing</a:t>
            </a:r>
            <a:endParaRPr lang="en-US" sz="1000" dirty="0"/>
          </a:p>
        </p:txBody>
      </p:sp>
      <p:sp>
        <p:nvSpPr>
          <p:cNvPr id="28" name="Text 26"/>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9144000" cy="548640"/>
          </a:xfrm>
          <a:prstGeom prst="rect">
            <a:avLst/>
          </a:prstGeom>
          <a:noFill/>
          <a:ln/>
        </p:spPr>
        <p:txBody>
          <a:bodyPr wrap="square" lIns="0" tIns="0" rIns="0" bIns="0" rtlCol="0" anchor="ctr"/>
          <a:lstStyle/>
          <a:p>
            <a:pPr indent="0" marL="0">
              <a:buNone/>
            </a:pPr>
            <a:r>
              <a:rPr lang="en-US" sz="3000" b="1" dirty="0">
                <a:solidFill>
                  <a:srgbClr val="000000"/>
                </a:solidFill>
                <a:latin typeface="Cambria" pitchFamily="34" charset="0"/>
                <a:ea typeface="Cambria" pitchFamily="34" charset="-122"/>
                <a:cs typeface="Cambria" pitchFamily="34" charset="-120"/>
              </a:rPr>
              <a:t>Tổng quan phạm vi khảo sát</a:t>
            </a:r>
            <a:endParaRPr lang="en-US" sz="3000" dirty="0"/>
          </a:p>
        </p:txBody>
      </p:sp>
      <p:sp>
        <p:nvSpPr>
          <p:cNvPr id="3" name="Text 1"/>
          <p:cNvSpPr/>
          <p:nvPr/>
        </p:nvSpPr>
        <p:spPr>
          <a:xfrm>
            <a:off x="548640" y="1051560"/>
            <a:ext cx="10607040" cy="457200"/>
          </a:xfrm>
          <a:prstGeom prst="rect">
            <a:avLst/>
          </a:prstGeom>
          <a:noFill/>
          <a:ln/>
        </p:spPr>
        <p:txBody>
          <a:bodyPr wrap="square" lIns="0" tIns="0" rIns="0" bIns="0" rtlCol="0" anchor="ctr"/>
          <a:lstStyle/>
          <a:p>
            <a:pPr indent="0" marL="0">
              <a:buNone/>
            </a:pPr>
            <a:r>
              <a:rPr lang="en-US" sz="1300" dirty="0">
                <a:solidFill>
                  <a:srgbClr val="000000"/>
                </a:solidFill>
                <a:latin typeface="Calibri" pitchFamily="34" charset="0"/>
                <a:ea typeface="Calibri" pitchFamily="34" charset="-122"/>
                <a:cs typeface="Calibri" pitchFamily="34" charset="-120"/>
              </a:rPr>
              <a:t>Đọc trực tiếp file thô bằng polars (không qua bước tiền xử lý) để đảm bảo mọi số liệu trong báo cáo này truy được về đúng dòng dữ liệu gốc trong code/datasets/.</a:t>
            </a:r>
            <a:endParaRPr lang="en-US" sz="1300" dirty="0"/>
          </a:p>
        </p:txBody>
      </p:sp>
      <p:sp>
        <p:nvSpPr>
          <p:cNvPr id="4" name="Shape 2"/>
          <p:cNvSpPr/>
          <p:nvPr/>
        </p:nvSpPr>
        <p:spPr>
          <a:xfrm>
            <a:off x="548640" y="1828800"/>
            <a:ext cx="1783080" cy="1143000"/>
          </a:xfrm>
          <a:prstGeom prst="roundRect">
            <a:avLst>
              <a:gd name="adj" fmla="val 4800"/>
            </a:avLst>
          </a:prstGeom>
          <a:solidFill>
            <a:srgbClr val="F5F7FC"/>
          </a:solidFill>
          <a:ln w="9525">
            <a:solidFill>
              <a:srgbClr val="E3E7F1"/>
            </a:solidFill>
            <a:prstDash val="solid"/>
          </a:ln>
        </p:spPr>
      </p:sp>
      <p:sp>
        <p:nvSpPr>
          <p:cNvPr id="5" name="Text 3"/>
          <p:cNvSpPr/>
          <p:nvPr/>
        </p:nvSpPr>
        <p:spPr>
          <a:xfrm>
            <a:off x="548640" y="1938528"/>
            <a:ext cx="1783080" cy="502920"/>
          </a:xfrm>
          <a:prstGeom prst="rect">
            <a:avLst/>
          </a:prstGeom>
          <a:noFill/>
          <a:ln/>
        </p:spPr>
        <p:txBody>
          <a:bodyPr wrap="square" lIns="0" tIns="0" rIns="0" bIns="0" rtlCol="0" anchor="ctr"/>
          <a:lstStyle/>
          <a:p>
            <a:pPr algn="ctr" indent="0" marL="0">
              <a:buNone/>
            </a:pPr>
            <a:r>
              <a:rPr lang="en-US" sz="2100" b="1" dirty="0">
                <a:solidFill>
                  <a:srgbClr val="000000"/>
                </a:solidFill>
                <a:latin typeface="Cambria" pitchFamily="34" charset="0"/>
                <a:ea typeface="Cambria" pitchFamily="34" charset="-122"/>
                <a:cs typeface="Cambria" pitchFamily="34" charset="-120"/>
              </a:rPr>
              <a:t>5</a:t>
            </a:r>
            <a:endParaRPr lang="en-US" sz="2100" dirty="0"/>
          </a:p>
        </p:txBody>
      </p:sp>
      <p:sp>
        <p:nvSpPr>
          <p:cNvPr id="6" name="Text 4"/>
          <p:cNvSpPr/>
          <p:nvPr/>
        </p:nvSpPr>
        <p:spPr>
          <a:xfrm>
            <a:off x="621792" y="2450592"/>
            <a:ext cx="1636776" cy="457200"/>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Dataset family</a:t>
            </a:r>
            <a:endParaRPr lang="en-US" sz="1000" dirty="0"/>
          </a:p>
        </p:txBody>
      </p:sp>
      <p:sp>
        <p:nvSpPr>
          <p:cNvPr id="7" name="Shape 5"/>
          <p:cNvSpPr/>
          <p:nvPr/>
        </p:nvSpPr>
        <p:spPr>
          <a:xfrm>
            <a:off x="2441448" y="1828800"/>
            <a:ext cx="1783080" cy="1143000"/>
          </a:xfrm>
          <a:prstGeom prst="roundRect">
            <a:avLst>
              <a:gd name="adj" fmla="val 4800"/>
            </a:avLst>
          </a:prstGeom>
          <a:solidFill>
            <a:srgbClr val="F5F7FC"/>
          </a:solidFill>
          <a:ln w="9525">
            <a:solidFill>
              <a:srgbClr val="E3E7F1"/>
            </a:solidFill>
            <a:prstDash val="solid"/>
          </a:ln>
        </p:spPr>
      </p:sp>
      <p:sp>
        <p:nvSpPr>
          <p:cNvPr id="8" name="Text 6"/>
          <p:cNvSpPr/>
          <p:nvPr/>
        </p:nvSpPr>
        <p:spPr>
          <a:xfrm>
            <a:off x="2441448" y="1938528"/>
            <a:ext cx="1783080" cy="502920"/>
          </a:xfrm>
          <a:prstGeom prst="rect">
            <a:avLst/>
          </a:prstGeom>
          <a:noFill/>
          <a:ln/>
        </p:spPr>
        <p:txBody>
          <a:bodyPr wrap="square" lIns="0" tIns="0" rIns="0" bIns="0" rtlCol="0" anchor="ctr"/>
          <a:lstStyle/>
          <a:p>
            <a:pPr algn="ctr" indent="0" marL="0">
              <a:buNone/>
            </a:pPr>
            <a:r>
              <a:rPr lang="en-US" sz="2100" b="1" dirty="0">
                <a:solidFill>
                  <a:srgbClr val="000000"/>
                </a:solidFill>
                <a:latin typeface="Cambria" pitchFamily="34" charset="0"/>
                <a:ea typeface="Cambria" pitchFamily="34" charset="-122"/>
                <a:cs typeface="Cambria" pitchFamily="34" charset="-120"/>
              </a:rPr>
              <a:t>7</a:t>
            </a:r>
            <a:endParaRPr lang="en-US" sz="2100" dirty="0"/>
          </a:p>
        </p:txBody>
      </p:sp>
      <p:sp>
        <p:nvSpPr>
          <p:cNvPr id="9" name="Text 7"/>
          <p:cNvSpPr/>
          <p:nvPr/>
        </p:nvSpPr>
        <p:spPr>
          <a:xfrm>
            <a:off x="2514600" y="2450592"/>
            <a:ext cx="1636776" cy="457200"/>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Config phân tích</a:t>
            </a:r>
            <a:endParaRPr lang="en-US" sz="1000" dirty="0"/>
          </a:p>
        </p:txBody>
      </p:sp>
      <p:sp>
        <p:nvSpPr>
          <p:cNvPr id="10" name="Shape 8"/>
          <p:cNvSpPr/>
          <p:nvPr/>
        </p:nvSpPr>
        <p:spPr>
          <a:xfrm>
            <a:off x="4334256" y="1828800"/>
            <a:ext cx="1783080" cy="1143000"/>
          </a:xfrm>
          <a:prstGeom prst="roundRect">
            <a:avLst>
              <a:gd name="adj" fmla="val 4800"/>
            </a:avLst>
          </a:prstGeom>
          <a:solidFill>
            <a:srgbClr val="F5F7FC"/>
          </a:solidFill>
          <a:ln w="9525">
            <a:solidFill>
              <a:srgbClr val="E3E7F1"/>
            </a:solidFill>
            <a:prstDash val="solid"/>
          </a:ln>
        </p:spPr>
      </p:sp>
      <p:sp>
        <p:nvSpPr>
          <p:cNvPr id="11" name="Text 9"/>
          <p:cNvSpPr/>
          <p:nvPr/>
        </p:nvSpPr>
        <p:spPr>
          <a:xfrm>
            <a:off x="4334256" y="1938528"/>
            <a:ext cx="1783080" cy="502920"/>
          </a:xfrm>
          <a:prstGeom prst="rect">
            <a:avLst/>
          </a:prstGeom>
          <a:noFill/>
          <a:ln/>
        </p:spPr>
        <p:txBody>
          <a:bodyPr wrap="square" lIns="0" tIns="0" rIns="0" bIns="0" rtlCol="0" anchor="ctr"/>
          <a:lstStyle/>
          <a:p>
            <a:pPr algn="ctr" indent="0" marL="0">
              <a:buNone/>
            </a:pPr>
            <a:r>
              <a:rPr lang="en-US" sz="2100" b="1" dirty="0">
                <a:solidFill>
                  <a:srgbClr val="000000"/>
                </a:solidFill>
                <a:latin typeface="Cambria" pitchFamily="34" charset="0"/>
                <a:ea typeface="Cambria" pitchFamily="34" charset="-122"/>
                <a:cs typeface="Cambria" pitchFamily="34" charset="-120"/>
              </a:rPr>
              <a:t>43.05 Tr</a:t>
            </a:r>
            <a:endParaRPr lang="en-US" sz="2100" dirty="0"/>
          </a:p>
        </p:txBody>
      </p:sp>
      <p:sp>
        <p:nvSpPr>
          <p:cNvPr id="12" name="Text 10"/>
          <p:cNvSpPr/>
          <p:nvPr/>
        </p:nvSpPr>
        <p:spPr>
          <a:xfrm>
            <a:off x="4407408" y="2450592"/>
            <a:ext cx="1636776" cy="457200"/>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Tổng số tương tác</a:t>
            </a:r>
            <a:endParaRPr lang="en-US" sz="1000" dirty="0"/>
          </a:p>
        </p:txBody>
      </p:sp>
      <p:sp>
        <p:nvSpPr>
          <p:cNvPr id="13" name="Shape 11"/>
          <p:cNvSpPr/>
          <p:nvPr/>
        </p:nvSpPr>
        <p:spPr>
          <a:xfrm>
            <a:off x="6227064" y="1828800"/>
            <a:ext cx="1783080" cy="1143000"/>
          </a:xfrm>
          <a:prstGeom prst="roundRect">
            <a:avLst>
              <a:gd name="adj" fmla="val 4800"/>
            </a:avLst>
          </a:prstGeom>
          <a:solidFill>
            <a:srgbClr val="F5F7FC"/>
          </a:solidFill>
          <a:ln w="9525">
            <a:solidFill>
              <a:srgbClr val="E3E7F1"/>
            </a:solidFill>
            <a:prstDash val="solid"/>
          </a:ln>
        </p:spPr>
      </p:sp>
      <p:sp>
        <p:nvSpPr>
          <p:cNvPr id="14" name="Text 12"/>
          <p:cNvSpPr/>
          <p:nvPr/>
        </p:nvSpPr>
        <p:spPr>
          <a:xfrm>
            <a:off x="6227064" y="1938528"/>
            <a:ext cx="1783080" cy="502920"/>
          </a:xfrm>
          <a:prstGeom prst="rect">
            <a:avLst/>
          </a:prstGeom>
          <a:noFill/>
          <a:ln/>
        </p:spPr>
        <p:txBody>
          <a:bodyPr wrap="square" lIns="0" tIns="0" rIns="0" bIns="0" rtlCol="0" anchor="ctr"/>
          <a:lstStyle/>
          <a:p>
            <a:pPr algn="ctr" indent="0" marL="0">
              <a:buNone/>
            </a:pPr>
            <a:r>
              <a:rPr lang="en-US" sz="2100" b="1" dirty="0">
                <a:solidFill>
                  <a:srgbClr val="000000"/>
                </a:solidFill>
                <a:latin typeface="Cambria" pitchFamily="34" charset="0"/>
                <a:ea typeface="Cambria" pitchFamily="34" charset="-122"/>
                <a:cs typeface="Cambria" pitchFamily="34" charset="-120"/>
              </a:rPr>
              <a:t>15 GB</a:t>
            </a:r>
            <a:endParaRPr lang="en-US" sz="2100" dirty="0"/>
          </a:p>
        </p:txBody>
      </p:sp>
      <p:sp>
        <p:nvSpPr>
          <p:cNvPr id="15" name="Text 13"/>
          <p:cNvSpPr/>
          <p:nvPr/>
        </p:nvSpPr>
        <p:spPr>
          <a:xfrm>
            <a:off x="6300216" y="2450592"/>
            <a:ext cx="1636776" cy="457200"/>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Dữ liệu thô trên đĩa</a:t>
            </a:r>
            <a:endParaRPr lang="en-US" sz="1000" dirty="0"/>
          </a:p>
        </p:txBody>
      </p:sp>
      <p:sp>
        <p:nvSpPr>
          <p:cNvPr id="16" name="Shape 14"/>
          <p:cNvSpPr/>
          <p:nvPr/>
        </p:nvSpPr>
        <p:spPr>
          <a:xfrm>
            <a:off x="8119872" y="1828800"/>
            <a:ext cx="1783080" cy="1143000"/>
          </a:xfrm>
          <a:prstGeom prst="roundRect">
            <a:avLst>
              <a:gd name="adj" fmla="val 4800"/>
            </a:avLst>
          </a:prstGeom>
          <a:solidFill>
            <a:srgbClr val="F5F7FC"/>
          </a:solidFill>
          <a:ln w="9525">
            <a:solidFill>
              <a:srgbClr val="E3E7F1"/>
            </a:solidFill>
            <a:prstDash val="solid"/>
          </a:ln>
        </p:spPr>
      </p:sp>
      <p:sp>
        <p:nvSpPr>
          <p:cNvPr id="17" name="Text 15"/>
          <p:cNvSpPr/>
          <p:nvPr/>
        </p:nvSpPr>
        <p:spPr>
          <a:xfrm>
            <a:off x="8119872" y="1938528"/>
            <a:ext cx="1783080" cy="502920"/>
          </a:xfrm>
          <a:prstGeom prst="rect">
            <a:avLst/>
          </a:prstGeom>
          <a:noFill/>
          <a:ln/>
        </p:spPr>
        <p:txBody>
          <a:bodyPr wrap="square" lIns="0" tIns="0" rIns="0" bIns="0" rtlCol="0" anchor="ctr"/>
          <a:lstStyle/>
          <a:p>
            <a:pPr algn="ctr" indent="0" marL="0">
              <a:buNone/>
            </a:pPr>
            <a:r>
              <a:rPr lang="en-US" sz="2100" b="1" dirty="0">
                <a:solidFill>
                  <a:srgbClr val="000000"/>
                </a:solidFill>
                <a:latin typeface="Cambria" pitchFamily="34" charset="0"/>
                <a:ea typeface="Cambria" pitchFamily="34" charset="-122"/>
                <a:cs typeface="Cambria" pitchFamily="34" charset="-120"/>
              </a:rPr>
              <a:t>47</a:t>
            </a:r>
            <a:endParaRPr lang="en-US" sz="2100" dirty="0"/>
          </a:p>
        </p:txBody>
      </p:sp>
      <p:sp>
        <p:nvSpPr>
          <p:cNvPr id="18" name="Text 16"/>
          <p:cNvSpPr/>
          <p:nvPr/>
        </p:nvSpPr>
        <p:spPr>
          <a:xfrm>
            <a:off x="8193024" y="2450592"/>
            <a:ext cx="1636776" cy="457200"/>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File dạng bảng/metadata</a:t>
            </a:r>
            <a:endParaRPr lang="en-US" sz="1000" dirty="0"/>
          </a:p>
        </p:txBody>
      </p:sp>
      <p:sp>
        <p:nvSpPr>
          <p:cNvPr id="19" name="Shape 17"/>
          <p:cNvSpPr/>
          <p:nvPr/>
        </p:nvSpPr>
        <p:spPr>
          <a:xfrm>
            <a:off x="10012680" y="1828800"/>
            <a:ext cx="1783080" cy="1143000"/>
          </a:xfrm>
          <a:prstGeom prst="roundRect">
            <a:avLst>
              <a:gd name="adj" fmla="val 4800"/>
            </a:avLst>
          </a:prstGeom>
          <a:solidFill>
            <a:srgbClr val="F5F7FC"/>
          </a:solidFill>
          <a:ln w="9525">
            <a:solidFill>
              <a:srgbClr val="E3E7F1"/>
            </a:solidFill>
            <a:prstDash val="solid"/>
          </a:ln>
        </p:spPr>
      </p:sp>
      <p:sp>
        <p:nvSpPr>
          <p:cNvPr id="20" name="Text 18"/>
          <p:cNvSpPr/>
          <p:nvPr/>
        </p:nvSpPr>
        <p:spPr>
          <a:xfrm>
            <a:off x="10012680" y="1938528"/>
            <a:ext cx="1783080" cy="502920"/>
          </a:xfrm>
          <a:prstGeom prst="rect">
            <a:avLst/>
          </a:prstGeom>
          <a:noFill/>
          <a:ln/>
        </p:spPr>
        <p:txBody>
          <a:bodyPr wrap="square" lIns="0" tIns="0" rIns="0" bIns="0" rtlCol="0" anchor="ctr"/>
          <a:lstStyle/>
          <a:p>
            <a:pPr algn="ctr" indent="0" marL="0">
              <a:buNone/>
            </a:pPr>
            <a:r>
              <a:rPr lang="en-US" sz="2100" b="1" dirty="0">
                <a:solidFill>
                  <a:srgbClr val="000000"/>
                </a:solidFill>
                <a:latin typeface="Cambria" pitchFamily="34" charset="0"/>
                <a:ea typeface="Cambria" pitchFamily="34" charset="-122"/>
                <a:cs typeface="Cambria" pitchFamily="34" charset="-120"/>
              </a:rPr>
              <a:t>4,817</a:t>
            </a:r>
            <a:endParaRPr lang="en-US" sz="2100" dirty="0"/>
          </a:p>
        </p:txBody>
      </p:sp>
      <p:sp>
        <p:nvSpPr>
          <p:cNvPr id="21" name="Text 19"/>
          <p:cNvSpPr/>
          <p:nvPr/>
        </p:nvSpPr>
        <p:spPr>
          <a:xfrm>
            <a:off x="10085832" y="2450592"/>
            <a:ext cx="1636776" cy="457200"/>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Ảnh minh hoạ (Eedi + XES3G5M)</a:t>
            </a:r>
            <a:endParaRPr lang="en-US" sz="1000" dirty="0"/>
          </a:p>
        </p:txBody>
      </p:sp>
      <p:sp>
        <p:nvSpPr>
          <p:cNvPr id="22" name="Text 20"/>
          <p:cNvSpPr/>
          <p:nvPr/>
        </p:nvSpPr>
        <p:spPr>
          <a:xfrm>
            <a:off x="548640" y="3246120"/>
            <a:ext cx="10607040" cy="36576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7 config theo 5 family  </a:t>
            </a:r>
            <a:pPr indent="0" marL="0">
              <a:buNone/>
            </a:pPr>
            <a:r>
              <a:rPr lang="en-US" sz="1050" i="1" dirty="0">
                <a:solidFill>
                  <a:srgbClr val="000000"/>
                </a:solidFill>
                <a:latin typeface="Calibri" pitchFamily="34" charset="0"/>
                <a:ea typeface="Calibri" pitchFamily="34" charset="-122"/>
                <a:cs typeface="Calibri" pitchFamily="34" charset="-120"/>
              </a:rPr>
              <a:t>·  Tổng hợp từ mục 2-6 (Cấu trúc file của từng dataset) – datasets_deep_dive.ipynb</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0607040" cy="2606040"/>
        </p:xfrm>
        <a:graphic>
          <a:graphicData uri="http://schemas.openxmlformats.org/drawingml/2006/table">
            <a:tbl>
              <a:tblPr/>
              <a:tblGrid>
                <a:gridCol w="1828800"/>
                <a:gridCol w="3108960"/>
                <a:gridCol w="2834640"/>
                <a:gridCol w="2834640"/>
              </a:tblGrid>
              <a:tr h="325755">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Config</a:t>
                      </a:r>
                      <a:endParaRPr lang="en-US" sz="110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Family</a:t>
                      </a:r>
                      <a:endParaRPr lang="en-US" sz="110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Định dạng file</a:t>
                      </a:r>
                      <a:endParaRPr lang="en-US" sz="110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Ngôn ngữ nội dung</a:t>
                      </a:r>
                      <a:endParaRPr lang="en-US" sz="110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325755">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assist09</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ASSISTments 09-10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CSV, dấu phẩy</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Tiếng Anh</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325755">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assist12</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ASSISTments 12-13</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CSV (nén zip)</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Tiếng Anh</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325755">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algebra05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PSLC KDD Cup</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TXT, tab-separated</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Tiếng Anh</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325755">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bridge06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PSLC KDD Cup</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TXT, tab-separated</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Tiếng Anh</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325755">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xes3g5m</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XES3G5M</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CSV, pre-sequenced</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Tiếng Trung</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325755">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eedi</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Eedi NeurIPS'20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CSV, dấu phẩy</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Tiếng Anh</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325755">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junyi</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Junyi Academy</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CSV, dấu phẩy</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TQ (nội dung) / ẩn danh (log)</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24" name="Text 21"/>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Phân tích dữ liệu Knowledge Tracing</a:t>
            </a:r>
            <a:endParaRPr lang="en-US" sz="1000" dirty="0"/>
          </a:p>
        </p:txBody>
      </p:sp>
      <p:sp>
        <p:nvSpPr>
          <p:cNvPr id="25" name="Text 22"/>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85800" y="1417320"/>
            <a:ext cx="3657600" cy="2011680"/>
          </a:xfrm>
          <a:prstGeom prst="rect">
            <a:avLst/>
          </a:prstGeom>
          <a:noFill/>
          <a:ln/>
        </p:spPr>
        <p:txBody>
          <a:bodyPr wrap="square" lIns="0" tIns="0" rIns="0" bIns="0" rtlCol="0" anchor="ctr"/>
          <a:lstStyle/>
          <a:p>
            <a:pPr algn="l" indent="0" marL="0">
              <a:buNone/>
            </a:pPr>
            <a:r>
              <a:rPr lang="en-US" sz="13000" b="1" dirty="0">
                <a:solidFill>
                  <a:srgbClr val="FFFFFF">
                    <a:alpha val="18000"/>
                  </a:srgbClr>
                </a:solidFill>
                <a:latin typeface="Cambria" pitchFamily="34" charset="0"/>
                <a:ea typeface="Cambria" pitchFamily="34" charset="-122"/>
                <a:cs typeface="Cambria" pitchFamily="34" charset="-120"/>
              </a:rPr>
              <a:t>01</a:t>
            </a:r>
            <a:endParaRPr lang="en-US" sz="13000" dirty="0"/>
          </a:p>
        </p:txBody>
      </p:sp>
      <p:sp>
        <p:nvSpPr>
          <p:cNvPr id="3" name="Text 1"/>
          <p:cNvSpPr/>
          <p:nvPr/>
        </p:nvSpPr>
        <p:spPr>
          <a:xfrm>
            <a:off x="822960" y="3017520"/>
            <a:ext cx="100584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ASSISTments</a:t>
            </a:r>
            <a:endParaRPr lang="en-US" sz="4000" dirty="0"/>
          </a:p>
        </p:txBody>
      </p:sp>
      <p:sp>
        <p:nvSpPr>
          <p:cNvPr id="4" name="Text 2"/>
          <p:cNvSpPr/>
          <p:nvPr/>
        </p:nvSpPr>
        <p:spPr>
          <a:xfrm>
            <a:off x="822960" y="3886200"/>
            <a:ext cx="9601200" cy="64008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2 config trong cùng nền tảng, khác năm học và khác hẳn về modality dữ liệu.</a:t>
            </a:r>
            <a:endParaRPr lang="en-US" sz="1500" dirty="0"/>
          </a:p>
        </p:txBody>
      </p:sp>
      <p:sp>
        <p:nvSpPr>
          <p:cNvPr id="5" name="Shape 3"/>
          <p:cNvSpPr/>
          <p:nvPr/>
        </p:nvSpPr>
        <p:spPr>
          <a:xfrm>
            <a:off x="822960" y="4663440"/>
            <a:ext cx="1380744" cy="438912"/>
          </a:xfrm>
          <a:prstGeom prst="roundRect">
            <a:avLst>
              <a:gd name="adj" fmla="val 18750"/>
            </a:avLst>
          </a:prstGeom>
          <a:solidFill>
            <a:srgbClr val="2A78D6"/>
          </a:solidFill>
          <a:ln/>
        </p:spPr>
      </p:sp>
      <p:sp>
        <p:nvSpPr>
          <p:cNvPr id="6" name="Text 4"/>
          <p:cNvSpPr/>
          <p:nvPr/>
        </p:nvSpPr>
        <p:spPr>
          <a:xfrm>
            <a:off x="822960" y="4663440"/>
            <a:ext cx="1380744"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7" name="Shape 5"/>
          <p:cNvSpPr/>
          <p:nvPr/>
        </p:nvSpPr>
        <p:spPr>
          <a:xfrm>
            <a:off x="2386584" y="4663440"/>
            <a:ext cx="1380744" cy="438912"/>
          </a:xfrm>
          <a:prstGeom prst="roundRect">
            <a:avLst>
              <a:gd name="adj" fmla="val 18750"/>
            </a:avLst>
          </a:prstGeom>
          <a:solidFill>
            <a:srgbClr val="EB6834"/>
          </a:solidFill>
          <a:ln/>
        </p:spPr>
      </p:sp>
      <p:sp>
        <p:nvSpPr>
          <p:cNvPr id="8" name="Text 6"/>
          <p:cNvSpPr/>
          <p:nvPr/>
        </p:nvSpPr>
        <p:spPr>
          <a:xfrm>
            <a:off x="2386584" y="4663440"/>
            <a:ext cx="1380744"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assist12</a:t>
            </a:r>
            <a:endParaRPr lang="en-US" sz="1300" dirty="0"/>
          </a:p>
        </p:txBody>
      </p:sp>
      <p:sp>
        <p:nvSpPr>
          <p:cNvPr id="9" name="Text 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ASSISTments</a:t>
            </a:r>
            <a:endParaRPr lang="en-US" sz="1000" dirty="0"/>
          </a:p>
        </p:txBody>
      </p:sp>
      <p:sp>
        <p:nvSpPr>
          <p:cNvPr id="10" name="Text 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liên kết file · assist09  ·  Nguồn: mục 2.1 "Cấu trúc file / Liên kết"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Cấu trúc file</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3 lượt export riêng biệt của cùng hệ thống ASSISTments 2009-2010 - dùng chung order_id nhưng KHÔNG khớp hoàn toàn.</a:t>
            </a:r>
            <a:endParaRPr lang="en-US" sz="1150" dirty="0"/>
          </a:p>
        </p:txBody>
      </p:sp>
      <p:sp>
        <p:nvSpPr>
          <p:cNvPr id="5" name="Shape 3"/>
          <p:cNvSpPr/>
          <p:nvPr/>
        </p:nvSpPr>
        <p:spPr>
          <a:xfrm>
            <a:off x="731520" y="1874520"/>
            <a:ext cx="3383280" cy="960120"/>
          </a:xfrm>
          <a:prstGeom prst="roundRect">
            <a:avLst>
              <a:gd name="adj" fmla="val 6667"/>
            </a:avLst>
          </a:prstGeom>
          <a:solidFill>
            <a:srgbClr val="E5EFFA"/>
          </a:solidFill>
          <a:ln w="19050">
            <a:solidFill>
              <a:srgbClr val="2A78D6"/>
            </a:solidFill>
            <a:prstDash val="solid"/>
          </a:ln>
        </p:spPr>
      </p:sp>
      <p:sp>
        <p:nvSpPr>
          <p:cNvPr id="6" name="Text 4"/>
          <p:cNvSpPr/>
          <p:nvPr/>
        </p:nvSpPr>
        <p:spPr>
          <a:xfrm>
            <a:off x="822960" y="1874520"/>
            <a:ext cx="3200400" cy="9601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skill_builder_data_corrected.csv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dùng phân tích chính</a:t>
            </a:r>
            <a:endParaRPr lang="en-US" sz="1150" dirty="0"/>
          </a:p>
        </p:txBody>
      </p:sp>
      <p:sp>
        <p:nvSpPr>
          <p:cNvPr id="7" name="Shape 5"/>
          <p:cNvSpPr/>
          <p:nvPr/>
        </p:nvSpPr>
        <p:spPr>
          <a:xfrm>
            <a:off x="8092440" y="1874520"/>
            <a:ext cx="3383280" cy="960120"/>
          </a:xfrm>
          <a:prstGeom prst="roundRect">
            <a:avLst>
              <a:gd name="adj" fmla="val 6667"/>
            </a:avLst>
          </a:prstGeom>
          <a:solidFill>
            <a:srgbClr val="E5EFFA"/>
          </a:solidFill>
          <a:ln w="19050">
            <a:solidFill>
              <a:srgbClr val="2A78D6"/>
            </a:solidFill>
            <a:prstDash val="solid"/>
          </a:ln>
        </p:spPr>
      </p:sp>
      <p:sp>
        <p:nvSpPr>
          <p:cNvPr id="8" name="Text 6"/>
          <p:cNvSpPr/>
          <p:nvPr/>
        </p:nvSpPr>
        <p:spPr>
          <a:xfrm>
            <a:off x="8183880" y="1874520"/>
            <a:ext cx="3200400" cy="9601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assistments_2009_2010.csv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log tổng hợp</a:t>
            </a:r>
            <a:endParaRPr lang="en-US" sz="1150" dirty="0"/>
          </a:p>
        </p:txBody>
      </p:sp>
      <p:sp>
        <p:nvSpPr>
          <p:cNvPr id="9" name="Shape 7"/>
          <p:cNvSpPr/>
          <p:nvPr/>
        </p:nvSpPr>
        <p:spPr>
          <a:xfrm>
            <a:off x="4416552" y="4709160"/>
            <a:ext cx="3383280" cy="960120"/>
          </a:xfrm>
          <a:prstGeom prst="roundRect">
            <a:avLst>
              <a:gd name="adj" fmla="val 6667"/>
            </a:avLst>
          </a:prstGeom>
          <a:solidFill>
            <a:srgbClr val="E5EFFA"/>
          </a:solidFill>
          <a:ln w="19050">
            <a:solidFill>
              <a:srgbClr val="2A78D6"/>
            </a:solidFill>
            <a:prstDash val="solid"/>
          </a:ln>
        </p:spPr>
      </p:sp>
      <p:sp>
        <p:nvSpPr>
          <p:cNvPr id="10" name="Text 8"/>
          <p:cNvSpPr/>
          <p:nvPr/>
        </p:nvSpPr>
        <p:spPr>
          <a:xfrm>
            <a:off x="4507992" y="4709160"/>
            <a:ext cx="3200400" cy="9601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non_skill_builder_data_new.csv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phần bù</a:t>
            </a:r>
            <a:endParaRPr lang="en-US" sz="1150" dirty="0"/>
          </a:p>
        </p:txBody>
      </p:sp>
      <p:sp>
        <p:nvSpPr>
          <p:cNvPr id="11" name="Shape 9"/>
          <p:cNvSpPr/>
          <p:nvPr/>
        </p:nvSpPr>
        <p:spPr>
          <a:xfrm>
            <a:off x="4114800" y="2354580"/>
            <a:ext cx="3977640" cy="914"/>
          </a:xfrm>
          <a:prstGeom prst="line">
            <a:avLst/>
          </a:prstGeom>
          <a:noFill/>
          <a:ln w="19050">
            <a:solidFill>
              <a:srgbClr val="2A78D6"/>
            </a:solidFill>
            <a:prstDash val="solid"/>
            <a:headEnd type="none"/>
            <a:tailEnd type="triangle"/>
          </a:ln>
        </p:spPr>
      </p:sp>
      <p:sp>
        <p:nvSpPr>
          <p:cNvPr id="12" name="Shape 10"/>
          <p:cNvSpPr/>
          <p:nvPr/>
        </p:nvSpPr>
        <p:spPr>
          <a:xfrm>
            <a:off x="4869180" y="2208276"/>
            <a:ext cx="2468880" cy="292608"/>
          </a:xfrm>
          <a:prstGeom prst="roundRect">
            <a:avLst>
              <a:gd name="adj" fmla="val 15625"/>
            </a:avLst>
          </a:prstGeom>
          <a:solidFill>
            <a:srgbClr val="FFFFFF"/>
          </a:solidFill>
          <a:ln w="6350">
            <a:solidFill>
              <a:srgbClr val="E3E7F1"/>
            </a:solidFill>
            <a:prstDash val="solid"/>
          </a:ln>
        </p:spPr>
      </p:sp>
      <p:sp>
        <p:nvSpPr>
          <p:cNvPr id="13" name="Text 11"/>
          <p:cNvSpPr/>
          <p:nvPr/>
        </p:nvSpPr>
        <p:spPr>
          <a:xfrm>
            <a:off x="4869180" y="2208276"/>
            <a:ext cx="246888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order_id: 98.4% khớp</a:t>
            </a:r>
            <a:endParaRPr lang="en-US" sz="1000" dirty="0"/>
          </a:p>
        </p:txBody>
      </p:sp>
      <p:sp>
        <p:nvSpPr>
          <p:cNvPr id="14" name="Shape 12"/>
          <p:cNvSpPr/>
          <p:nvPr/>
        </p:nvSpPr>
        <p:spPr>
          <a:xfrm>
            <a:off x="3047238" y="2834640"/>
            <a:ext cx="2436876" cy="1874520"/>
          </a:xfrm>
          <a:prstGeom prst="line">
            <a:avLst/>
          </a:prstGeom>
          <a:noFill/>
          <a:ln w="19050">
            <a:solidFill>
              <a:srgbClr val="9CA3AF"/>
            </a:solidFill>
            <a:prstDash val="dash"/>
            <a:headEnd type="none"/>
            <a:tailEnd type="none"/>
          </a:ln>
        </p:spPr>
      </p:sp>
      <p:sp>
        <p:nvSpPr>
          <p:cNvPr id="15" name="Shape 13"/>
          <p:cNvSpPr/>
          <p:nvPr/>
        </p:nvSpPr>
        <p:spPr>
          <a:xfrm>
            <a:off x="3031236" y="3625596"/>
            <a:ext cx="2377440" cy="292608"/>
          </a:xfrm>
          <a:prstGeom prst="roundRect">
            <a:avLst>
              <a:gd name="adj" fmla="val 15625"/>
            </a:avLst>
          </a:prstGeom>
          <a:solidFill>
            <a:srgbClr val="FFFFFF"/>
          </a:solidFill>
          <a:ln w="6350">
            <a:solidFill>
              <a:srgbClr val="E3E7F1"/>
            </a:solidFill>
            <a:prstDash val="solid"/>
          </a:ln>
        </p:spPr>
      </p:sp>
      <p:sp>
        <p:nvSpPr>
          <p:cNvPr id="16" name="Text 14"/>
          <p:cNvSpPr/>
          <p:nvPr/>
        </p:nvSpPr>
        <p:spPr>
          <a:xfrm>
            <a:off x="3031236" y="3625596"/>
            <a:ext cx="237744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order_id: rời nhau (0%)</a:t>
            </a:r>
            <a:endParaRPr lang="en-US" sz="1000" dirty="0"/>
          </a:p>
        </p:txBody>
      </p:sp>
      <p:sp>
        <p:nvSpPr>
          <p:cNvPr id="17" name="Shape 15"/>
          <p:cNvSpPr/>
          <p:nvPr/>
        </p:nvSpPr>
        <p:spPr>
          <a:xfrm flipH="1">
            <a:off x="6730721" y="2834640"/>
            <a:ext cx="2430829" cy="1874520"/>
          </a:xfrm>
          <a:prstGeom prst="line">
            <a:avLst/>
          </a:prstGeom>
          <a:noFill/>
          <a:ln w="19050">
            <a:solidFill>
              <a:srgbClr val="9CA3AF"/>
            </a:solidFill>
            <a:prstDash val="dash"/>
            <a:headEnd type="none"/>
            <a:tailEnd type="none"/>
          </a:ln>
        </p:spPr>
      </p:sp>
      <p:sp>
        <p:nvSpPr>
          <p:cNvPr id="18" name="Text 16"/>
          <p:cNvSpPr/>
          <p:nvPr/>
        </p:nvSpPr>
        <p:spPr>
          <a:xfrm>
            <a:off x="1097280" y="6035040"/>
            <a:ext cx="9966960" cy="365760"/>
          </a:xfrm>
          <a:prstGeom prst="rect">
            <a:avLst/>
          </a:prstGeom>
          <a:noFill/>
          <a:ln/>
        </p:spPr>
        <p:txBody>
          <a:bodyPr wrap="square" lIns="0" tIns="0" rIns="0" bIns="0" rtlCol="0" anchor="ctr"/>
          <a:lstStyle/>
          <a:p>
            <a:pPr algn="ctr" indent="0" marL="0">
              <a:buNone/>
            </a:pPr>
            <a:r>
              <a:rPr lang="en-US" sz="1000" i="1" dirty="0">
                <a:solidFill>
                  <a:srgbClr val="000000"/>
                </a:solidFill>
                <a:latin typeface="Calibri" pitchFamily="34" charset="0"/>
                <a:ea typeface="Calibri" pitchFamily="34" charset="-122"/>
                <a:cs typeface="Calibri" pitchFamily="34" charset="-120"/>
              </a:rPr>
              <a:t>Cả 3 file cùng namespace user_id / problem_id / assignment_id, nhưng là 3 lượt export khác thời điểm - không phải quan hệ subset/union sạch.</a:t>
            </a:r>
            <a:endParaRPr lang="en-US" sz="1000" dirty="0"/>
          </a:p>
        </p:txBody>
      </p:sp>
      <p:sp>
        <p:nvSpPr>
          <p:cNvPr id="19" name="Text 1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sơ đồ liên kết file</a:t>
            </a:r>
            <a:endParaRPr lang="en-US" sz="1000" dirty="0"/>
          </a:p>
        </p:txBody>
      </p:sp>
      <p:sp>
        <p:nvSpPr>
          <p:cNvPr id="20" name="Text 1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2A78D6"/>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skill_builder_data_corrected.csv (phần 1/2)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1/3 của ASSISTments 2009-2010 · 31 cột · 64.4 MB · Nguồn: mục 2.1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402336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(chỉ số dòng, không tên)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order_id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thứ tự dòng log, dùng làm mốc thời gian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33022537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33022709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35450204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assignment_id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tập được giao</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277618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277618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220674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user_id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64525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64525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70363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assistment_id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ASSISTment (bài trong hệ thống)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33139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33150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33159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toán cụ thể</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51424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51435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51444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original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1=bài gốc, 0=bài làm lại (scaffold)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402336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1=trả lời đúng, 0=sai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attempt_count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ms_first_response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Response-time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32454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4922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25390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tutor_mode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chế độ trợ giảng (tutor/test...)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kiểu câu trả lời (trắc nghiệm, điền số...)</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algebra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algebra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algebra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(problem set)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student_class_id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lớp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13241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13241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11816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19"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402336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position</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vị trí bài trong chuỗi bài tập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loại section (MasterySection/LinearSection)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MasterySection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MasterySection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MasterySection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base_sequence_id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gốc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skill_id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kỹ năng/khái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1_13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1_13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1_13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skill_name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kỹ năng/khái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Box and Whisker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Box and Whisker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Box and Whisker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teacher_id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giáo viên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22763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22763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22763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school_id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trường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skill_builder_data_corrected.csv (phần 1/2)</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2A78D6"/>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skill_builder_data_corrected.csv (phần 2/2)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1/3 của ASSISTments 2009-2010 · 31 cột · 64.4 MB · Nguồn: mục 2.1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417820" cy="301752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hint_count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hint_total</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Question/Concept Difficulty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overlap_time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làm bài chồng lấn (ms)</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32454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4922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42000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template_id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khuôn mẫu sinh câu hỏi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30799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30799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30799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đáp án đã chọn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22492" y="1298448"/>
          <a:ext cx="5417820" cy="301752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answer_text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nội dung câu trả lời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first_action</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hành động đầu tiên (0=trả lời, 1=xin hint...)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bottom_hint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đã xem gợi ý cuối (đáp án) chưa</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opportunity</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lượt thứ mấy học sinh gặp skill này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opportunity_original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lượt thứ mấy (tính cả câu gốc)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14"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skill_builder_data_corrected.csv (phần 2/2)</a:t>
            </a:r>
            <a:endParaRPr lang="en-US" sz="1000" dirty="0"/>
          </a:p>
        </p:txBody>
      </p:sp>
      <p:sp>
        <p:nvSpPr>
          <p:cNvPr id="15"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2A78D6"/>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non_skill_builder_data_new.csv (phần 1/2)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2/3 của ASSISTments 2009-2010 · 30 cột · 102.9 MB · Nguồn: mục 2.1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352044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order_id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thứ tự dòng log, dùng làm mốc thời gian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20223588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20223595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20223601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assignment_id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tập được giao</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245748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245748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245748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user_id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77759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77759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77759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assistment_id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ASSISTment (bài trong hệ thống)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12914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15320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14529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toán cụ thể</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12914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15320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14529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original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1=bài gốc, 0=bài làm lại (scaffold)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352044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1=trả lời đúng, 0=sai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attempt_count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ms_first_response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Response-time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57310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88691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43748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tutor_mode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chế độ trợ giảng (tutor/test...)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kiểu câu trả lời (trắc nghiệm, điền số...)</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choose_1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choose_1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choose_1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(problem set)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5366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5366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5366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25"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352044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student_class_id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lớp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12138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12138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12138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position</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vị trí bài trong chuỗi bài tập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loại section (MasterySection/LinearSection)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base_sequence_id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gốc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5366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5366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5366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skill_id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kỹ năng/khái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skill_name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kỹ năng/khái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Symbolization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Symbolization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Symbolization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non_skill_builder_data_new.csv (phần 1/2)</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2A78D6"/>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non_skill_builder_data_new.csv (phần 2/2)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2/3 của ASSISTments 2009-2010 · 30 cột · 102.9 MB · Nguồn: mục 2.1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417820" cy="352044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teacher_id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giáo viên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41451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41451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41451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school_id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trường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3784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3784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3784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hint_count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hint_total</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Question/Concept Difficulty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overlap_time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làm bài chồng lấn (ms)</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57310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88691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43748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template_id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khuôn mẫu sinh câu hỏi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12914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15320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14529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222492" y="1298448"/>
          <a:ext cx="5417820" cy="352044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đáp án đã chọn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20935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22385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20735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answer_text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nội dung câu trả lời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first_action</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hành động đầu tiên (0=trả lời, 1=xin hint...)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bottom_hint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đã xem gợi ý cuối (đáp án) chưa</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opportunity</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lượt thứ mấy học sinh gặp skill này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opportunity_original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lượt thứ mấy (tính cả câu gốc)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14"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non_skill_builder_data_new.csv (phần 2/2)</a:t>
            </a:r>
            <a:endParaRPr lang="en-US" sz="1000" dirty="0"/>
          </a:p>
        </p:txBody>
      </p:sp>
      <p:sp>
        <p:nvSpPr>
          <p:cNvPr id="15"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2A78D6"/>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assistments_2009_2010.csv (phần 1/2)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3/3 của ASSISTments 2009-2010 · 20 cột · 121.3 MB · Nguồn: mục 2.1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352044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order_id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thứ tự dòng log, dùng làm mốc thời gian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20224544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20224767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20225581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assignment_id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tập được giao</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253099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260543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232359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user_id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78068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63205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70759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assistment_id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ASSISTment (bài trong hệ thống)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32044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40113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42034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toán cụ thể</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49028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68275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74567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original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1=bài gốc, 0=bài làm lại (scaffold)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352044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1=trả lời đúng, 0=sai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attempt_count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ms_first_response_time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(ms) tới lần trả lời đầu</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18547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196880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106704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tutor_mode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chế độ trợ giảng (tutor/test...)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kiểu câu trả lời (trắc nghiệm, điền số...)</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algebra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open_response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fill_in_1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(problem set)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5921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6843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6111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31"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352044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student_class_id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lớp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12228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12359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11816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position</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vị trí bài trong chuỗi bài tập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problem_set_type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loại chuỗi bài tập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MasterySection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MasterySection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base_sequence_id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gốc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5921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6843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6111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list_skill_ids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mã kỹ năng (multi-skill)</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10;12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list_skills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tên kỹ năng (multi-skill)</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Mean;Table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Multiplication and Division Integers</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Probability Compound</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assistments_2009_2010.csv (phần 1/2)</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2A78D6"/>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assistments_2009_2010.csv (phần 2/2)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3/3 của ASSISTments 2009-2010 · 20 cột · 121.3 MB · Nguồn: mục 2.1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150876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teacher_id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giáo viên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48183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33567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22763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school_id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trường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4832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assistments_2009_2010.csv (phần 2/2)</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2A78D6"/>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assist09</a:t>
            </a:r>
            <a:endParaRPr lang="en-US" sz="1300" dirty="0"/>
          </a:p>
        </p:txBody>
      </p:sp>
      <p:sp>
        <p:nvSpPr>
          <p:cNvPr id="4" name="Text 2"/>
          <p:cNvSpPr/>
          <p:nvPr/>
        </p:nvSpPr>
        <p:spPr>
          <a:xfrm>
            <a:off x="2304288" y="310896"/>
            <a:ext cx="868680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Vì sao các cột này được chọn cho DPA-KT</a:t>
            </a:r>
            <a:endParaRPr lang="en-US" sz="1900" dirty="0"/>
          </a:p>
        </p:txBody>
      </p:sp>
      <p:sp>
        <p:nvSpPr>
          <p:cNvPr id="5" name="Text 3"/>
          <p:cNvSpPr/>
          <p:nvPr/>
        </p:nvSpPr>
        <p:spPr>
          <a:xfrm>
            <a:off x="548640" y="859536"/>
            <a:ext cx="108813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ASSISTments 2009-2010  ·  Dựa trên kiến trúc short_paper_final.pdf, Mục IV</a:t>
            </a:r>
            <a:endParaRPr lang="en-US" sz="1050" dirty="0"/>
          </a:p>
        </p:txBody>
      </p:sp>
      <p:sp>
        <p:nvSpPr>
          <p:cNvPr id="6" name="Text 4"/>
          <p:cNvSpPr/>
          <p:nvPr/>
        </p:nvSpPr>
        <p:spPr>
          <a:xfrm>
            <a:off x="548640" y="1298448"/>
            <a:ext cx="4206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5 TRƯỜNG LÕI  ·  Module 1 + định nghĩa bài toán</a:t>
            </a:r>
            <a:endParaRPr lang="en-US" sz="1100" dirty="0"/>
          </a:p>
        </p:txBody>
      </p:sp>
      <p:sp>
        <p:nvSpPr>
          <p:cNvPr id="7" name="Text 5"/>
          <p:cNvSpPr/>
          <p:nvPr/>
        </p:nvSpPr>
        <p:spPr>
          <a:xfrm>
            <a:off x="548640" y="1609344"/>
            <a:ext cx="4206240" cy="10515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Mọi kiến trúc KT (kể cả DPA-KT) cần tối thiểu chuỗi tương tác S_T = {(q_t, r_t)} và tập KC C: input bắt buộc cho "interaction context" ở Module 1, và để đọc/ghi đúng KC trong mastery memory M ở Module 1 &amp; 3.</a:t>
            </a:r>
            <a:endParaRPr lang="en-US" sz="10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4206240" cy="2743200"/>
        </p:xfrm>
        <a:graphic>
          <a:graphicData uri="http://schemas.openxmlformats.org/drawingml/2006/table">
            <a:tbl>
              <a:tblPr/>
              <a:tblGrid>
                <a:gridCol w="1682496"/>
                <a:gridCol w="2523744"/>
              </a:tblGrid>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Học sinh (student)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user_id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Câu hỏi (q_t)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problem_id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Khái niệm (KC, tập 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skill_id / skill_name (list_skill_ids / list_skills ở log tổng hợp)</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Đúng/sai (r_t)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Thời gian / thứ tự</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order_id (mốc thứ tự dòng, dùng làm proxy thời gian)</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9" name="Text 6"/>
          <p:cNvSpPr/>
          <p:nvPr/>
        </p:nvSpPr>
        <p:spPr>
          <a:xfrm>
            <a:off x="548640" y="5586984"/>
            <a:ext cx="4206240" cy="365760"/>
          </a:xfrm>
          <a:prstGeom prst="rect">
            <a:avLst/>
          </a:prstGeom>
          <a:noFill/>
          <a:ln/>
        </p:spPr>
        <p:txBody>
          <a:bodyPr wrap="square" lIns="0" tIns="0" rIns="0" bIns="0" rtlCol="0" anchor="ctr"/>
          <a:lstStyle/>
          <a:p>
            <a:pPr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mục 2.1 &amp; 2.2 notebook (đúng các cột dùng để tính thống kê/vẽ biểu đồ).</a:t>
            </a:r>
            <a:endParaRPr lang="en-US" sz="1000" dirty="0"/>
          </a:p>
        </p:txBody>
      </p:sp>
      <p:sp>
        <p:nvSpPr>
          <p:cNvPr id="10" name="Text 7"/>
          <p:cNvSpPr/>
          <p:nvPr/>
        </p:nvSpPr>
        <p:spPr>
          <a:xfrm>
            <a:off x="5029200" y="1298448"/>
            <a:ext cx="6611112"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CỘT KHUYẾN NGHỊ THÊM  ·  nguyên lý/module tương ứng trong DPA-KT</a:t>
            </a:r>
            <a:endParaRPr lang="en-US" sz="1100" dirty="0"/>
          </a:p>
        </p:txBody>
      </p:sp>
      <p:sp>
        <p:nvSpPr>
          <p:cNvPr id="11" name="Shape 8"/>
          <p:cNvSpPr/>
          <p:nvPr/>
        </p:nvSpPr>
        <p:spPr>
          <a:xfrm>
            <a:off x="5029200" y="1627632"/>
            <a:ext cx="3232404" cy="1833372"/>
          </a:xfrm>
          <a:prstGeom prst="roundRect">
            <a:avLst>
              <a:gd name="adj" fmla="val 2494"/>
            </a:avLst>
          </a:prstGeom>
          <a:solidFill>
            <a:srgbClr val="FBE8B8"/>
          </a:solidFill>
          <a:ln w="9525">
            <a:solidFill>
              <a:srgbClr val="C9891A"/>
            </a:solidFill>
            <a:prstDash val="solid"/>
          </a:ln>
        </p:spPr>
      </p:sp>
      <p:sp>
        <p:nvSpPr>
          <p:cNvPr id="12" name="Text 9"/>
          <p:cNvSpPr/>
          <p:nvPr/>
        </p:nvSpPr>
        <p:spPr>
          <a:xfrm>
            <a:off x="5175504"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Guess/Slip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cho nguyên lý guessing and slipping ở Module 2: khi 1 pattern cùng KC/độ khó có phản hồi bất thường (đúng giữa chuỗi sai, hoặc ngược lại), pattern được điều chỉnh để hấp thụ khả năng đoán mò/lỡ tay.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attempt_count, hint_count</a:t>
            </a:r>
            <a:endParaRPr lang="en-US" sz="1200" dirty="0"/>
          </a:p>
        </p:txBody>
      </p:sp>
      <p:sp>
        <p:nvSpPr>
          <p:cNvPr id="13" name="Shape 10"/>
          <p:cNvSpPr/>
          <p:nvPr/>
        </p:nvSpPr>
        <p:spPr>
          <a:xfrm>
            <a:off x="8407908" y="1627632"/>
            <a:ext cx="3232404" cy="1833372"/>
          </a:xfrm>
          <a:prstGeom prst="roundRect">
            <a:avLst>
              <a:gd name="adj" fmla="val 2494"/>
            </a:avLst>
          </a:prstGeom>
          <a:solidFill>
            <a:srgbClr val="FBE8B8"/>
          </a:solidFill>
          <a:ln w="9525">
            <a:solidFill>
              <a:srgbClr val="C9891A"/>
            </a:solidFill>
            <a:prstDash val="solid"/>
          </a:ln>
        </p:spPr>
      </p:sp>
      <p:sp>
        <p:nvSpPr>
          <p:cNvPr id="14" name="Text 11"/>
          <p:cNvSpPr/>
          <p:nvPr/>
        </p:nvSpPr>
        <p:spPr>
          <a:xfrm>
            <a:off x="8554212"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Question/Concept Difficulty</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Input trực tiếp cho "interaction context" của Module 1 (cùng question semantics, student response); cũng là cơ sở để Module 2 áp nguyên lý difficulty-response consistency - trọng số hoá mỗi tương tác vào pattern theo độ khó (item response theory).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hint_total</a:t>
            </a:r>
            <a:endParaRPr lang="en-US" sz="1200" dirty="0"/>
          </a:p>
        </p:txBody>
      </p:sp>
      <p:sp>
        <p:nvSpPr>
          <p:cNvPr id="15" name="Shape 12"/>
          <p:cNvSpPr/>
          <p:nvPr/>
        </p:nvSpPr>
        <p:spPr>
          <a:xfrm>
            <a:off x="5029200" y="3607308"/>
            <a:ext cx="3232404" cy="1495044"/>
          </a:xfrm>
          <a:prstGeom prst="roundRect">
            <a:avLst>
              <a:gd name="adj" fmla="val 3058"/>
            </a:avLst>
          </a:prstGeom>
          <a:solidFill>
            <a:srgbClr val="FBE8B8"/>
          </a:solidFill>
          <a:ln w="9525">
            <a:solidFill>
              <a:srgbClr val="C9891A"/>
            </a:solidFill>
            <a:prstDash val="solid"/>
          </a:ln>
        </p:spPr>
      </p:sp>
      <p:sp>
        <p:nvSpPr>
          <p:cNvPr id="16" name="Text 13"/>
          <p:cNvSpPr/>
          <p:nvPr/>
        </p:nvSpPr>
        <p:spPr>
          <a:xfrm>
            <a:off x="5175504" y="3698748"/>
            <a:ext cx="2939796" cy="1312164"/>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Response-time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Cơ sở cho operator temporal pooling ở Module 2 - pool đúng các tương tác GẦN NHẤT theo thời gian khi xây dựng pattern; cũng là tín hiệu bổ sung cho Module 1.</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ms_first_response</a:t>
            </a:r>
            <a:endParaRPr lang="en-US" sz="1200" dirty="0"/>
          </a:p>
        </p:txBody>
      </p:sp>
      <p:sp>
        <p:nvSpPr>
          <p:cNvPr id="17" name="Text 14"/>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vì sao chọn cột này</a:t>
            </a:r>
            <a:endParaRPr lang="en-US" sz="1000" dirty="0"/>
          </a:p>
        </p:txBody>
      </p:sp>
      <p:sp>
        <p:nvSpPr>
          <p:cNvPr id="18" name="Text 15"/>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KC · assist09  ·  Nguồn: mục 2.1 notebook</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Mạng quan hệ giữa KC và câu hỏi (dữ liệu thực)</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Dữ liệu thô không có sẵn cây phân cấp KC - mạng dưới đây lấy trực tiếp từ dữ liệu thật: nhiều KC (chấm màu) mỗi KC nối tới nhiều câu hỏi thật đã dùng đúng khái niệm đó (chấm xám); câu hỏi viền đậm là câu hỏi thật cần nhiều KC cùng lúc.</a:t>
            </a:r>
            <a:endParaRPr lang="en-US" sz="1150" dirty="0"/>
          </a:p>
        </p:txBody>
      </p:sp>
      <p:sp>
        <p:nvSpPr>
          <p:cNvPr id="5" name="Shape 3"/>
          <p:cNvSpPr/>
          <p:nvPr/>
        </p:nvSpPr>
        <p:spPr>
          <a:xfrm flipV="1">
            <a:off x="1874459" y="2203969"/>
            <a:ext cx="4412093" cy="93372"/>
          </a:xfrm>
          <a:prstGeom prst="line">
            <a:avLst/>
          </a:prstGeom>
          <a:noFill/>
          <a:ln w="12700">
            <a:solidFill>
              <a:srgbClr val="9CA3AF"/>
            </a:solidFill>
            <a:prstDash val="solid"/>
            <a:headEnd type="none"/>
            <a:tailEnd type="triangle"/>
          </a:ln>
        </p:spPr>
      </p:sp>
      <p:sp>
        <p:nvSpPr>
          <p:cNvPr id="6" name="Shape 4"/>
          <p:cNvSpPr/>
          <p:nvPr/>
        </p:nvSpPr>
        <p:spPr>
          <a:xfrm flipV="1">
            <a:off x="1867376" y="2250962"/>
            <a:ext cx="4425077" cy="1030117"/>
          </a:xfrm>
          <a:prstGeom prst="line">
            <a:avLst/>
          </a:prstGeom>
          <a:noFill/>
          <a:ln w="12700">
            <a:solidFill>
              <a:srgbClr val="9CA3AF"/>
            </a:solidFill>
            <a:prstDash val="solid"/>
            <a:headEnd type="none"/>
            <a:tailEnd type="triangle"/>
          </a:ln>
        </p:spPr>
      </p:sp>
      <p:sp>
        <p:nvSpPr>
          <p:cNvPr id="7" name="Shape 5"/>
          <p:cNvSpPr/>
          <p:nvPr/>
        </p:nvSpPr>
        <p:spPr>
          <a:xfrm flipV="1">
            <a:off x="1850879" y="2291971"/>
            <a:ext cx="4455321" cy="1980028"/>
          </a:xfrm>
          <a:prstGeom prst="line">
            <a:avLst/>
          </a:prstGeom>
          <a:noFill/>
          <a:ln w="12700">
            <a:solidFill>
              <a:srgbClr val="9CA3AF"/>
            </a:solidFill>
            <a:prstDash val="solid"/>
            <a:headEnd type="none"/>
            <a:tailEnd type="triangle"/>
          </a:ln>
        </p:spPr>
      </p:sp>
      <p:sp>
        <p:nvSpPr>
          <p:cNvPr id="8" name="Shape 6"/>
          <p:cNvSpPr/>
          <p:nvPr/>
        </p:nvSpPr>
        <p:spPr>
          <a:xfrm flipV="1">
            <a:off x="1829566" y="2324528"/>
            <a:ext cx="4494396" cy="2948533"/>
          </a:xfrm>
          <a:prstGeom prst="line">
            <a:avLst/>
          </a:prstGeom>
          <a:noFill/>
          <a:ln w="12700">
            <a:solidFill>
              <a:srgbClr val="9CA3AF"/>
            </a:solidFill>
            <a:prstDash val="solid"/>
            <a:headEnd type="none"/>
            <a:tailEnd type="triangle"/>
          </a:ln>
        </p:spPr>
      </p:sp>
      <p:sp>
        <p:nvSpPr>
          <p:cNvPr id="9" name="Shape 7"/>
          <p:cNvSpPr/>
          <p:nvPr/>
        </p:nvSpPr>
        <p:spPr>
          <a:xfrm>
            <a:off x="1871559" y="2343344"/>
            <a:ext cx="4417409" cy="654393"/>
          </a:xfrm>
          <a:prstGeom prst="line">
            <a:avLst/>
          </a:prstGeom>
          <a:noFill/>
          <a:ln w="12700">
            <a:solidFill>
              <a:srgbClr val="9CA3AF"/>
            </a:solidFill>
            <a:prstDash val="solid"/>
            <a:headEnd type="none"/>
            <a:tailEnd type="triangle"/>
          </a:ln>
        </p:spPr>
      </p:sp>
      <p:sp>
        <p:nvSpPr>
          <p:cNvPr id="10" name="Shape 8"/>
          <p:cNvSpPr/>
          <p:nvPr/>
        </p:nvSpPr>
        <p:spPr>
          <a:xfrm>
            <a:off x="1861662" y="2386144"/>
            <a:ext cx="4435552" cy="1408030"/>
          </a:xfrm>
          <a:prstGeom prst="line">
            <a:avLst/>
          </a:prstGeom>
          <a:noFill/>
          <a:ln w="12700">
            <a:solidFill>
              <a:srgbClr val="9CA3AF"/>
            </a:solidFill>
            <a:prstDash val="solid"/>
            <a:headEnd type="none"/>
            <a:tailEnd type="triangle"/>
          </a:ln>
        </p:spPr>
      </p:sp>
      <p:sp>
        <p:nvSpPr>
          <p:cNvPr id="11" name="Shape 9"/>
          <p:cNvSpPr/>
          <p:nvPr/>
        </p:nvSpPr>
        <p:spPr>
          <a:xfrm>
            <a:off x="1846853" y="2423202"/>
            <a:ext cx="4462703" cy="2172195"/>
          </a:xfrm>
          <a:prstGeom prst="line">
            <a:avLst/>
          </a:prstGeom>
          <a:noFill/>
          <a:ln w="12700">
            <a:solidFill>
              <a:srgbClr val="9CA3AF"/>
            </a:solidFill>
            <a:prstDash val="solid"/>
            <a:headEnd type="none"/>
            <a:tailEnd type="triangle"/>
          </a:ln>
        </p:spPr>
      </p:sp>
      <p:sp>
        <p:nvSpPr>
          <p:cNvPr id="12" name="Shape 10"/>
          <p:cNvSpPr/>
          <p:nvPr/>
        </p:nvSpPr>
        <p:spPr>
          <a:xfrm>
            <a:off x="1867376" y="4445601"/>
            <a:ext cx="4425077" cy="1030117"/>
          </a:xfrm>
          <a:prstGeom prst="line">
            <a:avLst/>
          </a:prstGeom>
          <a:noFill/>
          <a:ln w="12700">
            <a:solidFill>
              <a:srgbClr val="9CA3AF"/>
            </a:solidFill>
            <a:prstDash val="solid"/>
            <a:headEnd type="none"/>
            <a:tailEnd type="triangle"/>
          </a:ln>
        </p:spPr>
      </p:sp>
      <p:sp>
        <p:nvSpPr>
          <p:cNvPr id="13" name="Shape 11"/>
          <p:cNvSpPr/>
          <p:nvPr/>
        </p:nvSpPr>
        <p:spPr>
          <a:xfrm flipV="1">
            <a:off x="1865388" y="2257624"/>
            <a:ext cx="7766282" cy="2055591"/>
          </a:xfrm>
          <a:prstGeom prst="line">
            <a:avLst/>
          </a:prstGeom>
          <a:noFill/>
          <a:ln w="12700">
            <a:solidFill>
              <a:srgbClr val="9CA3AF"/>
            </a:solidFill>
            <a:prstDash val="solid"/>
            <a:headEnd type="none"/>
            <a:tailEnd type="triangle"/>
          </a:ln>
        </p:spPr>
      </p:sp>
      <p:sp>
        <p:nvSpPr>
          <p:cNvPr id="14" name="Shape 12"/>
          <p:cNvSpPr/>
          <p:nvPr/>
        </p:nvSpPr>
        <p:spPr>
          <a:xfrm flipV="1">
            <a:off x="1870910" y="3068199"/>
            <a:ext cx="7756158" cy="1270850"/>
          </a:xfrm>
          <a:prstGeom prst="line">
            <a:avLst/>
          </a:prstGeom>
          <a:noFill/>
          <a:ln w="12700">
            <a:solidFill>
              <a:srgbClr val="9CA3AF"/>
            </a:solidFill>
            <a:prstDash val="solid"/>
            <a:headEnd type="none"/>
            <a:tailEnd type="triangle"/>
          </a:ln>
        </p:spPr>
      </p:sp>
      <p:sp>
        <p:nvSpPr>
          <p:cNvPr id="15" name="Shape 13"/>
          <p:cNvSpPr/>
          <p:nvPr/>
        </p:nvSpPr>
        <p:spPr>
          <a:xfrm flipV="1">
            <a:off x="1869745" y="3905806"/>
            <a:ext cx="7758294" cy="1466769"/>
          </a:xfrm>
          <a:prstGeom prst="line">
            <a:avLst/>
          </a:prstGeom>
          <a:noFill/>
          <a:ln w="12700">
            <a:solidFill>
              <a:srgbClr val="9CA3AF"/>
            </a:solidFill>
            <a:prstDash val="solid"/>
            <a:headEnd type="none"/>
            <a:tailEnd type="triangle"/>
          </a:ln>
        </p:spPr>
      </p:sp>
      <p:sp>
        <p:nvSpPr>
          <p:cNvPr id="16" name="Shape 14"/>
          <p:cNvSpPr/>
          <p:nvPr/>
        </p:nvSpPr>
        <p:spPr>
          <a:xfrm flipV="1">
            <a:off x="1873459" y="4715535"/>
            <a:ext cx="7751486" cy="683891"/>
          </a:xfrm>
          <a:prstGeom prst="line">
            <a:avLst/>
          </a:prstGeom>
          <a:noFill/>
          <a:ln w="12700">
            <a:solidFill>
              <a:srgbClr val="9CA3AF"/>
            </a:solidFill>
            <a:prstDash val="solid"/>
            <a:headEnd type="none"/>
            <a:tailEnd type="triangle"/>
          </a:ln>
        </p:spPr>
      </p:sp>
      <p:sp>
        <p:nvSpPr>
          <p:cNvPr id="17" name="Shape 15"/>
          <p:cNvSpPr/>
          <p:nvPr/>
        </p:nvSpPr>
        <p:spPr>
          <a:xfrm>
            <a:off x="1874498" y="5426992"/>
            <a:ext cx="7749580" cy="97675"/>
          </a:xfrm>
          <a:prstGeom prst="line">
            <a:avLst/>
          </a:prstGeom>
          <a:noFill/>
          <a:ln w="12700">
            <a:solidFill>
              <a:srgbClr val="9CA3AF"/>
            </a:solidFill>
            <a:prstDash val="solid"/>
            <a:headEnd type="none"/>
            <a:tailEnd type="triangle"/>
          </a:ln>
        </p:spPr>
      </p:sp>
      <p:sp>
        <p:nvSpPr>
          <p:cNvPr id="18" name="Shape 16"/>
          <p:cNvSpPr/>
          <p:nvPr/>
        </p:nvSpPr>
        <p:spPr>
          <a:xfrm>
            <a:off x="1325880" y="2028825"/>
            <a:ext cx="548640" cy="548640"/>
          </a:xfrm>
          <a:prstGeom prst="ellipse">
            <a:avLst/>
          </a:prstGeom>
          <a:solidFill>
            <a:srgbClr val="D4E4F7"/>
          </a:solidFill>
          <a:ln w="19050">
            <a:solidFill>
              <a:srgbClr val="2A78D6"/>
            </a:solidFill>
            <a:prstDash val="solid"/>
          </a:ln>
        </p:spPr>
      </p:sp>
      <p:sp>
        <p:nvSpPr>
          <p:cNvPr id="19" name="Shape 17"/>
          <p:cNvSpPr/>
          <p:nvPr/>
        </p:nvSpPr>
        <p:spPr>
          <a:xfrm>
            <a:off x="1984248" y="2111121"/>
            <a:ext cx="2514600" cy="384048"/>
          </a:xfrm>
          <a:prstGeom prst="rect">
            <a:avLst/>
          </a:prstGeom>
          <a:solidFill>
            <a:srgbClr val="FFFFFF"/>
          </a:solidFill>
          <a:ln/>
        </p:spPr>
      </p:sp>
      <p:sp>
        <p:nvSpPr>
          <p:cNvPr id="20" name="Text 18"/>
          <p:cNvSpPr/>
          <p:nvPr/>
        </p:nvSpPr>
        <p:spPr>
          <a:xfrm>
            <a:off x="1984248" y="211112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Conversion of Fraction Decimals Percents</a:t>
            </a:r>
            <a:endParaRPr lang="en-US" sz="1050" dirty="0"/>
          </a:p>
        </p:txBody>
      </p:sp>
      <p:sp>
        <p:nvSpPr>
          <p:cNvPr id="21" name="Shape 19"/>
          <p:cNvSpPr/>
          <p:nvPr/>
        </p:nvSpPr>
        <p:spPr>
          <a:xfrm>
            <a:off x="1325880" y="3068955"/>
            <a:ext cx="548640" cy="548640"/>
          </a:xfrm>
          <a:prstGeom prst="ellipse">
            <a:avLst/>
          </a:prstGeom>
          <a:solidFill>
            <a:srgbClr val="D4E4F7"/>
          </a:solidFill>
          <a:ln w="19050">
            <a:solidFill>
              <a:srgbClr val="2A78D6"/>
            </a:solidFill>
            <a:prstDash val="solid"/>
          </a:ln>
        </p:spPr>
      </p:sp>
      <p:sp>
        <p:nvSpPr>
          <p:cNvPr id="22" name="Shape 20"/>
          <p:cNvSpPr/>
          <p:nvPr/>
        </p:nvSpPr>
        <p:spPr>
          <a:xfrm>
            <a:off x="1984248" y="3151251"/>
            <a:ext cx="2514600" cy="384048"/>
          </a:xfrm>
          <a:prstGeom prst="rect">
            <a:avLst/>
          </a:prstGeom>
          <a:solidFill>
            <a:srgbClr val="FFFFFF"/>
          </a:solidFill>
          <a:ln/>
        </p:spPr>
      </p:sp>
      <p:sp>
        <p:nvSpPr>
          <p:cNvPr id="23" name="Text 21"/>
          <p:cNvSpPr/>
          <p:nvPr/>
        </p:nvSpPr>
        <p:spPr>
          <a:xfrm>
            <a:off x="1984248" y="315125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Divisibility</a:t>
            </a:r>
            <a:endParaRPr lang="en-US" sz="1050" dirty="0"/>
          </a:p>
        </p:txBody>
      </p:sp>
      <p:sp>
        <p:nvSpPr>
          <p:cNvPr id="24" name="Shape 22"/>
          <p:cNvSpPr/>
          <p:nvPr/>
        </p:nvSpPr>
        <p:spPr>
          <a:xfrm>
            <a:off x="1325880" y="4109085"/>
            <a:ext cx="548640" cy="548640"/>
          </a:xfrm>
          <a:prstGeom prst="ellipse">
            <a:avLst/>
          </a:prstGeom>
          <a:solidFill>
            <a:srgbClr val="D4E4F7"/>
          </a:solidFill>
          <a:ln w="19050">
            <a:solidFill>
              <a:srgbClr val="2A78D6"/>
            </a:solidFill>
            <a:prstDash val="solid"/>
          </a:ln>
        </p:spPr>
      </p:sp>
      <p:sp>
        <p:nvSpPr>
          <p:cNvPr id="25" name="Shape 23"/>
          <p:cNvSpPr/>
          <p:nvPr/>
        </p:nvSpPr>
        <p:spPr>
          <a:xfrm>
            <a:off x="1984248" y="4191381"/>
            <a:ext cx="2514600" cy="384048"/>
          </a:xfrm>
          <a:prstGeom prst="rect">
            <a:avLst/>
          </a:prstGeom>
          <a:solidFill>
            <a:srgbClr val="FFFFFF"/>
          </a:solidFill>
          <a:ln/>
        </p:spPr>
      </p:sp>
      <p:sp>
        <p:nvSpPr>
          <p:cNvPr id="26" name="Text 24"/>
          <p:cNvSpPr/>
          <p:nvPr/>
        </p:nvSpPr>
        <p:spPr>
          <a:xfrm>
            <a:off x="1984248" y="419138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Estimation</a:t>
            </a:r>
            <a:endParaRPr lang="en-US" sz="1050" dirty="0"/>
          </a:p>
        </p:txBody>
      </p:sp>
      <p:sp>
        <p:nvSpPr>
          <p:cNvPr id="27" name="Shape 25"/>
          <p:cNvSpPr/>
          <p:nvPr/>
        </p:nvSpPr>
        <p:spPr>
          <a:xfrm>
            <a:off x="1325880" y="5149215"/>
            <a:ext cx="548640" cy="548640"/>
          </a:xfrm>
          <a:prstGeom prst="ellipse">
            <a:avLst/>
          </a:prstGeom>
          <a:solidFill>
            <a:srgbClr val="D4E4F7"/>
          </a:solidFill>
          <a:ln w="19050">
            <a:solidFill>
              <a:srgbClr val="2A78D6"/>
            </a:solidFill>
            <a:prstDash val="solid"/>
          </a:ln>
        </p:spPr>
      </p:sp>
      <p:sp>
        <p:nvSpPr>
          <p:cNvPr id="28" name="Shape 26"/>
          <p:cNvSpPr/>
          <p:nvPr/>
        </p:nvSpPr>
        <p:spPr>
          <a:xfrm>
            <a:off x="1984248" y="5231511"/>
            <a:ext cx="2514600" cy="384048"/>
          </a:xfrm>
          <a:prstGeom prst="rect">
            <a:avLst/>
          </a:prstGeom>
          <a:solidFill>
            <a:srgbClr val="FFFFFF"/>
          </a:solidFill>
          <a:ln/>
        </p:spPr>
      </p:sp>
      <p:sp>
        <p:nvSpPr>
          <p:cNvPr id="29" name="Text 27"/>
          <p:cNvSpPr/>
          <p:nvPr/>
        </p:nvSpPr>
        <p:spPr>
          <a:xfrm>
            <a:off x="1984248" y="523151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Multiplication and Division Integers</a:t>
            </a:r>
            <a:endParaRPr lang="en-US" sz="1050" dirty="0"/>
          </a:p>
        </p:txBody>
      </p:sp>
      <p:sp>
        <p:nvSpPr>
          <p:cNvPr id="30" name="Shape 28"/>
          <p:cNvSpPr/>
          <p:nvPr/>
        </p:nvSpPr>
        <p:spPr>
          <a:xfrm>
            <a:off x="6286500" y="1970532"/>
            <a:ext cx="457200" cy="457200"/>
          </a:xfrm>
          <a:prstGeom prst="ellipse">
            <a:avLst/>
          </a:prstGeom>
          <a:solidFill>
            <a:srgbClr val="E1E3E6"/>
          </a:solidFill>
          <a:ln w="31750">
            <a:solidFill>
              <a:srgbClr val="6B7280"/>
            </a:solidFill>
            <a:prstDash val="solid"/>
          </a:ln>
        </p:spPr>
      </p:sp>
      <p:sp>
        <p:nvSpPr>
          <p:cNvPr id="31" name="Shape 29"/>
          <p:cNvSpPr/>
          <p:nvPr/>
        </p:nvSpPr>
        <p:spPr>
          <a:xfrm>
            <a:off x="4914900" y="2473452"/>
            <a:ext cx="3200400" cy="384048"/>
          </a:xfrm>
          <a:prstGeom prst="rect">
            <a:avLst/>
          </a:prstGeom>
          <a:solidFill>
            <a:srgbClr val="FFFFFF"/>
          </a:solidFill>
          <a:ln/>
        </p:spPr>
      </p:sp>
      <p:sp>
        <p:nvSpPr>
          <p:cNvPr id="32" name="Text 30"/>
          <p:cNvSpPr/>
          <p:nvPr/>
        </p:nvSpPr>
        <p:spPr>
          <a:xfrm>
            <a:off x="4914900" y="2473452"/>
            <a:ext cx="3200400"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43963</a:t>
            </a:r>
            <a:endParaRPr lang="en-US" sz="1000" dirty="0"/>
          </a:p>
        </p:txBody>
      </p:sp>
      <p:sp>
        <p:nvSpPr>
          <p:cNvPr id="33" name="Shape 31"/>
          <p:cNvSpPr/>
          <p:nvPr/>
        </p:nvSpPr>
        <p:spPr>
          <a:xfrm>
            <a:off x="6286500" y="2802636"/>
            <a:ext cx="457200" cy="457200"/>
          </a:xfrm>
          <a:prstGeom prst="ellipse">
            <a:avLst/>
          </a:prstGeom>
          <a:solidFill>
            <a:srgbClr val="E1E3E6"/>
          </a:solidFill>
          <a:ln w="19050">
            <a:solidFill>
              <a:srgbClr val="6B7280"/>
            </a:solidFill>
            <a:prstDash val="solid"/>
          </a:ln>
        </p:spPr>
      </p:sp>
      <p:sp>
        <p:nvSpPr>
          <p:cNvPr id="34" name="Shape 32"/>
          <p:cNvSpPr/>
          <p:nvPr/>
        </p:nvSpPr>
        <p:spPr>
          <a:xfrm>
            <a:off x="4914900" y="3305556"/>
            <a:ext cx="3200400" cy="384048"/>
          </a:xfrm>
          <a:prstGeom prst="rect">
            <a:avLst/>
          </a:prstGeom>
          <a:solidFill>
            <a:srgbClr val="FFFFFF"/>
          </a:solidFill>
          <a:ln/>
        </p:spPr>
      </p:sp>
      <p:sp>
        <p:nvSpPr>
          <p:cNvPr id="35" name="Text 33"/>
          <p:cNvSpPr/>
          <p:nvPr/>
        </p:nvSpPr>
        <p:spPr>
          <a:xfrm>
            <a:off x="4914900" y="3305556"/>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61100</a:t>
            </a:r>
            <a:endParaRPr lang="en-US" sz="1000" dirty="0"/>
          </a:p>
        </p:txBody>
      </p:sp>
      <p:sp>
        <p:nvSpPr>
          <p:cNvPr id="36" name="Shape 34"/>
          <p:cNvSpPr/>
          <p:nvPr/>
        </p:nvSpPr>
        <p:spPr>
          <a:xfrm>
            <a:off x="6286500" y="3634740"/>
            <a:ext cx="457200" cy="457200"/>
          </a:xfrm>
          <a:prstGeom prst="ellipse">
            <a:avLst/>
          </a:prstGeom>
          <a:solidFill>
            <a:srgbClr val="E1E3E6"/>
          </a:solidFill>
          <a:ln w="19050">
            <a:solidFill>
              <a:srgbClr val="6B7280"/>
            </a:solidFill>
            <a:prstDash val="solid"/>
          </a:ln>
        </p:spPr>
      </p:sp>
      <p:sp>
        <p:nvSpPr>
          <p:cNvPr id="37" name="Shape 35"/>
          <p:cNvSpPr/>
          <p:nvPr/>
        </p:nvSpPr>
        <p:spPr>
          <a:xfrm>
            <a:off x="4914900" y="4137660"/>
            <a:ext cx="3200400" cy="384048"/>
          </a:xfrm>
          <a:prstGeom prst="rect">
            <a:avLst/>
          </a:prstGeom>
          <a:solidFill>
            <a:srgbClr val="FFFFFF"/>
          </a:solidFill>
          <a:ln/>
        </p:spPr>
      </p:sp>
      <p:sp>
        <p:nvSpPr>
          <p:cNvPr id="38" name="Text 36"/>
          <p:cNvSpPr/>
          <p:nvPr/>
        </p:nvSpPr>
        <p:spPr>
          <a:xfrm>
            <a:off x="4914900" y="413766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84787</a:t>
            </a:r>
            <a:endParaRPr lang="en-US" sz="1000" dirty="0"/>
          </a:p>
        </p:txBody>
      </p:sp>
      <p:sp>
        <p:nvSpPr>
          <p:cNvPr id="39" name="Shape 37"/>
          <p:cNvSpPr/>
          <p:nvPr/>
        </p:nvSpPr>
        <p:spPr>
          <a:xfrm>
            <a:off x="6286500" y="4466844"/>
            <a:ext cx="457200" cy="457200"/>
          </a:xfrm>
          <a:prstGeom prst="ellipse">
            <a:avLst/>
          </a:prstGeom>
          <a:solidFill>
            <a:srgbClr val="E1E3E6"/>
          </a:solidFill>
          <a:ln w="19050">
            <a:solidFill>
              <a:srgbClr val="6B7280"/>
            </a:solidFill>
            <a:prstDash val="solid"/>
          </a:ln>
        </p:spPr>
      </p:sp>
      <p:sp>
        <p:nvSpPr>
          <p:cNvPr id="40" name="Shape 38"/>
          <p:cNvSpPr/>
          <p:nvPr/>
        </p:nvSpPr>
        <p:spPr>
          <a:xfrm>
            <a:off x="4914900" y="4969764"/>
            <a:ext cx="3200400" cy="384048"/>
          </a:xfrm>
          <a:prstGeom prst="rect">
            <a:avLst/>
          </a:prstGeom>
          <a:solidFill>
            <a:srgbClr val="FFFFFF"/>
          </a:solidFill>
          <a:ln/>
        </p:spPr>
      </p:sp>
      <p:sp>
        <p:nvSpPr>
          <p:cNvPr id="41" name="Text 39"/>
          <p:cNvSpPr/>
          <p:nvPr/>
        </p:nvSpPr>
        <p:spPr>
          <a:xfrm>
            <a:off x="4914900" y="4969764"/>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84744</a:t>
            </a:r>
            <a:endParaRPr lang="en-US" sz="1000" dirty="0"/>
          </a:p>
        </p:txBody>
      </p:sp>
      <p:sp>
        <p:nvSpPr>
          <p:cNvPr id="42" name="Shape 40"/>
          <p:cNvSpPr/>
          <p:nvPr/>
        </p:nvSpPr>
        <p:spPr>
          <a:xfrm>
            <a:off x="6286500" y="5298948"/>
            <a:ext cx="457200" cy="457200"/>
          </a:xfrm>
          <a:prstGeom prst="ellipse">
            <a:avLst/>
          </a:prstGeom>
          <a:solidFill>
            <a:srgbClr val="E1E3E6"/>
          </a:solidFill>
          <a:ln w="19050">
            <a:solidFill>
              <a:srgbClr val="6B7280"/>
            </a:solidFill>
            <a:prstDash val="solid"/>
          </a:ln>
        </p:spPr>
      </p:sp>
      <p:sp>
        <p:nvSpPr>
          <p:cNvPr id="43" name="Shape 41"/>
          <p:cNvSpPr/>
          <p:nvPr/>
        </p:nvSpPr>
        <p:spPr>
          <a:xfrm>
            <a:off x="4914900" y="5801868"/>
            <a:ext cx="3200400" cy="384048"/>
          </a:xfrm>
          <a:prstGeom prst="rect">
            <a:avLst/>
          </a:prstGeom>
          <a:solidFill>
            <a:srgbClr val="FFFFFF"/>
          </a:solidFill>
          <a:ln/>
        </p:spPr>
      </p:sp>
      <p:sp>
        <p:nvSpPr>
          <p:cNvPr id="44" name="Text 42"/>
          <p:cNvSpPr/>
          <p:nvPr/>
        </p:nvSpPr>
        <p:spPr>
          <a:xfrm>
            <a:off x="4914900" y="5801868"/>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80430</a:t>
            </a:r>
            <a:endParaRPr lang="en-US" sz="1000" dirty="0"/>
          </a:p>
        </p:txBody>
      </p:sp>
      <p:sp>
        <p:nvSpPr>
          <p:cNvPr id="45" name="Shape 43"/>
          <p:cNvSpPr/>
          <p:nvPr/>
        </p:nvSpPr>
        <p:spPr>
          <a:xfrm>
            <a:off x="9624060" y="1970532"/>
            <a:ext cx="457200" cy="457200"/>
          </a:xfrm>
          <a:prstGeom prst="ellipse">
            <a:avLst/>
          </a:prstGeom>
          <a:solidFill>
            <a:srgbClr val="E1E3E6"/>
          </a:solidFill>
          <a:ln w="19050">
            <a:solidFill>
              <a:srgbClr val="6B7280"/>
            </a:solidFill>
            <a:prstDash val="solid"/>
          </a:ln>
        </p:spPr>
      </p:sp>
      <p:sp>
        <p:nvSpPr>
          <p:cNvPr id="46" name="Shape 44"/>
          <p:cNvSpPr/>
          <p:nvPr/>
        </p:nvSpPr>
        <p:spPr>
          <a:xfrm>
            <a:off x="8252460" y="2473452"/>
            <a:ext cx="3200400" cy="384048"/>
          </a:xfrm>
          <a:prstGeom prst="rect">
            <a:avLst/>
          </a:prstGeom>
          <a:solidFill>
            <a:srgbClr val="FFFFFF"/>
          </a:solidFill>
          <a:ln/>
        </p:spPr>
      </p:sp>
      <p:sp>
        <p:nvSpPr>
          <p:cNvPr id="47" name="Text 45"/>
          <p:cNvSpPr/>
          <p:nvPr/>
        </p:nvSpPr>
        <p:spPr>
          <a:xfrm>
            <a:off x="8252460" y="2473452"/>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80376</a:t>
            </a:r>
            <a:endParaRPr lang="en-US" sz="1000" dirty="0"/>
          </a:p>
        </p:txBody>
      </p:sp>
      <p:sp>
        <p:nvSpPr>
          <p:cNvPr id="48" name="Shape 46"/>
          <p:cNvSpPr/>
          <p:nvPr/>
        </p:nvSpPr>
        <p:spPr>
          <a:xfrm>
            <a:off x="9624060" y="2802636"/>
            <a:ext cx="457200" cy="457200"/>
          </a:xfrm>
          <a:prstGeom prst="ellipse">
            <a:avLst/>
          </a:prstGeom>
          <a:solidFill>
            <a:srgbClr val="E1E3E6"/>
          </a:solidFill>
          <a:ln w="19050">
            <a:solidFill>
              <a:srgbClr val="6B7280"/>
            </a:solidFill>
            <a:prstDash val="solid"/>
          </a:ln>
        </p:spPr>
      </p:sp>
      <p:sp>
        <p:nvSpPr>
          <p:cNvPr id="49" name="Shape 47"/>
          <p:cNvSpPr/>
          <p:nvPr/>
        </p:nvSpPr>
        <p:spPr>
          <a:xfrm>
            <a:off x="8252460" y="3305556"/>
            <a:ext cx="3200400" cy="384048"/>
          </a:xfrm>
          <a:prstGeom prst="rect">
            <a:avLst/>
          </a:prstGeom>
          <a:solidFill>
            <a:srgbClr val="FFFFFF"/>
          </a:solidFill>
          <a:ln/>
        </p:spPr>
      </p:sp>
      <p:sp>
        <p:nvSpPr>
          <p:cNvPr id="50" name="Text 48"/>
          <p:cNvSpPr/>
          <p:nvPr/>
        </p:nvSpPr>
        <p:spPr>
          <a:xfrm>
            <a:off x="8252460" y="3305556"/>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80658</a:t>
            </a:r>
            <a:endParaRPr lang="en-US" sz="1000" dirty="0"/>
          </a:p>
        </p:txBody>
      </p:sp>
      <p:sp>
        <p:nvSpPr>
          <p:cNvPr id="51" name="Shape 49"/>
          <p:cNvSpPr/>
          <p:nvPr/>
        </p:nvSpPr>
        <p:spPr>
          <a:xfrm>
            <a:off x="9624060" y="3634740"/>
            <a:ext cx="457200" cy="457200"/>
          </a:xfrm>
          <a:prstGeom prst="ellipse">
            <a:avLst/>
          </a:prstGeom>
          <a:solidFill>
            <a:srgbClr val="E1E3E6"/>
          </a:solidFill>
          <a:ln w="19050">
            <a:solidFill>
              <a:srgbClr val="6B7280"/>
            </a:solidFill>
            <a:prstDash val="solid"/>
          </a:ln>
        </p:spPr>
      </p:sp>
      <p:sp>
        <p:nvSpPr>
          <p:cNvPr id="52" name="Shape 50"/>
          <p:cNvSpPr/>
          <p:nvPr/>
        </p:nvSpPr>
        <p:spPr>
          <a:xfrm>
            <a:off x="8252460" y="4137660"/>
            <a:ext cx="3200400" cy="384048"/>
          </a:xfrm>
          <a:prstGeom prst="rect">
            <a:avLst/>
          </a:prstGeom>
          <a:solidFill>
            <a:srgbClr val="FFFFFF"/>
          </a:solidFill>
          <a:ln/>
        </p:spPr>
      </p:sp>
      <p:sp>
        <p:nvSpPr>
          <p:cNvPr id="53" name="Text 51"/>
          <p:cNvSpPr/>
          <p:nvPr/>
        </p:nvSpPr>
        <p:spPr>
          <a:xfrm>
            <a:off x="8252460" y="413766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90543</a:t>
            </a:r>
            <a:endParaRPr lang="en-US" sz="1000" dirty="0"/>
          </a:p>
        </p:txBody>
      </p:sp>
      <p:sp>
        <p:nvSpPr>
          <p:cNvPr id="54" name="Shape 52"/>
          <p:cNvSpPr/>
          <p:nvPr/>
        </p:nvSpPr>
        <p:spPr>
          <a:xfrm>
            <a:off x="9624060" y="4466844"/>
            <a:ext cx="457200" cy="457200"/>
          </a:xfrm>
          <a:prstGeom prst="ellipse">
            <a:avLst/>
          </a:prstGeom>
          <a:solidFill>
            <a:srgbClr val="E1E3E6"/>
          </a:solidFill>
          <a:ln w="19050">
            <a:solidFill>
              <a:srgbClr val="6B7280"/>
            </a:solidFill>
            <a:prstDash val="solid"/>
          </a:ln>
        </p:spPr>
      </p:sp>
      <p:sp>
        <p:nvSpPr>
          <p:cNvPr id="55" name="Shape 53"/>
          <p:cNvSpPr/>
          <p:nvPr/>
        </p:nvSpPr>
        <p:spPr>
          <a:xfrm>
            <a:off x="8252460" y="4969764"/>
            <a:ext cx="3200400" cy="384048"/>
          </a:xfrm>
          <a:prstGeom prst="rect">
            <a:avLst/>
          </a:prstGeom>
          <a:solidFill>
            <a:srgbClr val="FFFFFF"/>
          </a:solidFill>
          <a:ln/>
        </p:spPr>
      </p:sp>
      <p:sp>
        <p:nvSpPr>
          <p:cNvPr id="56" name="Text 54"/>
          <p:cNvSpPr/>
          <p:nvPr/>
        </p:nvSpPr>
        <p:spPr>
          <a:xfrm>
            <a:off x="8252460" y="4969764"/>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90594</a:t>
            </a:r>
            <a:endParaRPr lang="en-US" sz="1000" dirty="0"/>
          </a:p>
        </p:txBody>
      </p:sp>
      <p:sp>
        <p:nvSpPr>
          <p:cNvPr id="57" name="Shape 55"/>
          <p:cNvSpPr/>
          <p:nvPr/>
        </p:nvSpPr>
        <p:spPr>
          <a:xfrm>
            <a:off x="9624060" y="5298948"/>
            <a:ext cx="457200" cy="457200"/>
          </a:xfrm>
          <a:prstGeom prst="ellipse">
            <a:avLst/>
          </a:prstGeom>
          <a:solidFill>
            <a:srgbClr val="E1E3E6"/>
          </a:solidFill>
          <a:ln w="19050">
            <a:solidFill>
              <a:srgbClr val="6B7280"/>
            </a:solidFill>
            <a:prstDash val="solid"/>
          </a:ln>
        </p:spPr>
      </p:sp>
      <p:sp>
        <p:nvSpPr>
          <p:cNvPr id="58" name="Shape 56"/>
          <p:cNvSpPr/>
          <p:nvPr/>
        </p:nvSpPr>
        <p:spPr>
          <a:xfrm>
            <a:off x="8252460" y="5801868"/>
            <a:ext cx="3200400" cy="384048"/>
          </a:xfrm>
          <a:prstGeom prst="rect">
            <a:avLst/>
          </a:prstGeom>
          <a:solidFill>
            <a:srgbClr val="FFFFFF"/>
          </a:solidFill>
          <a:ln/>
        </p:spPr>
      </p:sp>
      <p:sp>
        <p:nvSpPr>
          <p:cNvPr id="59" name="Text 57"/>
          <p:cNvSpPr/>
          <p:nvPr/>
        </p:nvSpPr>
        <p:spPr>
          <a:xfrm>
            <a:off x="8252460" y="5801868"/>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90425</a:t>
            </a:r>
            <a:endParaRPr lang="en-US" sz="1000" dirty="0"/>
          </a:p>
        </p:txBody>
      </p:sp>
      <p:sp>
        <p:nvSpPr>
          <p:cNvPr id="60" name="Text 58"/>
          <p:cNvSpPr/>
          <p:nvPr/>
        </p:nvSpPr>
        <p:spPr>
          <a:xfrm>
            <a:off x="548640" y="6236208"/>
            <a:ext cx="11091672"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chấm màu = KC (khái niệm)   ● chấm xám = câu hỏi/bài tập   viền đậm = câu hỏi thật cần nhiều KC cùng lúc (multi-KC)</a:t>
            </a:r>
            <a:endParaRPr lang="en-US" sz="1000" dirty="0"/>
          </a:p>
        </p:txBody>
      </p:sp>
      <p:sp>
        <p:nvSpPr>
          <p:cNvPr id="61" name="Text 59"/>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sơ đồ KC ↔ câu hỏi</a:t>
            </a:r>
            <a:endParaRPr lang="en-US" sz="1000" dirty="0"/>
          </a:p>
        </p:txBody>
      </p:sp>
      <p:sp>
        <p:nvSpPr>
          <p:cNvPr id="62" name="Text 60"/>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402336"/>
          </a:xfrm>
          <a:prstGeom prst="roundRect">
            <a:avLst>
              <a:gd name="adj" fmla="val 18182"/>
            </a:avLst>
          </a:prstGeom>
          <a:solidFill>
            <a:srgbClr val="2A78D6"/>
          </a:solidFill>
          <a:ln/>
        </p:spPr>
      </p:sp>
      <p:sp>
        <p:nvSpPr>
          <p:cNvPr id="3" name="Text 1"/>
          <p:cNvSpPr/>
          <p:nvPr/>
        </p:nvSpPr>
        <p:spPr>
          <a:xfrm>
            <a:off x="548640" y="384048"/>
            <a:ext cx="152704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assist09</a:t>
            </a:r>
            <a:endParaRPr lang="en-US" sz="1400" dirty="0"/>
          </a:p>
        </p:txBody>
      </p:sp>
      <p:sp>
        <p:nvSpPr>
          <p:cNvPr id="4" name="Text 2"/>
          <p:cNvSpPr/>
          <p:nvPr/>
        </p:nvSpPr>
        <p:spPr>
          <a:xfrm>
            <a:off x="2304288" y="329184"/>
            <a:ext cx="7772400" cy="457200"/>
          </a:xfrm>
          <a:prstGeom prst="rect">
            <a:avLst/>
          </a:prstGeom>
          <a:noFill/>
          <a:ln/>
        </p:spPr>
        <p:txBody>
          <a:bodyPr wrap="square" lIns="0" tIns="0" rIns="0" bIns="0" rtlCol="0" anchor="ctr"/>
          <a:lstStyle/>
          <a:p>
            <a:pPr indent="0" marL="0">
              <a:buNone/>
            </a:pPr>
            <a:r>
              <a:rPr lang="en-US" sz="2200" b="1" dirty="0">
                <a:solidFill>
                  <a:srgbClr val="000000"/>
                </a:solidFill>
                <a:latin typeface="Cambria" pitchFamily="34" charset="0"/>
                <a:ea typeface="Cambria" pitchFamily="34" charset="-122"/>
                <a:cs typeface="Cambria" pitchFamily="34" charset="-120"/>
              </a:rPr>
              <a:t>Skill-Builder 2009-2010</a:t>
            </a:r>
            <a:endParaRPr lang="en-US" sz="2200" dirty="0"/>
          </a:p>
        </p:txBody>
      </p:sp>
      <p:sp>
        <p:nvSpPr>
          <p:cNvPr id="5" name="Text 3"/>
          <p:cNvSpPr/>
          <p:nvPr/>
        </p:nvSpPr>
        <p:spPr>
          <a:xfrm>
            <a:off x="548640" y="896112"/>
            <a:ext cx="7315200"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ASSISTments 2009-2010</a:t>
            </a:r>
            <a:endParaRPr lang="en-US" sz="1100" dirty="0"/>
          </a:p>
        </p:txBody>
      </p:sp>
      <p:sp>
        <p:nvSpPr>
          <p:cNvPr id="6" name="Text 4"/>
          <p:cNvSpPr/>
          <p:nvPr/>
        </p:nvSpPr>
        <p:spPr>
          <a:xfrm>
            <a:off x="548640" y="1371600"/>
            <a:ext cx="4251960" cy="256032"/>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CẤU TRÚC FILE  </a:t>
            </a:r>
            <a:pPr indent="0" marL="0">
              <a:buNone/>
            </a:pPr>
            <a:r>
              <a:rPr lang="en-US" sz="1000" i="1" dirty="0">
                <a:solidFill>
                  <a:srgbClr val="000000"/>
                </a:solidFill>
                <a:latin typeface="Calibri" pitchFamily="34" charset="0"/>
                <a:ea typeface="Calibri" pitchFamily="34" charset="-122"/>
                <a:cs typeface="Calibri" pitchFamily="34" charset="-120"/>
              </a:rPr>
              <a:t>· mục 2.1 notebook</a:t>
            </a:r>
            <a:endParaRPr lang="en-US" sz="1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51960" cy="1024128"/>
        </p:xfrm>
        <a:graphic>
          <a:graphicData uri="http://schemas.openxmlformats.org/drawingml/2006/table">
            <a:tbl>
              <a:tblPr/>
              <a:tblGrid>
                <a:gridCol w="2811780"/>
                <a:gridCol w="891540"/>
                <a:gridCol w="54864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Dòng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skill_builder_data_corrected.csv  (dùng phân tích)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346,860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non_skill_builder_data_new.csv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603,128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assistments_2009_2010.csv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1,011,079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8" name="Text 5"/>
          <p:cNvSpPr/>
          <p:nvPr/>
        </p:nvSpPr>
        <p:spPr>
          <a:xfrm>
            <a:off x="548640" y="2798064"/>
            <a:ext cx="4251960" cy="868680"/>
          </a:xfrm>
          <a:prstGeom prst="rect">
            <a:avLst/>
          </a:prstGeom>
          <a:noFill/>
          <a:ln/>
        </p:spPr>
        <p:txBody>
          <a:bodyPr wrap="square" lIns="0" tIns="0" rIns="0" bIns="0" rtlCol="0" anchor="ctr"/>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Liên kết: cả 3 file dùng chung order_id, nhưng là 3 lượt export riêng biệt — order_id của skill_builder chỉ trùng 98.4% (341,404/346,860 dòng) với log tổng hợp, không phải quan hệ subset/union sạch.</a:t>
            </a:r>
            <a:endParaRPr lang="en-US" sz="1000" dirty="0"/>
          </a:p>
        </p:txBody>
      </p:sp>
      <p:sp>
        <p:nvSpPr>
          <p:cNvPr id="9" name="Shape 6"/>
          <p:cNvSpPr/>
          <p:nvPr/>
        </p:nvSpPr>
        <p:spPr>
          <a:xfrm>
            <a:off x="548640" y="3776472"/>
            <a:ext cx="1356360" cy="1197864"/>
          </a:xfrm>
          <a:prstGeom prst="roundRect">
            <a:avLst>
              <a:gd name="adj" fmla="val 3817"/>
            </a:avLst>
          </a:prstGeom>
          <a:solidFill>
            <a:srgbClr val="F5F7FC"/>
          </a:solidFill>
          <a:ln w="9525">
            <a:solidFill>
              <a:srgbClr val="E3E7F1"/>
            </a:solidFill>
            <a:prstDash val="solid"/>
          </a:ln>
        </p:spPr>
      </p:sp>
      <p:sp>
        <p:nvSpPr>
          <p:cNvPr id="10" name="Text 7"/>
          <p:cNvSpPr/>
          <p:nvPr/>
        </p:nvSpPr>
        <p:spPr>
          <a:xfrm>
            <a:off x="594360" y="3849624"/>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283,105</a:t>
            </a:r>
            <a:endParaRPr lang="en-US" sz="1600" dirty="0"/>
          </a:p>
        </p:txBody>
      </p:sp>
      <p:sp>
        <p:nvSpPr>
          <p:cNvPr id="11" name="Text 8"/>
          <p:cNvSpPr/>
          <p:nvPr/>
        </p:nvSpPr>
        <p:spPr>
          <a:xfrm>
            <a:off x="594360" y="4495190"/>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Tương tác (đã gộp)</a:t>
            </a:r>
            <a:endParaRPr lang="en-US" sz="1000" dirty="0"/>
          </a:p>
        </p:txBody>
      </p:sp>
      <p:sp>
        <p:nvSpPr>
          <p:cNvPr id="12" name="Shape 9"/>
          <p:cNvSpPr/>
          <p:nvPr/>
        </p:nvSpPr>
        <p:spPr>
          <a:xfrm>
            <a:off x="1996440" y="3776472"/>
            <a:ext cx="1356360" cy="1197864"/>
          </a:xfrm>
          <a:prstGeom prst="roundRect">
            <a:avLst>
              <a:gd name="adj" fmla="val 3817"/>
            </a:avLst>
          </a:prstGeom>
          <a:solidFill>
            <a:srgbClr val="F5F7FC"/>
          </a:solidFill>
          <a:ln w="9525">
            <a:solidFill>
              <a:srgbClr val="E3E7F1"/>
            </a:solidFill>
            <a:prstDash val="solid"/>
          </a:ln>
        </p:spPr>
      </p:sp>
      <p:sp>
        <p:nvSpPr>
          <p:cNvPr id="13" name="Text 10"/>
          <p:cNvSpPr/>
          <p:nvPr/>
        </p:nvSpPr>
        <p:spPr>
          <a:xfrm>
            <a:off x="2042160" y="3849624"/>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4,163</a:t>
            </a:r>
            <a:endParaRPr lang="en-US" sz="1600" dirty="0"/>
          </a:p>
        </p:txBody>
      </p:sp>
      <p:sp>
        <p:nvSpPr>
          <p:cNvPr id="14" name="Text 11"/>
          <p:cNvSpPr/>
          <p:nvPr/>
        </p:nvSpPr>
        <p:spPr>
          <a:xfrm>
            <a:off x="2042160" y="4495190"/>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Học sinh</a:t>
            </a:r>
            <a:endParaRPr lang="en-US" sz="1000" dirty="0"/>
          </a:p>
        </p:txBody>
      </p:sp>
      <p:sp>
        <p:nvSpPr>
          <p:cNvPr id="15" name="Shape 12"/>
          <p:cNvSpPr/>
          <p:nvPr/>
        </p:nvSpPr>
        <p:spPr>
          <a:xfrm>
            <a:off x="3444240" y="3776472"/>
            <a:ext cx="1356360" cy="1197864"/>
          </a:xfrm>
          <a:prstGeom prst="roundRect">
            <a:avLst>
              <a:gd name="adj" fmla="val 3817"/>
            </a:avLst>
          </a:prstGeom>
          <a:solidFill>
            <a:srgbClr val="F5F7FC"/>
          </a:solidFill>
          <a:ln w="9525">
            <a:solidFill>
              <a:srgbClr val="E3E7F1"/>
            </a:solidFill>
            <a:prstDash val="solid"/>
          </a:ln>
        </p:spPr>
      </p:sp>
      <p:sp>
        <p:nvSpPr>
          <p:cNvPr id="16" name="Text 13"/>
          <p:cNvSpPr/>
          <p:nvPr/>
        </p:nvSpPr>
        <p:spPr>
          <a:xfrm>
            <a:off x="3489960" y="3849624"/>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17,751</a:t>
            </a:r>
            <a:endParaRPr lang="en-US" sz="1600" dirty="0"/>
          </a:p>
        </p:txBody>
      </p:sp>
      <p:sp>
        <p:nvSpPr>
          <p:cNvPr id="17" name="Text 14"/>
          <p:cNvSpPr/>
          <p:nvPr/>
        </p:nvSpPr>
        <p:spPr>
          <a:xfrm>
            <a:off x="3489960" y="4495190"/>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Bài toán</a:t>
            </a:r>
            <a:endParaRPr lang="en-US" sz="1000" dirty="0"/>
          </a:p>
        </p:txBody>
      </p:sp>
      <p:sp>
        <p:nvSpPr>
          <p:cNvPr id="18" name="Shape 15"/>
          <p:cNvSpPr/>
          <p:nvPr/>
        </p:nvSpPr>
        <p:spPr>
          <a:xfrm>
            <a:off x="548640" y="5065776"/>
            <a:ext cx="1356360" cy="1197864"/>
          </a:xfrm>
          <a:prstGeom prst="roundRect">
            <a:avLst>
              <a:gd name="adj" fmla="val 3817"/>
            </a:avLst>
          </a:prstGeom>
          <a:solidFill>
            <a:srgbClr val="F5F7FC"/>
          </a:solidFill>
          <a:ln w="9525">
            <a:solidFill>
              <a:srgbClr val="E3E7F1"/>
            </a:solidFill>
            <a:prstDash val="solid"/>
          </a:ln>
        </p:spPr>
      </p:sp>
      <p:sp>
        <p:nvSpPr>
          <p:cNvPr id="19" name="Text 16"/>
          <p:cNvSpPr/>
          <p:nvPr/>
        </p:nvSpPr>
        <p:spPr>
          <a:xfrm>
            <a:off x="594360" y="5138928"/>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149</a:t>
            </a:r>
            <a:endParaRPr lang="en-US" sz="1600" dirty="0"/>
          </a:p>
        </p:txBody>
      </p:sp>
      <p:sp>
        <p:nvSpPr>
          <p:cNvPr id="20" name="Text 17"/>
          <p:cNvSpPr/>
          <p:nvPr/>
        </p:nvSpPr>
        <p:spPr>
          <a:xfrm>
            <a:off x="594360" y="5784494"/>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Skill (KC)</a:t>
            </a:r>
            <a:endParaRPr lang="en-US" sz="1000" dirty="0"/>
          </a:p>
        </p:txBody>
      </p:sp>
      <p:sp>
        <p:nvSpPr>
          <p:cNvPr id="21" name="Shape 18"/>
          <p:cNvSpPr/>
          <p:nvPr/>
        </p:nvSpPr>
        <p:spPr>
          <a:xfrm>
            <a:off x="1996440" y="5065776"/>
            <a:ext cx="1356360" cy="1197864"/>
          </a:xfrm>
          <a:prstGeom prst="roundRect">
            <a:avLst>
              <a:gd name="adj" fmla="val 3817"/>
            </a:avLst>
          </a:prstGeom>
          <a:solidFill>
            <a:srgbClr val="F5F7FC"/>
          </a:solidFill>
          <a:ln w="9525">
            <a:solidFill>
              <a:srgbClr val="E3E7F1"/>
            </a:solidFill>
            <a:prstDash val="solid"/>
          </a:ln>
        </p:spPr>
      </p:sp>
      <p:sp>
        <p:nvSpPr>
          <p:cNvPr id="22" name="Text 19"/>
          <p:cNvSpPr/>
          <p:nvPr/>
        </p:nvSpPr>
        <p:spPr>
          <a:xfrm>
            <a:off x="2042160" y="5138928"/>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65.8%</a:t>
            </a:r>
            <a:endParaRPr lang="en-US" sz="1600" dirty="0"/>
          </a:p>
        </p:txBody>
      </p:sp>
      <p:sp>
        <p:nvSpPr>
          <p:cNvPr id="23" name="Text 20"/>
          <p:cNvSpPr/>
          <p:nvPr/>
        </p:nvSpPr>
        <p:spPr>
          <a:xfrm>
            <a:off x="2042160" y="5784494"/>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Tỉ lệ đúng chung</a:t>
            </a:r>
            <a:endParaRPr lang="en-US" sz="1000" dirty="0"/>
          </a:p>
        </p:txBody>
      </p:sp>
      <p:sp>
        <p:nvSpPr>
          <p:cNvPr id="24" name="Shape 21"/>
          <p:cNvSpPr/>
          <p:nvPr/>
        </p:nvSpPr>
        <p:spPr>
          <a:xfrm>
            <a:off x="3444240" y="5065776"/>
            <a:ext cx="1356360" cy="1197864"/>
          </a:xfrm>
          <a:prstGeom prst="roundRect">
            <a:avLst>
              <a:gd name="adj" fmla="val 3817"/>
            </a:avLst>
          </a:prstGeom>
          <a:solidFill>
            <a:srgbClr val="F5F7FC"/>
          </a:solidFill>
          <a:ln w="9525">
            <a:solidFill>
              <a:srgbClr val="E3E7F1"/>
            </a:solidFill>
            <a:prstDash val="solid"/>
          </a:ln>
        </p:spPr>
      </p:sp>
      <p:sp>
        <p:nvSpPr>
          <p:cNvPr id="25" name="Text 22"/>
          <p:cNvSpPr/>
          <p:nvPr/>
        </p:nvSpPr>
        <p:spPr>
          <a:xfrm>
            <a:off x="3489960" y="5138928"/>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20</a:t>
            </a:r>
            <a:endParaRPr lang="en-US" sz="1600" dirty="0"/>
          </a:p>
        </p:txBody>
      </p:sp>
      <p:sp>
        <p:nvSpPr>
          <p:cNvPr id="26" name="Text 23"/>
          <p:cNvSpPr/>
          <p:nvPr/>
        </p:nvSpPr>
        <p:spPr>
          <a:xfrm>
            <a:off x="3489960" y="5784494"/>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Trung vị tương tác/HS</a:t>
            </a:r>
            <a:endParaRPr lang="en-US" sz="1000" dirty="0"/>
          </a:p>
        </p:txBody>
      </p:sp>
      <p:sp>
        <p:nvSpPr>
          <p:cNvPr id="27" name="Shape 24"/>
          <p:cNvSpPr/>
          <p:nvPr/>
        </p:nvSpPr>
        <p:spPr>
          <a:xfrm>
            <a:off x="4910328" y="1298448"/>
            <a:ext cx="6803136" cy="4581144"/>
          </a:xfrm>
          <a:prstGeom prst="roundRect">
            <a:avLst>
              <a:gd name="adj" fmla="val 798"/>
            </a:avLst>
          </a:prstGeom>
          <a:solidFill>
            <a:srgbClr val="FFFFFF"/>
          </a:solidFill>
          <a:ln w="15875">
            <a:solidFill>
              <a:srgbClr val="2A78D6"/>
            </a:solidFill>
            <a:prstDash val="solid"/>
          </a:ln>
        </p:spPr>
      </p:sp>
      <p:pic>
        <p:nvPicPr>
          <p:cNvPr id="28" name="Image 0" descr="/tmp/claude-1000/-home-admincsc-workspace-binh-openscience-kt-workspace/c4c4a90d-95e7-4615-8c88-d95bfdcdf616/scratchpad/pptx_assets/fig_17.png">    </p:cNvPr>
          <p:cNvPicPr>
            <a:picLocks noChangeAspect="1"/>
          </p:cNvPicPr>
          <p:nvPr/>
        </p:nvPicPr>
        <p:blipFill>
          <a:blip r:embed="rId1"/>
          <a:stretch>
            <a:fillRect/>
          </a:stretch>
        </p:blipFill>
        <p:spPr>
          <a:xfrm>
            <a:off x="4983480" y="1785194"/>
            <a:ext cx="6656832" cy="3607652"/>
          </a:xfrm>
          <a:prstGeom prst="rect">
            <a:avLst/>
          </a:prstGeom>
        </p:spPr>
      </p:pic>
      <p:sp>
        <p:nvSpPr>
          <p:cNvPr id="29" name="Text 25"/>
          <p:cNvSpPr/>
          <p:nvPr/>
        </p:nvSpPr>
        <p:spPr>
          <a:xfrm>
            <a:off x="4983480" y="5916168"/>
            <a:ext cx="6656832" cy="502920"/>
          </a:xfrm>
          <a:prstGeom prst="rect">
            <a:avLst/>
          </a:prstGeom>
          <a:noFill/>
          <a:ln/>
        </p:spPr>
        <p:txBody>
          <a:bodyPr wrap="square" lIns="0" tIns="0" rIns="0" bIns="0" rtlCol="0" anchor="ctr"/>
          <a:lstStyle/>
          <a:p>
            <a:pPr algn="l"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skill_builder_data_corrected.csv — 283,105/346,860 dòng có skill_id hợp lệ (81.6%). 0% tương tác đa-skill thực tế (kiểm chứng trực tiếp trên dữ liệu).  ·  Nguồn hình: mục 2.2 "Phân tích &amp; trực quan hóa" – datasets_deep_dive.ipynb.</a:t>
            </a:r>
            <a:endParaRPr lang="en-US" sz="1000" dirty="0"/>
          </a:p>
        </p:txBody>
      </p:sp>
      <p:sp>
        <p:nvSpPr>
          <p:cNvPr id="30" name="Text 2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assist09 · ASSISTments 2009-2010</a:t>
            </a:r>
            <a:endParaRPr lang="en-US" sz="1000" dirty="0"/>
          </a:p>
        </p:txBody>
      </p:sp>
      <p:sp>
        <p:nvSpPr>
          <p:cNvPr id="31" name="Text 2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liên kết file · assist12  ·  Nguồn: mục 2.3 "Cấu trúc file / Liên kết"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Cấu trúc file</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ASSISTments 2012-2013 chỉ có 1 file duy nhất trong phân tích này</a:t>
            </a:r>
            <a:endParaRPr lang="en-US" sz="1150" dirty="0"/>
          </a:p>
        </p:txBody>
      </p:sp>
      <p:sp>
        <p:nvSpPr>
          <p:cNvPr id="5" name="Shape 3"/>
          <p:cNvSpPr/>
          <p:nvPr/>
        </p:nvSpPr>
        <p:spPr>
          <a:xfrm>
            <a:off x="4453128" y="2926080"/>
            <a:ext cx="3291840" cy="1005840"/>
          </a:xfrm>
          <a:prstGeom prst="roundRect">
            <a:avLst>
              <a:gd name="adj" fmla="val 6364"/>
            </a:avLst>
          </a:prstGeom>
          <a:solidFill>
            <a:srgbClr val="FDEDE7"/>
          </a:solidFill>
          <a:ln w="19050">
            <a:solidFill>
              <a:srgbClr val="EB6834"/>
            </a:solidFill>
            <a:prstDash val="solid"/>
          </a:ln>
        </p:spPr>
      </p:sp>
      <p:sp>
        <p:nvSpPr>
          <p:cNvPr id="6" name="Text 4"/>
          <p:cNvSpPr/>
          <p:nvPr/>
        </p:nvSpPr>
        <p:spPr>
          <a:xfrm>
            <a:off x="4544568" y="2926080"/>
            <a:ext cx="3108960" cy="100584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2012-2013-data-with-predictions-4-final.csv</a:t>
            </a:r>
            <a:endParaRPr lang="en-US" sz="1150" dirty="0"/>
          </a:p>
        </p:txBody>
      </p:sp>
      <p:sp>
        <p:nvSpPr>
          <p:cNvPr id="7" name="Text 5"/>
          <p:cNvSpPr/>
          <p:nvPr/>
        </p:nvSpPr>
        <p:spPr>
          <a:xfrm>
            <a:off x="3081528" y="4297680"/>
            <a:ext cx="6035040" cy="548640"/>
          </a:xfrm>
          <a:prstGeom prst="rect">
            <a:avLst/>
          </a:prstGeom>
          <a:noFill/>
          <a:ln/>
        </p:spPr>
        <p:txBody>
          <a:bodyPr wrap="square" lIns="0" tIns="0" rIns="0" bIns="0" rtlCol="0" anchor="ctr"/>
          <a:lstStyle/>
          <a:p>
            <a:pPr algn="ctr" indent="0" marL="0">
              <a:buNone/>
            </a:pPr>
            <a:r>
              <a:rPr lang="en-US" sz="1050" i="1" dirty="0">
                <a:solidFill>
                  <a:srgbClr val="000000"/>
                </a:solidFill>
                <a:latin typeface="Calibri" pitchFamily="34" charset="0"/>
                <a:ea typeface="Calibri" pitchFamily="34" charset="-122"/>
                <a:cs typeface="Calibri" pitchFamily="34" charset="-120"/>
              </a:rPr>
              <a:t>Không có quan hệ liên-file để thể hiện — toàn bộ dữ liệu (log tương tác + nhãn) nằm trong 1 file duy nhất, không cần join với file khác.</a:t>
            </a:r>
            <a:endParaRPr lang="en-US" sz="1050" dirty="0"/>
          </a:p>
        </p:txBody>
      </p:sp>
      <p:sp>
        <p:nvSpPr>
          <p:cNvPr id="8" name="Text 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assist12 · sơ đồ liên kết file</a:t>
            </a:r>
            <a:endParaRPr lang="en-US" sz="1000" dirty="0"/>
          </a:p>
        </p:txBody>
      </p:sp>
      <p:sp>
        <p:nvSpPr>
          <p:cNvPr id="9" name="Text 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EB6834"/>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assist12</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2012-2013-data-with-predictions-4-final.csv (phần 1/3)</a:t>
            </a:r>
            <a:endParaRPr lang="en-US" sz="15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ASSISTments 2012-2013 · 35 cột · 3009.5 MB · Nguồn: mục 2.3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301752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problem_log_id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log bài toán, dùng làm mốc thời gian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137792159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138083797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142332619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skill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kỹ năng/khái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Rounding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Multiplication and Division Integers</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toán cụ thể</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557460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365981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426415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user_id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61394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61394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61394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assignment_id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tập được giao</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565736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573819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734130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301752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assistment_id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ASSISTment (bài trong hệ thống)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341511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204043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247525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start_time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điểm bắt đầu làm bài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2012-09-28 15:11:27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2012-10-09 11:01:52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2013-03-07 10:53:20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end_time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điểm kết thúc làm bài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2012-09-28 15:11:36.856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2012-10-09 11:02:13.182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2013-03-07 10:53:28.661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problem_type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kiểu bài (trắc nghiệm, tự luận...)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choose_1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algebra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algebra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original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1=bài gốc, 0=bài làm lại (scaffold)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49"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201168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1=trả lời đúng, 0=sai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bottom_hint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đã xem gợi ý cuối (đáp án) chưa</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hint_count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assist12 · 2012-2013-data-with-predictions-4-final.csv (phần 1/3)</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EB6834"/>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assist12</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2012-2013-data-with-predictions-4-final.csv (phần 2/3)</a:t>
            </a:r>
            <a:endParaRPr lang="en-US" sz="15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ASSISTments 2012-2013 · 35 cột · 3009.5 MB · Nguồn: mục 2.3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417820" cy="251460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actions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log hành động thô (dạng YAML)</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 - start
  - 1348859487561
  - "959522"
- - answer
  - 9852
  - true
  - she
  - 
- - end
</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 - start
  - 1349794912269
  - "624595"
- - answer
  - 21175
  - true
  - "74.29"
  - 
- - end
</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 
- - start
  - 1362671600405
  - "741079"
- - answer
  - 8645
  - false
  - "00"
  - 
- - end
</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attempt_count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ms_first_response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Response-time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9852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21175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8645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tutor_mode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chế độ trợ giảng (tutor/test...)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tutor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graphicFrame>
        <p:nvGraphicFramePr>
          <p:cNvPr id="35" name="Table 1"/>
          <p:cNvGraphicFramePr>
            <a:graphicFrameLocks noGrp="1"/>
          </p:cNvGraphicFramePr>
          <p:nvPr>
            <p:extLst>
              <p:ext uri="{D42A27DB-BD31-4B8C-83A1-F6EECF244321}">
                <p14:modId xmlns:p14="http://schemas.microsoft.com/office/powerpoint/2010/main" val="1579011935"/>
              </p:ext>
            </p:extLst>
          </p:nvPr>
        </p:nvGraphicFramePr>
        <p:xfrm>
          <a:off x="6222492" y="1298448"/>
          <a:ext cx="5417820" cy="251460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(problem set)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55482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34221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39601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student_class_id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lớp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23643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22967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22967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position</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vị trí bài trong chuỗi bài tập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loại section (MasterySection/LinearSection)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LinearSection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14"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assist12 · 2012-2013-data-with-predictions-4-final.csv (phần 2/3)</a:t>
            </a:r>
            <a:endParaRPr lang="en-US" sz="1000" dirty="0"/>
          </a:p>
        </p:txBody>
      </p:sp>
      <p:sp>
        <p:nvSpPr>
          <p:cNvPr id="15"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EB6834"/>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assist12</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2012-2013-data-with-predictions-4-final.csv (phần 3/3)</a:t>
            </a:r>
            <a:endParaRPr lang="en-US" sz="15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ASSISTments 2012-2013 · 35 cột · 3009.5 MB · Nguồn: mục 2.3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301752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base_sequence_id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chuỗi bài tập gốc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55482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34221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39601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skill_id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kỹ năng/khái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teacher_id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giáo viên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53472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47424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47424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school_id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trường học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5048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5048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5048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overlap_time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làm bài chồng lấn (ms)</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9852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21175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8645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301752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template_id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khuôn mẫu sinh câu hỏi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341511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204043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247525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đáp án đã chọn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answer_text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nội dung câu trả lời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she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74.29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first_action</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hành động đầu tiên (0=trả lời, 1=xin hint...)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problemlogid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log bài toán (trùng problem_log_id)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137792159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138083797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142332619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graphicFrame>
        <p:nvGraphicFramePr>
          <p:cNvPr id="55"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251460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Average_confidence(FRUSTRATED)</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Evidence bổ sung (ECD)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0.361323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0.361323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0.361323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Average_confidence(CONFUSED)</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Evidence bổ sung (ECD)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Average_confidence(CONCENTRATING)</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Evidence bổ sung (ECD)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0.336529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0.766925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0.766925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Average_confidence(BORED)</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Evidence bổ sung (ECD)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0.442968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assist12 · 2012-2013-data-with-predictions-4-final.csv (phần 3/3)</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EB6834"/>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assist12</a:t>
            </a:r>
            <a:endParaRPr lang="en-US" sz="1300" dirty="0"/>
          </a:p>
        </p:txBody>
      </p:sp>
      <p:sp>
        <p:nvSpPr>
          <p:cNvPr id="4" name="Text 2"/>
          <p:cNvSpPr/>
          <p:nvPr/>
        </p:nvSpPr>
        <p:spPr>
          <a:xfrm>
            <a:off x="2304288" y="310896"/>
            <a:ext cx="868680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Vì sao các cột này được chọn cho DPA-KT</a:t>
            </a:r>
            <a:endParaRPr lang="en-US" sz="1900" dirty="0"/>
          </a:p>
        </p:txBody>
      </p:sp>
      <p:sp>
        <p:nvSpPr>
          <p:cNvPr id="5" name="Text 3"/>
          <p:cNvSpPr/>
          <p:nvPr/>
        </p:nvSpPr>
        <p:spPr>
          <a:xfrm>
            <a:off x="548640" y="859536"/>
            <a:ext cx="108813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ASSISTments 2012-2013  ·  Dựa trên kiến trúc short_paper_final.pdf, Mục IV</a:t>
            </a:r>
            <a:endParaRPr lang="en-US" sz="1050" dirty="0"/>
          </a:p>
        </p:txBody>
      </p:sp>
      <p:sp>
        <p:nvSpPr>
          <p:cNvPr id="6" name="Text 4"/>
          <p:cNvSpPr/>
          <p:nvPr/>
        </p:nvSpPr>
        <p:spPr>
          <a:xfrm>
            <a:off x="548640" y="1298448"/>
            <a:ext cx="4206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5 TRƯỜNG LÕI  ·  Module 1 + định nghĩa bài toán</a:t>
            </a:r>
            <a:endParaRPr lang="en-US" sz="1100" dirty="0"/>
          </a:p>
        </p:txBody>
      </p:sp>
      <p:sp>
        <p:nvSpPr>
          <p:cNvPr id="7" name="Text 5"/>
          <p:cNvSpPr/>
          <p:nvPr/>
        </p:nvSpPr>
        <p:spPr>
          <a:xfrm>
            <a:off x="548640" y="1609344"/>
            <a:ext cx="4206240" cy="10515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Mọi kiến trúc KT (kể cả DPA-KT) cần tối thiểu chuỗi tương tác S_T = {(q_t, r_t)} và tập KC C: input bắt buộc cho "interaction context" ở Module 1, và để đọc/ghi đúng KC trong mastery memory M ở Module 1 &amp; 3.</a:t>
            </a:r>
            <a:endParaRPr lang="en-US" sz="10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4206240" cy="2743200"/>
        </p:xfrm>
        <a:graphic>
          <a:graphicData uri="http://schemas.openxmlformats.org/drawingml/2006/table">
            <a:tbl>
              <a:tblPr/>
              <a:tblGrid>
                <a:gridCol w="1682496"/>
                <a:gridCol w="2523744"/>
              </a:tblGrid>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Học sinh (student)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user_id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Câu hỏi (q_t)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problem_id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Khái niệm (KC, tập 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skill_id / skill</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Đúng/sai (r_t)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Thời gian / thứ tự</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problem_log_id (mốc thứ tự log)</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9" name="Text 6"/>
          <p:cNvSpPr/>
          <p:nvPr/>
        </p:nvSpPr>
        <p:spPr>
          <a:xfrm>
            <a:off x="548640" y="5586984"/>
            <a:ext cx="4206240" cy="365760"/>
          </a:xfrm>
          <a:prstGeom prst="rect">
            <a:avLst/>
          </a:prstGeom>
          <a:noFill/>
          <a:ln/>
        </p:spPr>
        <p:txBody>
          <a:bodyPr wrap="square" lIns="0" tIns="0" rIns="0" bIns="0" rtlCol="0" anchor="ctr"/>
          <a:lstStyle/>
          <a:p>
            <a:pPr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mục 2.3 &amp; 2.4 notebook (đúng các cột dùng để tính thống kê/vẽ biểu đồ).</a:t>
            </a:r>
            <a:endParaRPr lang="en-US" sz="1000" dirty="0"/>
          </a:p>
        </p:txBody>
      </p:sp>
      <p:sp>
        <p:nvSpPr>
          <p:cNvPr id="10" name="Text 7"/>
          <p:cNvSpPr/>
          <p:nvPr/>
        </p:nvSpPr>
        <p:spPr>
          <a:xfrm>
            <a:off x="5029200" y="1298448"/>
            <a:ext cx="6611112"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CỘT KHUYẾN NGHỊ THÊM  ·  nguyên lý/module tương ứng trong DPA-KT</a:t>
            </a:r>
            <a:endParaRPr lang="en-US" sz="1100" dirty="0"/>
          </a:p>
        </p:txBody>
      </p:sp>
      <p:sp>
        <p:nvSpPr>
          <p:cNvPr id="11" name="Shape 8"/>
          <p:cNvSpPr/>
          <p:nvPr/>
        </p:nvSpPr>
        <p:spPr>
          <a:xfrm>
            <a:off x="5029200" y="1627632"/>
            <a:ext cx="3232404" cy="1664208"/>
          </a:xfrm>
          <a:prstGeom prst="roundRect">
            <a:avLst>
              <a:gd name="adj" fmla="val 2747"/>
            </a:avLst>
          </a:prstGeom>
          <a:solidFill>
            <a:srgbClr val="FBE8B8"/>
          </a:solidFill>
          <a:ln w="9525">
            <a:solidFill>
              <a:srgbClr val="C9891A"/>
            </a:solidFill>
            <a:prstDash val="solid"/>
          </a:ln>
        </p:spPr>
      </p:sp>
      <p:sp>
        <p:nvSpPr>
          <p:cNvPr id="12" name="Text 9"/>
          <p:cNvSpPr/>
          <p:nvPr/>
        </p:nvSpPr>
        <p:spPr>
          <a:xfrm>
            <a:off x="5175504" y="1719072"/>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Guess/Slip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cho nguyên lý guessing and slipping ở Module 2: khi 1 pattern cùng KC/độ khó có phản hồi bất thường (đúng giữa chuỗi sai, hoặc ngược lại), pattern được điều chỉnh để hấp thụ khả năng đoán mò/lỡ tay.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hint_count, attempt_count</a:t>
            </a:r>
            <a:endParaRPr lang="en-US" sz="1200" dirty="0"/>
          </a:p>
        </p:txBody>
      </p:sp>
      <p:sp>
        <p:nvSpPr>
          <p:cNvPr id="13" name="Shape 10"/>
          <p:cNvSpPr/>
          <p:nvPr/>
        </p:nvSpPr>
        <p:spPr>
          <a:xfrm>
            <a:off x="8407908" y="1627632"/>
            <a:ext cx="3232404" cy="1664208"/>
          </a:xfrm>
          <a:prstGeom prst="roundRect">
            <a:avLst>
              <a:gd name="adj" fmla="val 2747"/>
            </a:avLst>
          </a:prstGeom>
          <a:solidFill>
            <a:srgbClr val="FBE8B8"/>
          </a:solidFill>
          <a:ln w="9525">
            <a:solidFill>
              <a:srgbClr val="C9891A"/>
            </a:solidFill>
            <a:prstDash val="solid"/>
          </a:ln>
        </p:spPr>
      </p:sp>
      <p:sp>
        <p:nvSpPr>
          <p:cNvPr id="14" name="Text 11"/>
          <p:cNvSpPr/>
          <p:nvPr/>
        </p:nvSpPr>
        <p:spPr>
          <a:xfrm>
            <a:off x="8554212" y="1719072"/>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Response-time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Cơ sở cho operator temporal pooling ở Module 2 - pool đúng các tương tác GẦN NHẤT theo thời gian khi xây dựng pattern; cũng là tín hiệu bổ sung cho Module 1.</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ms_first_response</a:t>
            </a:r>
            <a:endParaRPr lang="en-US" sz="1200" dirty="0"/>
          </a:p>
        </p:txBody>
      </p:sp>
      <p:sp>
        <p:nvSpPr>
          <p:cNvPr id="15" name="Shape 12"/>
          <p:cNvSpPr/>
          <p:nvPr/>
        </p:nvSpPr>
        <p:spPr>
          <a:xfrm>
            <a:off x="5029200" y="3438144"/>
            <a:ext cx="3232404" cy="2171700"/>
          </a:xfrm>
          <a:prstGeom prst="roundRect">
            <a:avLst>
              <a:gd name="adj" fmla="val 2105"/>
            </a:avLst>
          </a:prstGeom>
          <a:solidFill>
            <a:srgbClr val="FBE8B8"/>
          </a:solidFill>
          <a:ln w="9525">
            <a:solidFill>
              <a:srgbClr val="C9891A"/>
            </a:solidFill>
            <a:prstDash val="solid"/>
          </a:ln>
        </p:spPr>
      </p:sp>
      <p:sp>
        <p:nvSpPr>
          <p:cNvPr id="16" name="Text 13"/>
          <p:cNvSpPr/>
          <p:nvPr/>
        </p:nvSpPr>
        <p:spPr>
          <a:xfrm>
            <a:off x="5175504" y="3529584"/>
            <a:ext cx="2939796" cy="1988820"/>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Evidence bổ sung (ECD)</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bối cảnh (cảm xúc, độ tự tin) đúng tinh thần evidence-centered của framework, nhưng chưa map vào module cụ thể - hướng mở rộng cho nghiên cứu tiếp theo.</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Average_confidence(FRUSTRATED), Average_confidence(CONFUSED), Average_confidence(CONCENTRATING), Average_confidence(BORED)</a:t>
            </a:r>
            <a:endParaRPr lang="en-US" sz="1200" dirty="0"/>
          </a:p>
        </p:txBody>
      </p:sp>
      <p:sp>
        <p:nvSpPr>
          <p:cNvPr id="17" name="Text 14"/>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assist12 · vì sao chọn cột này</a:t>
            </a:r>
            <a:endParaRPr lang="en-US" sz="1000" dirty="0"/>
          </a:p>
        </p:txBody>
      </p:sp>
      <p:sp>
        <p:nvSpPr>
          <p:cNvPr id="18" name="Text 15"/>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KC · assist12  ·  Nguồn: mục 2.3 notebook</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Mạng quan hệ giữa KC và câu hỏi (dữ liệu thực)</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Dữ liệu thô không có sẵn cây phân cấp KC - mạng dưới đây lấy trực tiếp từ dữ liệu thật: nhiều KC (chấm màu) mỗi KC nối tới nhiều câu hỏi thật đã dùng đúng khái niệm đó (chấm xám); câu hỏi viền đậm là câu hỏi thật cần nhiều KC cùng lúc.</a:t>
            </a:r>
            <a:endParaRPr lang="en-US" sz="1150" dirty="0"/>
          </a:p>
        </p:txBody>
      </p:sp>
      <p:sp>
        <p:nvSpPr>
          <p:cNvPr id="5" name="Shape 3"/>
          <p:cNvSpPr/>
          <p:nvPr/>
        </p:nvSpPr>
        <p:spPr>
          <a:xfrm flipV="1">
            <a:off x="1874303" y="2137058"/>
            <a:ext cx="3901801" cy="155185"/>
          </a:xfrm>
          <a:prstGeom prst="line">
            <a:avLst/>
          </a:prstGeom>
          <a:noFill/>
          <a:ln w="12700">
            <a:solidFill>
              <a:srgbClr val="9CA3AF"/>
            </a:solidFill>
            <a:prstDash val="solid"/>
            <a:headEnd type="none"/>
            <a:tailEnd type="triangle"/>
          </a:ln>
        </p:spPr>
      </p:sp>
      <p:sp>
        <p:nvSpPr>
          <p:cNvPr id="6" name="Shape 4"/>
          <p:cNvSpPr/>
          <p:nvPr/>
        </p:nvSpPr>
        <p:spPr>
          <a:xfrm>
            <a:off x="1872588" y="2335646"/>
            <a:ext cx="3904660" cy="465897"/>
          </a:xfrm>
          <a:prstGeom prst="line">
            <a:avLst/>
          </a:prstGeom>
          <a:noFill/>
          <a:ln w="12700">
            <a:solidFill>
              <a:srgbClr val="9CA3AF"/>
            </a:solidFill>
            <a:prstDash val="solid"/>
            <a:headEnd type="none"/>
            <a:tailEnd type="triangle"/>
          </a:ln>
        </p:spPr>
      </p:sp>
      <p:sp>
        <p:nvSpPr>
          <p:cNvPr id="7" name="Shape 5"/>
          <p:cNvSpPr/>
          <p:nvPr/>
        </p:nvSpPr>
        <p:spPr>
          <a:xfrm>
            <a:off x="1864469" y="2376720"/>
            <a:ext cx="3918191" cy="1090860"/>
          </a:xfrm>
          <a:prstGeom prst="line">
            <a:avLst/>
          </a:prstGeom>
          <a:noFill/>
          <a:ln w="12700">
            <a:solidFill>
              <a:srgbClr val="9CA3AF"/>
            </a:solidFill>
            <a:prstDash val="solid"/>
            <a:headEnd type="none"/>
            <a:tailEnd type="triangle"/>
          </a:ln>
        </p:spPr>
      </p:sp>
      <p:sp>
        <p:nvSpPr>
          <p:cNvPr id="8" name="Shape 6"/>
          <p:cNvSpPr/>
          <p:nvPr/>
        </p:nvSpPr>
        <p:spPr>
          <a:xfrm>
            <a:off x="1851520" y="2413098"/>
            <a:ext cx="3939773" cy="1723651"/>
          </a:xfrm>
          <a:prstGeom prst="line">
            <a:avLst/>
          </a:prstGeom>
          <a:noFill/>
          <a:ln w="12700">
            <a:solidFill>
              <a:srgbClr val="9CA3AF"/>
            </a:solidFill>
            <a:prstDash val="solid"/>
            <a:headEnd type="none"/>
            <a:tailEnd type="triangle"/>
          </a:ln>
        </p:spPr>
      </p:sp>
      <p:sp>
        <p:nvSpPr>
          <p:cNvPr id="9" name="Shape 7"/>
          <p:cNvSpPr/>
          <p:nvPr/>
        </p:nvSpPr>
        <p:spPr>
          <a:xfrm>
            <a:off x="1858472" y="3435725"/>
            <a:ext cx="3928186" cy="1406112"/>
          </a:xfrm>
          <a:prstGeom prst="line">
            <a:avLst/>
          </a:prstGeom>
          <a:noFill/>
          <a:ln w="12700">
            <a:solidFill>
              <a:srgbClr val="9CA3AF"/>
            </a:solidFill>
            <a:prstDash val="solid"/>
            <a:headEnd type="none"/>
            <a:tailEnd type="triangle"/>
          </a:ln>
        </p:spPr>
      </p:sp>
      <p:sp>
        <p:nvSpPr>
          <p:cNvPr id="10" name="Shape 8"/>
          <p:cNvSpPr/>
          <p:nvPr/>
        </p:nvSpPr>
        <p:spPr>
          <a:xfrm>
            <a:off x="1843875" y="3469266"/>
            <a:ext cx="3952514" cy="2043630"/>
          </a:xfrm>
          <a:prstGeom prst="line">
            <a:avLst/>
          </a:prstGeom>
          <a:noFill/>
          <a:ln w="12700">
            <a:solidFill>
              <a:srgbClr val="9CA3AF"/>
            </a:solidFill>
            <a:prstDash val="solid"/>
            <a:headEnd type="none"/>
            <a:tailEnd type="triangle"/>
          </a:ln>
        </p:spPr>
      </p:sp>
      <p:sp>
        <p:nvSpPr>
          <p:cNvPr id="11" name="Shape 9"/>
          <p:cNvSpPr/>
          <p:nvPr/>
        </p:nvSpPr>
        <p:spPr>
          <a:xfrm flipV="1">
            <a:off x="1869976" y="2162940"/>
            <a:ext cx="6134054" cy="1130611"/>
          </a:xfrm>
          <a:prstGeom prst="line">
            <a:avLst/>
          </a:prstGeom>
          <a:noFill/>
          <a:ln w="12700">
            <a:solidFill>
              <a:srgbClr val="9CA3AF"/>
            </a:solidFill>
            <a:prstDash val="solid"/>
            <a:headEnd type="none"/>
            <a:tailEnd type="triangle"/>
          </a:ln>
        </p:spPr>
      </p:sp>
      <p:sp>
        <p:nvSpPr>
          <p:cNvPr id="12" name="Shape 10"/>
          <p:cNvSpPr/>
          <p:nvPr/>
        </p:nvSpPr>
        <p:spPr>
          <a:xfrm flipV="1">
            <a:off x="1873668" y="2837611"/>
            <a:ext cx="6127900" cy="484062"/>
          </a:xfrm>
          <a:prstGeom prst="line">
            <a:avLst/>
          </a:prstGeom>
          <a:noFill/>
          <a:ln w="12700">
            <a:solidFill>
              <a:srgbClr val="9CA3AF"/>
            </a:solidFill>
            <a:prstDash val="solid"/>
            <a:headEnd type="none"/>
            <a:tailEnd type="triangle"/>
          </a:ln>
        </p:spPr>
      </p:sp>
      <p:sp>
        <p:nvSpPr>
          <p:cNvPr id="13" name="Shape 11"/>
          <p:cNvSpPr/>
          <p:nvPr/>
        </p:nvSpPr>
        <p:spPr>
          <a:xfrm flipV="1">
            <a:off x="1872173" y="3540501"/>
            <a:ext cx="6130392" cy="807097"/>
          </a:xfrm>
          <a:prstGeom prst="line">
            <a:avLst/>
          </a:prstGeom>
          <a:noFill/>
          <a:ln w="12700">
            <a:solidFill>
              <a:srgbClr val="9CA3AF"/>
            </a:solidFill>
            <a:prstDash val="solid"/>
            <a:headEnd type="none"/>
            <a:tailEnd type="triangle"/>
          </a:ln>
        </p:spPr>
      </p:sp>
      <p:sp>
        <p:nvSpPr>
          <p:cNvPr id="14" name="Shape 12"/>
          <p:cNvSpPr/>
          <p:nvPr/>
        </p:nvSpPr>
        <p:spPr>
          <a:xfrm flipV="1">
            <a:off x="1874425" y="4214864"/>
            <a:ext cx="6126638" cy="161321"/>
          </a:xfrm>
          <a:prstGeom prst="line">
            <a:avLst/>
          </a:prstGeom>
          <a:noFill/>
          <a:ln w="12700">
            <a:solidFill>
              <a:srgbClr val="9CA3AF"/>
            </a:solidFill>
            <a:prstDash val="solid"/>
            <a:headEnd type="none"/>
            <a:tailEnd type="triangle"/>
          </a:ln>
        </p:spPr>
      </p:sp>
      <p:sp>
        <p:nvSpPr>
          <p:cNvPr id="15" name="Shape 13"/>
          <p:cNvSpPr/>
          <p:nvPr/>
        </p:nvSpPr>
        <p:spPr>
          <a:xfrm>
            <a:off x="1873668" y="4405007"/>
            <a:ext cx="6127900" cy="484062"/>
          </a:xfrm>
          <a:prstGeom prst="line">
            <a:avLst/>
          </a:prstGeom>
          <a:noFill/>
          <a:ln w="12700">
            <a:solidFill>
              <a:srgbClr val="9CA3AF"/>
            </a:solidFill>
            <a:prstDash val="solid"/>
            <a:headEnd type="none"/>
            <a:tailEnd type="triangle"/>
          </a:ln>
        </p:spPr>
      </p:sp>
      <p:sp>
        <p:nvSpPr>
          <p:cNvPr id="16" name="Shape 14"/>
          <p:cNvSpPr/>
          <p:nvPr/>
        </p:nvSpPr>
        <p:spPr>
          <a:xfrm>
            <a:off x="1869976" y="4433129"/>
            <a:ext cx="6134054" cy="1130611"/>
          </a:xfrm>
          <a:prstGeom prst="line">
            <a:avLst/>
          </a:prstGeom>
          <a:noFill/>
          <a:ln w="12700">
            <a:solidFill>
              <a:srgbClr val="9CA3AF"/>
            </a:solidFill>
            <a:prstDash val="solid"/>
            <a:headEnd type="none"/>
            <a:tailEnd type="triangle"/>
          </a:ln>
        </p:spPr>
      </p:sp>
      <p:sp>
        <p:nvSpPr>
          <p:cNvPr id="17" name="Shape 15"/>
          <p:cNvSpPr/>
          <p:nvPr/>
        </p:nvSpPr>
        <p:spPr>
          <a:xfrm flipV="1">
            <a:off x="1858776" y="2364210"/>
            <a:ext cx="8377761" cy="2967727"/>
          </a:xfrm>
          <a:prstGeom prst="line">
            <a:avLst/>
          </a:prstGeom>
          <a:noFill/>
          <a:ln w="12700">
            <a:solidFill>
              <a:srgbClr val="9CA3AF"/>
            </a:solidFill>
            <a:prstDash val="solid"/>
            <a:headEnd type="none"/>
            <a:tailEnd type="triangle"/>
          </a:ln>
        </p:spPr>
      </p:sp>
      <p:sp>
        <p:nvSpPr>
          <p:cNvPr id="18" name="Shape 16"/>
          <p:cNvSpPr/>
          <p:nvPr/>
        </p:nvSpPr>
        <p:spPr>
          <a:xfrm flipV="1">
            <a:off x="1867176" y="3385308"/>
            <a:ext cx="8363760" cy="1975179"/>
          </a:xfrm>
          <a:prstGeom prst="line">
            <a:avLst/>
          </a:prstGeom>
          <a:noFill/>
          <a:ln w="12700">
            <a:solidFill>
              <a:srgbClr val="9CA3AF"/>
            </a:solidFill>
            <a:prstDash val="solid"/>
            <a:headEnd type="none"/>
            <a:tailEnd type="triangle"/>
          </a:ln>
        </p:spPr>
      </p:sp>
      <p:sp>
        <p:nvSpPr>
          <p:cNvPr id="19" name="Shape 17"/>
          <p:cNvSpPr/>
          <p:nvPr/>
        </p:nvSpPr>
        <p:spPr>
          <a:xfrm flipV="1">
            <a:off x="1872627" y="4404850"/>
            <a:ext cx="8354674" cy="986516"/>
          </a:xfrm>
          <a:prstGeom prst="line">
            <a:avLst/>
          </a:prstGeom>
          <a:noFill/>
          <a:ln w="12700">
            <a:solidFill>
              <a:srgbClr val="9CA3AF"/>
            </a:solidFill>
            <a:prstDash val="solid"/>
            <a:headEnd type="none"/>
            <a:tailEnd type="triangle"/>
          </a:ln>
        </p:spPr>
      </p:sp>
      <p:sp>
        <p:nvSpPr>
          <p:cNvPr id="20" name="Shape 18"/>
          <p:cNvSpPr/>
          <p:nvPr/>
        </p:nvSpPr>
        <p:spPr>
          <a:xfrm>
            <a:off x="1874520" y="5423535"/>
            <a:ext cx="8351520" cy="914"/>
          </a:xfrm>
          <a:prstGeom prst="line">
            <a:avLst/>
          </a:prstGeom>
          <a:noFill/>
          <a:ln w="12700">
            <a:solidFill>
              <a:srgbClr val="9CA3AF"/>
            </a:solidFill>
            <a:prstDash val="solid"/>
            <a:headEnd type="none"/>
            <a:tailEnd type="triangle"/>
          </a:ln>
        </p:spPr>
      </p:sp>
      <p:sp>
        <p:nvSpPr>
          <p:cNvPr id="21" name="Shape 19"/>
          <p:cNvSpPr/>
          <p:nvPr/>
        </p:nvSpPr>
        <p:spPr>
          <a:xfrm>
            <a:off x="1325880" y="2028825"/>
            <a:ext cx="548640" cy="548640"/>
          </a:xfrm>
          <a:prstGeom prst="ellipse">
            <a:avLst/>
          </a:prstGeom>
          <a:solidFill>
            <a:srgbClr val="FBE1D6"/>
          </a:solidFill>
          <a:ln w="19050">
            <a:solidFill>
              <a:srgbClr val="EB6834"/>
            </a:solidFill>
            <a:prstDash val="solid"/>
          </a:ln>
        </p:spPr>
      </p:sp>
      <p:sp>
        <p:nvSpPr>
          <p:cNvPr id="22" name="Shape 20"/>
          <p:cNvSpPr/>
          <p:nvPr/>
        </p:nvSpPr>
        <p:spPr>
          <a:xfrm>
            <a:off x="1984248" y="2111121"/>
            <a:ext cx="2514600" cy="384048"/>
          </a:xfrm>
          <a:prstGeom prst="rect">
            <a:avLst/>
          </a:prstGeom>
          <a:solidFill>
            <a:srgbClr val="FFFFFF"/>
          </a:solidFill>
          <a:ln/>
        </p:spPr>
      </p:sp>
      <p:sp>
        <p:nvSpPr>
          <p:cNvPr id="23" name="Text 21"/>
          <p:cNvSpPr/>
          <p:nvPr/>
        </p:nvSpPr>
        <p:spPr>
          <a:xfrm>
            <a:off x="1984248" y="211112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Addition and Subtraction Fractions</a:t>
            </a:r>
            <a:endParaRPr lang="en-US" sz="1050" dirty="0"/>
          </a:p>
        </p:txBody>
      </p:sp>
      <p:sp>
        <p:nvSpPr>
          <p:cNvPr id="24" name="Shape 22"/>
          <p:cNvSpPr/>
          <p:nvPr/>
        </p:nvSpPr>
        <p:spPr>
          <a:xfrm>
            <a:off x="1325880" y="3068955"/>
            <a:ext cx="548640" cy="548640"/>
          </a:xfrm>
          <a:prstGeom prst="ellipse">
            <a:avLst/>
          </a:prstGeom>
          <a:solidFill>
            <a:srgbClr val="FBE1D6"/>
          </a:solidFill>
          <a:ln w="19050">
            <a:solidFill>
              <a:srgbClr val="EB6834"/>
            </a:solidFill>
            <a:prstDash val="solid"/>
          </a:ln>
        </p:spPr>
      </p:sp>
      <p:sp>
        <p:nvSpPr>
          <p:cNvPr id="25" name="Shape 23"/>
          <p:cNvSpPr/>
          <p:nvPr/>
        </p:nvSpPr>
        <p:spPr>
          <a:xfrm>
            <a:off x="1984248" y="3151251"/>
            <a:ext cx="2514600" cy="384048"/>
          </a:xfrm>
          <a:prstGeom prst="rect">
            <a:avLst/>
          </a:prstGeom>
          <a:solidFill>
            <a:srgbClr val="FFFFFF"/>
          </a:solidFill>
          <a:ln/>
        </p:spPr>
      </p:sp>
      <p:sp>
        <p:nvSpPr>
          <p:cNvPr id="26" name="Text 24"/>
          <p:cNvSpPr/>
          <p:nvPr/>
        </p:nvSpPr>
        <p:spPr>
          <a:xfrm>
            <a:off x="1984248" y="315125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Equation Solving Two or Fewer Steps</a:t>
            </a:r>
            <a:endParaRPr lang="en-US" sz="1050" dirty="0"/>
          </a:p>
        </p:txBody>
      </p:sp>
      <p:sp>
        <p:nvSpPr>
          <p:cNvPr id="27" name="Shape 25"/>
          <p:cNvSpPr/>
          <p:nvPr/>
        </p:nvSpPr>
        <p:spPr>
          <a:xfrm>
            <a:off x="1325880" y="4109085"/>
            <a:ext cx="548640" cy="548640"/>
          </a:xfrm>
          <a:prstGeom prst="ellipse">
            <a:avLst/>
          </a:prstGeom>
          <a:solidFill>
            <a:srgbClr val="FBE1D6"/>
          </a:solidFill>
          <a:ln w="19050">
            <a:solidFill>
              <a:srgbClr val="EB6834"/>
            </a:solidFill>
            <a:prstDash val="solid"/>
          </a:ln>
        </p:spPr>
      </p:sp>
      <p:sp>
        <p:nvSpPr>
          <p:cNvPr id="28" name="Shape 26"/>
          <p:cNvSpPr/>
          <p:nvPr/>
        </p:nvSpPr>
        <p:spPr>
          <a:xfrm>
            <a:off x="1984248" y="4191381"/>
            <a:ext cx="2514600" cy="384048"/>
          </a:xfrm>
          <a:prstGeom prst="rect">
            <a:avLst/>
          </a:prstGeom>
          <a:solidFill>
            <a:srgbClr val="FFFFFF"/>
          </a:solidFill>
          <a:ln/>
        </p:spPr>
      </p:sp>
      <p:sp>
        <p:nvSpPr>
          <p:cNvPr id="29" name="Text 27"/>
          <p:cNvSpPr/>
          <p:nvPr/>
        </p:nvSpPr>
        <p:spPr>
          <a:xfrm>
            <a:off x="1984248" y="419138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Unit Conversion Within a System</a:t>
            </a:r>
            <a:endParaRPr lang="en-US" sz="1050" dirty="0"/>
          </a:p>
        </p:txBody>
      </p:sp>
      <p:sp>
        <p:nvSpPr>
          <p:cNvPr id="30" name="Shape 28"/>
          <p:cNvSpPr/>
          <p:nvPr/>
        </p:nvSpPr>
        <p:spPr>
          <a:xfrm>
            <a:off x="1325880" y="5149215"/>
            <a:ext cx="548640" cy="548640"/>
          </a:xfrm>
          <a:prstGeom prst="ellipse">
            <a:avLst/>
          </a:prstGeom>
          <a:solidFill>
            <a:srgbClr val="FBE1D6"/>
          </a:solidFill>
          <a:ln w="19050">
            <a:solidFill>
              <a:srgbClr val="EB6834"/>
            </a:solidFill>
            <a:prstDash val="solid"/>
          </a:ln>
        </p:spPr>
      </p:sp>
      <p:sp>
        <p:nvSpPr>
          <p:cNvPr id="31" name="Shape 29"/>
          <p:cNvSpPr/>
          <p:nvPr/>
        </p:nvSpPr>
        <p:spPr>
          <a:xfrm>
            <a:off x="1984248" y="5231511"/>
            <a:ext cx="2514600" cy="384048"/>
          </a:xfrm>
          <a:prstGeom prst="rect">
            <a:avLst/>
          </a:prstGeom>
          <a:solidFill>
            <a:srgbClr val="FFFFFF"/>
          </a:solidFill>
          <a:ln/>
        </p:spPr>
      </p:sp>
      <p:sp>
        <p:nvSpPr>
          <p:cNvPr id="32" name="Text 30"/>
          <p:cNvSpPr/>
          <p:nvPr/>
        </p:nvSpPr>
        <p:spPr>
          <a:xfrm>
            <a:off x="1984248" y="523151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Addition and Subtraction Integers</a:t>
            </a:r>
            <a:endParaRPr lang="en-US" sz="1050" dirty="0"/>
          </a:p>
        </p:txBody>
      </p:sp>
      <p:sp>
        <p:nvSpPr>
          <p:cNvPr id="33" name="Shape 31"/>
          <p:cNvSpPr/>
          <p:nvPr/>
        </p:nvSpPr>
        <p:spPr>
          <a:xfrm>
            <a:off x="5775960" y="1946910"/>
            <a:ext cx="365760" cy="365760"/>
          </a:xfrm>
          <a:prstGeom prst="ellipse">
            <a:avLst/>
          </a:prstGeom>
          <a:solidFill>
            <a:srgbClr val="E1E3E6"/>
          </a:solidFill>
          <a:ln w="19050">
            <a:solidFill>
              <a:srgbClr val="6B7280"/>
            </a:solidFill>
            <a:prstDash val="solid"/>
          </a:ln>
        </p:spPr>
      </p:sp>
      <p:sp>
        <p:nvSpPr>
          <p:cNvPr id="34" name="Shape 32"/>
          <p:cNvSpPr/>
          <p:nvPr/>
        </p:nvSpPr>
        <p:spPr>
          <a:xfrm>
            <a:off x="4914900" y="2358390"/>
            <a:ext cx="2087880" cy="384048"/>
          </a:xfrm>
          <a:prstGeom prst="rect">
            <a:avLst/>
          </a:prstGeom>
          <a:solidFill>
            <a:srgbClr val="FFFFFF"/>
          </a:solidFill>
          <a:ln/>
        </p:spPr>
      </p:sp>
      <p:sp>
        <p:nvSpPr>
          <p:cNvPr id="35" name="Text 33"/>
          <p:cNvSpPr/>
          <p:nvPr/>
        </p:nvSpPr>
        <p:spPr>
          <a:xfrm>
            <a:off x="4914900" y="235839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86648</a:t>
            </a:r>
            <a:endParaRPr lang="en-US" sz="1000" dirty="0"/>
          </a:p>
        </p:txBody>
      </p:sp>
      <p:sp>
        <p:nvSpPr>
          <p:cNvPr id="36" name="Shape 34"/>
          <p:cNvSpPr/>
          <p:nvPr/>
        </p:nvSpPr>
        <p:spPr>
          <a:xfrm>
            <a:off x="5775960" y="2640330"/>
            <a:ext cx="365760" cy="365760"/>
          </a:xfrm>
          <a:prstGeom prst="ellipse">
            <a:avLst/>
          </a:prstGeom>
          <a:solidFill>
            <a:srgbClr val="E1E3E6"/>
          </a:solidFill>
          <a:ln w="19050">
            <a:solidFill>
              <a:srgbClr val="6B7280"/>
            </a:solidFill>
            <a:prstDash val="solid"/>
          </a:ln>
        </p:spPr>
      </p:sp>
      <p:sp>
        <p:nvSpPr>
          <p:cNvPr id="37" name="Shape 35"/>
          <p:cNvSpPr/>
          <p:nvPr/>
        </p:nvSpPr>
        <p:spPr>
          <a:xfrm>
            <a:off x="4914900" y="3051810"/>
            <a:ext cx="2087880" cy="384048"/>
          </a:xfrm>
          <a:prstGeom prst="rect">
            <a:avLst/>
          </a:prstGeom>
          <a:solidFill>
            <a:srgbClr val="FFFFFF"/>
          </a:solidFill>
          <a:ln/>
        </p:spPr>
      </p:sp>
      <p:sp>
        <p:nvSpPr>
          <p:cNvPr id="38" name="Text 36"/>
          <p:cNvSpPr/>
          <p:nvPr/>
        </p:nvSpPr>
        <p:spPr>
          <a:xfrm>
            <a:off x="4914900" y="305181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86359</a:t>
            </a:r>
            <a:endParaRPr lang="en-US" sz="1000" dirty="0"/>
          </a:p>
        </p:txBody>
      </p:sp>
      <p:sp>
        <p:nvSpPr>
          <p:cNvPr id="39" name="Shape 37"/>
          <p:cNvSpPr/>
          <p:nvPr/>
        </p:nvSpPr>
        <p:spPr>
          <a:xfrm>
            <a:off x="5775960" y="3333750"/>
            <a:ext cx="365760" cy="365760"/>
          </a:xfrm>
          <a:prstGeom prst="ellipse">
            <a:avLst/>
          </a:prstGeom>
          <a:solidFill>
            <a:srgbClr val="E1E3E6"/>
          </a:solidFill>
          <a:ln w="19050">
            <a:solidFill>
              <a:srgbClr val="6B7280"/>
            </a:solidFill>
            <a:prstDash val="solid"/>
          </a:ln>
        </p:spPr>
      </p:sp>
      <p:sp>
        <p:nvSpPr>
          <p:cNvPr id="40" name="Shape 38"/>
          <p:cNvSpPr/>
          <p:nvPr/>
        </p:nvSpPr>
        <p:spPr>
          <a:xfrm>
            <a:off x="4914900" y="3745230"/>
            <a:ext cx="2087880" cy="384048"/>
          </a:xfrm>
          <a:prstGeom prst="rect">
            <a:avLst/>
          </a:prstGeom>
          <a:solidFill>
            <a:srgbClr val="FFFFFF"/>
          </a:solidFill>
          <a:ln/>
        </p:spPr>
      </p:sp>
      <p:sp>
        <p:nvSpPr>
          <p:cNvPr id="41" name="Text 39"/>
          <p:cNvSpPr/>
          <p:nvPr/>
        </p:nvSpPr>
        <p:spPr>
          <a:xfrm>
            <a:off x="4914900" y="374523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86319</a:t>
            </a:r>
            <a:endParaRPr lang="en-US" sz="1000" dirty="0"/>
          </a:p>
        </p:txBody>
      </p:sp>
      <p:sp>
        <p:nvSpPr>
          <p:cNvPr id="42" name="Shape 40"/>
          <p:cNvSpPr/>
          <p:nvPr/>
        </p:nvSpPr>
        <p:spPr>
          <a:xfrm>
            <a:off x="5775960" y="4027170"/>
            <a:ext cx="365760" cy="365760"/>
          </a:xfrm>
          <a:prstGeom prst="ellipse">
            <a:avLst/>
          </a:prstGeom>
          <a:solidFill>
            <a:srgbClr val="E1E3E6"/>
          </a:solidFill>
          <a:ln w="19050">
            <a:solidFill>
              <a:srgbClr val="6B7280"/>
            </a:solidFill>
            <a:prstDash val="solid"/>
          </a:ln>
        </p:spPr>
      </p:sp>
      <p:sp>
        <p:nvSpPr>
          <p:cNvPr id="43" name="Shape 41"/>
          <p:cNvSpPr/>
          <p:nvPr/>
        </p:nvSpPr>
        <p:spPr>
          <a:xfrm>
            <a:off x="4914900" y="4438650"/>
            <a:ext cx="2087880" cy="384048"/>
          </a:xfrm>
          <a:prstGeom prst="rect">
            <a:avLst/>
          </a:prstGeom>
          <a:solidFill>
            <a:srgbClr val="FFFFFF"/>
          </a:solidFill>
          <a:ln/>
        </p:spPr>
      </p:sp>
      <p:sp>
        <p:nvSpPr>
          <p:cNvPr id="44" name="Text 42"/>
          <p:cNvSpPr/>
          <p:nvPr/>
        </p:nvSpPr>
        <p:spPr>
          <a:xfrm>
            <a:off x="4914900" y="443865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186646</a:t>
            </a:r>
            <a:endParaRPr lang="en-US" sz="1000" dirty="0"/>
          </a:p>
        </p:txBody>
      </p:sp>
      <p:sp>
        <p:nvSpPr>
          <p:cNvPr id="45" name="Shape 43"/>
          <p:cNvSpPr/>
          <p:nvPr/>
        </p:nvSpPr>
        <p:spPr>
          <a:xfrm>
            <a:off x="5775960" y="4720590"/>
            <a:ext cx="365760" cy="365760"/>
          </a:xfrm>
          <a:prstGeom prst="ellipse">
            <a:avLst/>
          </a:prstGeom>
          <a:solidFill>
            <a:srgbClr val="E1E3E6"/>
          </a:solidFill>
          <a:ln w="19050">
            <a:solidFill>
              <a:srgbClr val="6B7280"/>
            </a:solidFill>
            <a:prstDash val="solid"/>
          </a:ln>
        </p:spPr>
      </p:sp>
      <p:sp>
        <p:nvSpPr>
          <p:cNvPr id="46" name="Shape 44"/>
          <p:cNvSpPr/>
          <p:nvPr/>
        </p:nvSpPr>
        <p:spPr>
          <a:xfrm>
            <a:off x="4914900" y="5132070"/>
            <a:ext cx="2087880" cy="384048"/>
          </a:xfrm>
          <a:prstGeom prst="rect">
            <a:avLst/>
          </a:prstGeom>
          <a:solidFill>
            <a:srgbClr val="FFFFFF"/>
          </a:solidFill>
          <a:ln/>
        </p:spPr>
      </p:sp>
      <p:sp>
        <p:nvSpPr>
          <p:cNvPr id="47" name="Text 45"/>
          <p:cNvSpPr/>
          <p:nvPr/>
        </p:nvSpPr>
        <p:spPr>
          <a:xfrm>
            <a:off x="4914900" y="513207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87699</a:t>
            </a:r>
            <a:endParaRPr lang="en-US" sz="1000" dirty="0"/>
          </a:p>
        </p:txBody>
      </p:sp>
      <p:sp>
        <p:nvSpPr>
          <p:cNvPr id="48" name="Shape 46"/>
          <p:cNvSpPr/>
          <p:nvPr/>
        </p:nvSpPr>
        <p:spPr>
          <a:xfrm>
            <a:off x="5775960" y="5414010"/>
            <a:ext cx="365760" cy="365760"/>
          </a:xfrm>
          <a:prstGeom prst="ellipse">
            <a:avLst/>
          </a:prstGeom>
          <a:solidFill>
            <a:srgbClr val="E1E3E6"/>
          </a:solidFill>
          <a:ln w="19050">
            <a:solidFill>
              <a:srgbClr val="6B7280"/>
            </a:solidFill>
            <a:prstDash val="solid"/>
          </a:ln>
        </p:spPr>
      </p:sp>
      <p:sp>
        <p:nvSpPr>
          <p:cNvPr id="49" name="Shape 47"/>
          <p:cNvSpPr/>
          <p:nvPr/>
        </p:nvSpPr>
        <p:spPr>
          <a:xfrm>
            <a:off x="4914900" y="5825490"/>
            <a:ext cx="2087880" cy="384048"/>
          </a:xfrm>
          <a:prstGeom prst="rect">
            <a:avLst/>
          </a:prstGeom>
          <a:solidFill>
            <a:srgbClr val="FFFFFF"/>
          </a:solidFill>
          <a:ln/>
        </p:spPr>
      </p:sp>
      <p:sp>
        <p:nvSpPr>
          <p:cNvPr id="50" name="Text 48"/>
          <p:cNvSpPr/>
          <p:nvPr/>
        </p:nvSpPr>
        <p:spPr>
          <a:xfrm>
            <a:off x="4914900" y="582549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88297</a:t>
            </a:r>
            <a:endParaRPr lang="en-US" sz="1000" dirty="0"/>
          </a:p>
        </p:txBody>
      </p:sp>
      <p:sp>
        <p:nvSpPr>
          <p:cNvPr id="51" name="Shape 49"/>
          <p:cNvSpPr/>
          <p:nvPr/>
        </p:nvSpPr>
        <p:spPr>
          <a:xfrm>
            <a:off x="8001000" y="1946910"/>
            <a:ext cx="365760" cy="365760"/>
          </a:xfrm>
          <a:prstGeom prst="ellipse">
            <a:avLst/>
          </a:prstGeom>
          <a:solidFill>
            <a:srgbClr val="E1E3E6"/>
          </a:solidFill>
          <a:ln w="19050">
            <a:solidFill>
              <a:srgbClr val="6B7280"/>
            </a:solidFill>
            <a:prstDash val="solid"/>
          </a:ln>
        </p:spPr>
      </p:sp>
      <p:sp>
        <p:nvSpPr>
          <p:cNvPr id="52" name="Shape 50"/>
          <p:cNvSpPr/>
          <p:nvPr/>
        </p:nvSpPr>
        <p:spPr>
          <a:xfrm>
            <a:off x="7139940" y="2358390"/>
            <a:ext cx="2087880" cy="384048"/>
          </a:xfrm>
          <a:prstGeom prst="rect">
            <a:avLst/>
          </a:prstGeom>
          <a:solidFill>
            <a:srgbClr val="FFFFFF"/>
          </a:solidFill>
          <a:ln/>
        </p:spPr>
      </p:sp>
      <p:sp>
        <p:nvSpPr>
          <p:cNvPr id="53" name="Text 51"/>
          <p:cNvSpPr/>
          <p:nvPr/>
        </p:nvSpPr>
        <p:spPr>
          <a:xfrm>
            <a:off x="7139940" y="235839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94696</a:t>
            </a:r>
            <a:endParaRPr lang="en-US" sz="1000" dirty="0"/>
          </a:p>
        </p:txBody>
      </p:sp>
      <p:sp>
        <p:nvSpPr>
          <p:cNvPr id="54" name="Shape 52"/>
          <p:cNvSpPr/>
          <p:nvPr/>
        </p:nvSpPr>
        <p:spPr>
          <a:xfrm>
            <a:off x="8001000" y="2640330"/>
            <a:ext cx="365760" cy="365760"/>
          </a:xfrm>
          <a:prstGeom prst="ellipse">
            <a:avLst/>
          </a:prstGeom>
          <a:solidFill>
            <a:srgbClr val="E1E3E6"/>
          </a:solidFill>
          <a:ln w="19050">
            <a:solidFill>
              <a:srgbClr val="6B7280"/>
            </a:solidFill>
            <a:prstDash val="solid"/>
          </a:ln>
        </p:spPr>
      </p:sp>
      <p:sp>
        <p:nvSpPr>
          <p:cNvPr id="55" name="Shape 53"/>
          <p:cNvSpPr/>
          <p:nvPr/>
        </p:nvSpPr>
        <p:spPr>
          <a:xfrm>
            <a:off x="7139940" y="3051810"/>
            <a:ext cx="2087880" cy="384048"/>
          </a:xfrm>
          <a:prstGeom prst="rect">
            <a:avLst/>
          </a:prstGeom>
          <a:solidFill>
            <a:srgbClr val="FFFFFF"/>
          </a:solidFill>
          <a:ln/>
        </p:spPr>
      </p:sp>
      <p:sp>
        <p:nvSpPr>
          <p:cNvPr id="56" name="Text 54"/>
          <p:cNvSpPr/>
          <p:nvPr/>
        </p:nvSpPr>
        <p:spPr>
          <a:xfrm>
            <a:off x="7139940" y="305181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97539</a:t>
            </a:r>
            <a:endParaRPr lang="en-US" sz="1000" dirty="0"/>
          </a:p>
        </p:txBody>
      </p:sp>
      <p:sp>
        <p:nvSpPr>
          <p:cNvPr id="57" name="Shape 55"/>
          <p:cNvSpPr/>
          <p:nvPr/>
        </p:nvSpPr>
        <p:spPr>
          <a:xfrm>
            <a:off x="8001000" y="3333750"/>
            <a:ext cx="365760" cy="365760"/>
          </a:xfrm>
          <a:prstGeom prst="ellipse">
            <a:avLst/>
          </a:prstGeom>
          <a:solidFill>
            <a:srgbClr val="E1E3E6"/>
          </a:solidFill>
          <a:ln w="19050">
            <a:solidFill>
              <a:srgbClr val="6B7280"/>
            </a:solidFill>
            <a:prstDash val="solid"/>
          </a:ln>
        </p:spPr>
      </p:sp>
      <p:sp>
        <p:nvSpPr>
          <p:cNvPr id="58" name="Shape 56"/>
          <p:cNvSpPr/>
          <p:nvPr/>
        </p:nvSpPr>
        <p:spPr>
          <a:xfrm>
            <a:off x="7139940" y="3745230"/>
            <a:ext cx="2087880" cy="384048"/>
          </a:xfrm>
          <a:prstGeom prst="rect">
            <a:avLst/>
          </a:prstGeom>
          <a:solidFill>
            <a:srgbClr val="FFFFFF"/>
          </a:solidFill>
          <a:ln/>
        </p:spPr>
      </p:sp>
      <p:sp>
        <p:nvSpPr>
          <p:cNvPr id="59" name="Text 57"/>
          <p:cNvSpPr/>
          <p:nvPr/>
        </p:nvSpPr>
        <p:spPr>
          <a:xfrm>
            <a:off x="7139940" y="374523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124206</a:t>
            </a:r>
            <a:endParaRPr lang="en-US" sz="1000" dirty="0"/>
          </a:p>
        </p:txBody>
      </p:sp>
      <p:sp>
        <p:nvSpPr>
          <p:cNvPr id="60" name="Shape 58"/>
          <p:cNvSpPr/>
          <p:nvPr/>
        </p:nvSpPr>
        <p:spPr>
          <a:xfrm>
            <a:off x="8001000" y="4027170"/>
            <a:ext cx="365760" cy="365760"/>
          </a:xfrm>
          <a:prstGeom prst="ellipse">
            <a:avLst/>
          </a:prstGeom>
          <a:solidFill>
            <a:srgbClr val="E1E3E6"/>
          </a:solidFill>
          <a:ln w="19050">
            <a:solidFill>
              <a:srgbClr val="6B7280"/>
            </a:solidFill>
            <a:prstDash val="solid"/>
          </a:ln>
        </p:spPr>
      </p:sp>
      <p:sp>
        <p:nvSpPr>
          <p:cNvPr id="61" name="Shape 59"/>
          <p:cNvSpPr/>
          <p:nvPr/>
        </p:nvSpPr>
        <p:spPr>
          <a:xfrm>
            <a:off x="7139940" y="4438650"/>
            <a:ext cx="2087880" cy="384048"/>
          </a:xfrm>
          <a:prstGeom prst="rect">
            <a:avLst/>
          </a:prstGeom>
          <a:solidFill>
            <a:srgbClr val="FFFFFF"/>
          </a:solidFill>
          <a:ln/>
        </p:spPr>
      </p:sp>
      <p:sp>
        <p:nvSpPr>
          <p:cNvPr id="62" name="Text 60"/>
          <p:cNvSpPr/>
          <p:nvPr/>
        </p:nvSpPr>
        <p:spPr>
          <a:xfrm>
            <a:off x="7139940" y="443865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124226</a:t>
            </a:r>
            <a:endParaRPr lang="en-US" sz="1000" dirty="0"/>
          </a:p>
        </p:txBody>
      </p:sp>
      <p:sp>
        <p:nvSpPr>
          <p:cNvPr id="63" name="Shape 61"/>
          <p:cNvSpPr/>
          <p:nvPr/>
        </p:nvSpPr>
        <p:spPr>
          <a:xfrm>
            <a:off x="8001000" y="4720590"/>
            <a:ext cx="365760" cy="365760"/>
          </a:xfrm>
          <a:prstGeom prst="ellipse">
            <a:avLst/>
          </a:prstGeom>
          <a:solidFill>
            <a:srgbClr val="E1E3E6"/>
          </a:solidFill>
          <a:ln w="19050">
            <a:solidFill>
              <a:srgbClr val="6B7280"/>
            </a:solidFill>
            <a:prstDash val="solid"/>
          </a:ln>
        </p:spPr>
      </p:sp>
      <p:sp>
        <p:nvSpPr>
          <p:cNvPr id="64" name="Shape 62"/>
          <p:cNvSpPr/>
          <p:nvPr/>
        </p:nvSpPr>
        <p:spPr>
          <a:xfrm>
            <a:off x="7139940" y="5132070"/>
            <a:ext cx="2087880" cy="384048"/>
          </a:xfrm>
          <a:prstGeom prst="rect">
            <a:avLst/>
          </a:prstGeom>
          <a:solidFill>
            <a:srgbClr val="FFFFFF"/>
          </a:solidFill>
          <a:ln/>
        </p:spPr>
      </p:sp>
      <p:sp>
        <p:nvSpPr>
          <p:cNvPr id="65" name="Text 63"/>
          <p:cNvSpPr/>
          <p:nvPr/>
        </p:nvSpPr>
        <p:spPr>
          <a:xfrm>
            <a:off x="7139940" y="513207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124150</a:t>
            </a:r>
            <a:endParaRPr lang="en-US" sz="1000" dirty="0"/>
          </a:p>
        </p:txBody>
      </p:sp>
      <p:sp>
        <p:nvSpPr>
          <p:cNvPr id="66" name="Shape 64"/>
          <p:cNvSpPr/>
          <p:nvPr/>
        </p:nvSpPr>
        <p:spPr>
          <a:xfrm>
            <a:off x="8001000" y="5414010"/>
            <a:ext cx="365760" cy="365760"/>
          </a:xfrm>
          <a:prstGeom prst="ellipse">
            <a:avLst/>
          </a:prstGeom>
          <a:solidFill>
            <a:srgbClr val="E1E3E6"/>
          </a:solidFill>
          <a:ln w="19050">
            <a:solidFill>
              <a:srgbClr val="6B7280"/>
            </a:solidFill>
            <a:prstDash val="solid"/>
          </a:ln>
        </p:spPr>
      </p:sp>
      <p:sp>
        <p:nvSpPr>
          <p:cNvPr id="67" name="Shape 65"/>
          <p:cNvSpPr/>
          <p:nvPr/>
        </p:nvSpPr>
        <p:spPr>
          <a:xfrm>
            <a:off x="7139940" y="5825490"/>
            <a:ext cx="2087880" cy="384048"/>
          </a:xfrm>
          <a:prstGeom prst="rect">
            <a:avLst/>
          </a:prstGeom>
          <a:solidFill>
            <a:srgbClr val="FFFFFF"/>
          </a:solidFill>
          <a:ln/>
        </p:spPr>
      </p:sp>
      <p:sp>
        <p:nvSpPr>
          <p:cNvPr id="68" name="Text 66"/>
          <p:cNvSpPr/>
          <p:nvPr/>
        </p:nvSpPr>
        <p:spPr>
          <a:xfrm>
            <a:off x="7139940" y="582549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357</a:t>
            </a:r>
            <a:endParaRPr lang="en-US" sz="1000" dirty="0"/>
          </a:p>
        </p:txBody>
      </p:sp>
      <p:sp>
        <p:nvSpPr>
          <p:cNvPr id="69" name="Shape 67"/>
          <p:cNvSpPr/>
          <p:nvPr/>
        </p:nvSpPr>
        <p:spPr>
          <a:xfrm>
            <a:off x="10226040" y="2120265"/>
            <a:ext cx="365760" cy="365760"/>
          </a:xfrm>
          <a:prstGeom prst="ellipse">
            <a:avLst/>
          </a:prstGeom>
          <a:solidFill>
            <a:srgbClr val="E1E3E6"/>
          </a:solidFill>
          <a:ln w="19050">
            <a:solidFill>
              <a:srgbClr val="6B7280"/>
            </a:solidFill>
            <a:prstDash val="solid"/>
          </a:ln>
        </p:spPr>
      </p:sp>
      <p:sp>
        <p:nvSpPr>
          <p:cNvPr id="70" name="Shape 68"/>
          <p:cNvSpPr/>
          <p:nvPr/>
        </p:nvSpPr>
        <p:spPr>
          <a:xfrm>
            <a:off x="9364980" y="2531745"/>
            <a:ext cx="2087880" cy="384048"/>
          </a:xfrm>
          <a:prstGeom prst="rect">
            <a:avLst/>
          </a:prstGeom>
          <a:solidFill>
            <a:srgbClr val="FFFFFF"/>
          </a:solidFill>
          <a:ln/>
        </p:spPr>
      </p:sp>
      <p:sp>
        <p:nvSpPr>
          <p:cNvPr id="71" name="Text 69"/>
          <p:cNvSpPr/>
          <p:nvPr/>
        </p:nvSpPr>
        <p:spPr>
          <a:xfrm>
            <a:off x="9364980" y="2531745"/>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89896</a:t>
            </a:r>
            <a:endParaRPr lang="en-US" sz="1000" dirty="0"/>
          </a:p>
        </p:txBody>
      </p:sp>
      <p:sp>
        <p:nvSpPr>
          <p:cNvPr id="72" name="Shape 70"/>
          <p:cNvSpPr/>
          <p:nvPr/>
        </p:nvSpPr>
        <p:spPr>
          <a:xfrm>
            <a:off x="10226040" y="3160395"/>
            <a:ext cx="365760" cy="365760"/>
          </a:xfrm>
          <a:prstGeom prst="ellipse">
            <a:avLst/>
          </a:prstGeom>
          <a:solidFill>
            <a:srgbClr val="E1E3E6"/>
          </a:solidFill>
          <a:ln w="19050">
            <a:solidFill>
              <a:srgbClr val="6B7280"/>
            </a:solidFill>
            <a:prstDash val="solid"/>
          </a:ln>
        </p:spPr>
      </p:sp>
      <p:sp>
        <p:nvSpPr>
          <p:cNvPr id="73" name="Shape 71"/>
          <p:cNvSpPr/>
          <p:nvPr/>
        </p:nvSpPr>
        <p:spPr>
          <a:xfrm>
            <a:off x="9364980" y="3571875"/>
            <a:ext cx="2087880" cy="384048"/>
          </a:xfrm>
          <a:prstGeom prst="rect">
            <a:avLst/>
          </a:prstGeom>
          <a:solidFill>
            <a:srgbClr val="FFFFFF"/>
          </a:solidFill>
          <a:ln/>
        </p:spPr>
      </p:sp>
      <p:sp>
        <p:nvSpPr>
          <p:cNvPr id="74" name="Text 72"/>
          <p:cNvSpPr/>
          <p:nvPr/>
        </p:nvSpPr>
        <p:spPr>
          <a:xfrm>
            <a:off x="9364980" y="3571875"/>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89905</a:t>
            </a:r>
            <a:endParaRPr lang="en-US" sz="1000" dirty="0"/>
          </a:p>
        </p:txBody>
      </p:sp>
      <p:sp>
        <p:nvSpPr>
          <p:cNvPr id="75" name="Shape 73"/>
          <p:cNvSpPr/>
          <p:nvPr/>
        </p:nvSpPr>
        <p:spPr>
          <a:xfrm>
            <a:off x="10226040" y="4200525"/>
            <a:ext cx="365760" cy="365760"/>
          </a:xfrm>
          <a:prstGeom prst="ellipse">
            <a:avLst/>
          </a:prstGeom>
          <a:solidFill>
            <a:srgbClr val="E1E3E6"/>
          </a:solidFill>
          <a:ln w="19050">
            <a:solidFill>
              <a:srgbClr val="6B7280"/>
            </a:solidFill>
            <a:prstDash val="solid"/>
          </a:ln>
        </p:spPr>
      </p:sp>
      <p:sp>
        <p:nvSpPr>
          <p:cNvPr id="76" name="Shape 74"/>
          <p:cNvSpPr/>
          <p:nvPr/>
        </p:nvSpPr>
        <p:spPr>
          <a:xfrm>
            <a:off x="9364980" y="4612005"/>
            <a:ext cx="2087880" cy="384048"/>
          </a:xfrm>
          <a:prstGeom prst="rect">
            <a:avLst/>
          </a:prstGeom>
          <a:solidFill>
            <a:srgbClr val="FFFFFF"/>
          </a:solidFill>
          <a:ln/>
        </p:spPr>
      </p:sp>
      <p:sp>
        <p:nvSpPr>
          <p:cNvPr id="77" name="Text 75"/>
          <p:cNvSpPr/>
          <p:nvPr/>
        </p:nvSpPr>
        <p:spPr>
          <a:xfrm>
            <a:off x="9364980" y="4612005"/>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53896</a:t>
            </a:r>
            <a:endParaRPr lang="en-US" sz="1000" dirty="0"/>
          </a:p>
        </p:txBody>
      </p:sp>
      <p:sp>
        <p:nvSpPr>
          <p:cNvPr id="78" name="Shape 76"/>
          <p:cNvSpPr/>
          <p:nvPr/>
        </p:nvSpPr>
        <p:spPr>
          <a:xfrm>
            <a:off x="10226040" y="5240655"/>
            <a:ext cx="365760" cy="365760"/>
          </a:xfrm>
          <a:prstGeom prst="ellipse">
            <a:avLst/>
          </a:prstGeom>
          <a:solidFill>
            <a:srgbClr val="E1E3E6"/>
          </a:solidFill>
          <a:ln w="19050">
            <a:solidFill>
              <a:srgbClr val="6B7280"/>
            </a:solidFill>
            <a:prstDash val="solid"/>
          </a:ln>
        </p:spPr>
      </p:sp>
      <p:sp>
        <p:nvSpPr>
          <p:cNvPr id="79" name="Shape 77"/>
          <p:cNvSpPr/>
          <p:nvPr/>
        </p:nvSpPr>
        <p:spPr>
          <a:xfrm>
            <a:off x="9364980" y="5652135"/>
            <a:ext cx="2087880" cy="384048"/>
          </a:xfrm>
          <a:prstGeom prst="rect">
            <a:avLst/>
          </a:prstGeom>
          <a:solidFill>
            <a:srgbClr val="FFFFFF"/>
          </a:solidFill>
          <a:ln/>
        </p:spPr>
      </p:sp>
      <p:sp>
        <p:nvSpPr>
          <p:cNvPr id="80" name="Text 78"/>
          <p:cNvSpPr/>
          <p:nvPr/>
        </p:nvSpPr>
        <p:spPr>
          <a:xfrm>
            <a:off x="9364980" y="5652135"/>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189224</a:t>
            </a:r>
            <a:endParaRPr lang="en-US" sz="1000" dirty="0"/>
          </a:p>
        </p:txBody>
      </p:sp>
      <p:sp>
        <p:nvSpPr>
          <p:cNvPr id="81" name="Text 79"/>
          <p:cNvSpPr/>
          <p:nvPr/>
        </p:nvSpPr>
        <p:spPr>
          <a:xfrm>
            <a:off x="548640" y="6236208"/>
            <a:ext cx="11091672"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chấm màu = KC (khái niệm)   ● chấm xám = câu hỏi/bài tập — ở dataset này mỗi câu hỏi chỉ gắn với đúng 1 KC (không có multi-KC thật)</a:t>
            </a:r>
            <a:endParaRPr lang="en-US" sz="1000" dirty="0"/>
          </a:p>
        </p:txBody>
      </p:sp>
      <p:sp>
        <p:nvSpPr>
          <p:cNvPr id="82" name="Text 8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assist12 · sơ đồ KC ↔ câu hỏi</a:t>
            </a:r>
            <a:endParaRPr lang="en-US" sz="1000" dirty="0"/>
          </a:p>
        </p:txBody>
      </p:sp>
      <p:sp>
        <p:nvSpPr>
          <p:cNvPr id="83" name="Text 8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402336"/>
          </a:xfrm>
          <a:prstGeom prst="roundRect">
            <a:avLst>
              <a:gd name="adj" fmla="val 18182"/>
            </a:avLst>
          </a:prstGeom>
          <a:solidFill>
            <a:srgbClr val="EB6834"/>
          </a:solidFill>
          <a:ln/>
        </p:spPr>
      </p:sp>
      <p:sp>
        <p:nvSpPr>
          <p:cNvPr id="3" name="Text 1"/>
          <p:cNvSpPr/>
          <p:nvPr/>
        </p:nvSpPr>
        <p:spPr>
          <a:xfrm>
            <a:off x="548640" y="384048"/>
            <a:ext cx="1527048"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assist12</a:t>
            </a:r>
            <a:endParaRPr lang="en-US" sz="1400" dirty="0"/>
          </a:p>
        </p:txBody>
      </p:sp>
      <p:sp>
        <p:nvSpPr>
          <p:cNvPr id="4" name="Text 2"/>
          <p:cNvSpPr/>
          <p:nvPr/>
        </p:nvSpPr>
        <p:spPr>
          <a:xfrm>
            <a:off x="2304288" y="329184"/>
            <a:ext cx="7772400" cy="457200"/>
          </a:xfrm>
          <a:prstGeom prst="rect">
            <a:avLst/>
          </a:prstGeom>
          <a:noFill/>
          <a:ln/>
        </p:spPr>
        <p:txBody>
          <a:bodyPr wrap="square" lIns="0" tIns="0" rIns="0" bIns="0" rtlCol="0" anchor="ctr"/>
          <a:lstStyle/>
          <a:p>
            <a:pPr indent="0" marL="0">
              <a:buNone/>
            </a:pPr>
            <a:r>
              <a:rPr lang="en-US" sz="2200" b="1" dirty="0">
                <a:solidFill>
                  <a:srgbClr val="000000"/>
                </a:solidFill>
                <a:latin typeface="Cambria" pitchFamily="34" charset="0"/>
                <a:ea typeface="Cambria" pitchFamily="34" charset="-122"/>
                <a:cs typeface="Cambria" pitchFamily="34" charset="-120"/>
              </a:rPr>
              <a:t>With-Affect 2012-2013</a:t>
            </a:r>
            <a:endParaRPr lang="en-US" sz="2200" dirty="0"/>
          </a:p>
        </p:txBody>
      </p:sp>
      <p:sp>
        <p:nvSpPr>
          <p:cNvPr id="5" name="Text 3"/>
          <p:cNvSpPr/>
          <p:nvPr/>
        </p:nvSpPr>
        <p:spPr>
          <a:xfrm>
            <a:off x="548640" y="896112"/>
            <a:ext cx="7315200"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ASSISTments 2012-2013</a:t>
            </a:r>
            <a:endParaRPr lang="en-US" sz="1100" dirty="0"/>
          </a:p>
        </p:txBody>
      </p:sp>
      <p:sp>
        <p:nvSpPr>
          <p:cNvPr id="6" name="Text 4"/>
          <p:cNvSpPr/>
          <p:nvPr/>
        </p:nvSpPr>
        <p:spPr>
          <a:xfrm>
            <a:off x="548640" y="1371600"/>
            <a:ext cx="4251960" cy="256032"/>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CẤU TRÚC FILE  </a:t>
            </a:r>
            <a:pPr indent="0" marL="0">
              <a:buNone/>
            </a:pPr>
            <a:r>
              <a:rPr lang="en-US" sz="1000" i="1" dirty="0">
                <a:solidFill>
                  <a:srgbClr val="000000"/>
                </a:solidFill>
                <a:latin typeface="Calibri" pitchFamily="34" charset="0"/>
                <a:ea typeface="Calibri" pitchFamily="34" charset="-122"/>
                <a:cs typeface="Calibri" pitchFamily="34" charset="-120"/>
              </a:rPr>
              <a:t>· mục 2.3 notebook</a:t>
            </a:r>
            <a:endParaRPr lang="en-US" sz="1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51960" cy="512064"/>
        </p:xfrm>
        <a:graphic>
          <a:graphicData uri="http://schemas.openxmlformats.org/drawingml/2006/table">
            <a:tbl>
              <a:tblPr/>
              <a:tblGrid>
                <a:gridCol w="2811780"/>
                <a:gridCol w="891540"/>
                <a:gridCol w="54864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Dòng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full_data.csv (nén zip, 550MB)  (sau giải nén)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6,123,270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8" name="Text 5"/>
          <p:cNvSpPr/>
          <p:nvPr/>
        </p:nvSpPr>
        <p:spPr>
          <a:xfrm>
            <a:off x="548640" y="2286000"/>
            <a:ext cx="4251960" cy="27432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Giải nén ra 2012-2013-data-with-predictions-4-final.csv (3.01 GB) — chỉ 1 file duy nhất, không cần join.</a:t>
            </a:r>
            <a:endParaRPr lang="en-US" sz="1000" dirty="0"/>
          </a:p>
        </p:txBody>
      </p:sp>
      <p:sp>
        <p:nvSpPr>
          <p:cNvPr id="9" name="Text 6"/>
          <p:cNvSpPr/>
          <p:nvPr/>
        </p:nvSpPr>
        <p:spPr>
          <a:xfrm>
            <a:off x="548640" y="2578608"/>
            <a:ext cx="4251960" cy="777240"/>
          </a:xfrm>
          <a:prstGeom prst="rect">
            <a:avLst/>
          </a:prstGeom>
          <a:noFill/>
          <a:ln/>
        </p:spPr>
        <p:txBody>
          <a:bodyPr wrap="square" lIns="0" tIns="0" rIns="0" bIns="0" rtlCol="0" anchor="ctr"/>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Độc lập với assist09 (khác namespace user_id/problem_id). 4 cột Average_confidence(FRUSTRATED/CONFUSED/CONCENTRATING/BORED) là kết quả DỰ ĐOÁN bằng mô hình, không phải học sinh tự khai báo.</a:t>
            </a:r>
            <a:endParaRPr lang="en-US" sz="1000" dirty="0"/>
          </a:p>
        </p:txBody>
      </p:sp>
      <p:sp>
        <p:nvSpPr>
          <p:cNvPr id="10" name="Shape 7"/>
          <p:cNvSpPr/>
          <p:nvPr/>
        </p:nvSpPr>
        <p:spPr>
          <a:xfrm>
            <a:off x="548640" y="3465576"/>
            <a:ext cx="1356360" cy="1353312"/>
          </a:xfrm>
          <a:prstGeom prst="roundRect">
            <a:avLst>
              <a:gd name="adj" fmla="val 3378"/>
            </a:avLst>
          </a:prstGeom>
          <a:solidFill>
            <a:srgbClr val="F5F7FC"/>
          </a:solidFill>
          <a:ln w="9525">
            <a:solidFill>
              <a:srgbClr val="E3E7F1"/>
            </a:solidFill>
            <a:prstDash val="solid"/>
          </a:ln>
        </p:spPr>
      </p:sp>
      <p:sp>
        <p:nvSpPr>
          <p:cNvPr id="11" name="Text 8"/>
          <p:cNvSpPr/>
          <p:nvPr/>
        </p:nvSpPr>
        <p:spPr>
          <a:xfrm>
            <a:off x="594360" y="3538728"/>
            <a:ext cx="1264920" cy="7443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2,711,602</a:t>
            </a:r>
            <a:endParaRPr lang="en-US" sz="1600" dirty="0"/>
          </a:p>
        </p:txBody>
      </p:sp>
      <p:sp>
        <p:nvSpPr>
          <p:cNvPr id="12" name="Text 9"/>
          <p:cNvSpPr/>
          <p:nvPr/>
        </p:nvSpPr>
        <p:spPr>
          <a:xfrm>
            <a:off x="594360" y="4277563"/>
            <a:ext cx="1264920" cy="541325"/>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Tương tác hợp lệ</a:t>
            </a:r>
            <a:endParaRPr lang="en-US" sz="1000" dirty="0"/>
          </a:p>
        </p:txBody>
      </p:sp>
      <p:sp>
        <p:nvSpPr>
          <p:cNvPr id="13" name="Shape 10"/>
          <p:cNvSpPr/>
          <p:nvPr/>
        </p:nvSpPr>
        <p:spPr>
          <a:xfrm>
            <a:off x="1996440" y="3465576"/>
            <a:ext cx="1356360" cy="1353312"/>
          </a:xfrm>
          <a:prstGeom prst="roundRect">
            <a:avLst>
              <a:gd name="adj" fmla="val 3378"/>
            </a:avLst>
          </a:prstGeom>
          <a:solidFill>
            <a:srgbClr val="F5F7FC"/>
          </a:solidFill>
          <a:ln w="9525">
            <a:solidFill>
              <a:srgbClr val="E3E7F1"/>
            </a:solidFill>
            <a:prstDash val="solid"/>
          </a:ln>
        </p:spPr>
      </p:sp>
      <p:sp>
        <p:nvSpPr>
          <p:cNvPr id="14" name="Text 11"/>
          <p:cNvSpPr/>
          <p:nvPr/>
        </p:nvSpPr>
        <p:spPr>
          <a:xfrm>
            <a:off x="2042160" y="3538728"/>
            <a:ext cx="1264920" cy="7443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29,018</a:t>
            </a:r>
            <a:endParaRPr lang="en-US" sz="1600" dirty="0"/>
          </a:p>
        </p:txBody>
      </p:sp>
      <p:sp>
        <p:nvSpPr>
          <p:cNvPr id="15" name="Text 12"/>
          <p:cNvSpPr/>
          <p:nvPr/>
        </p:nvSpPr>
        <p:spPr>
          <a:xfrm>
            <a:off x="2042160" y="4277563"/>
            <a:ext cx="1264920" cy="541325"/>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Học sinh</a:t>
            </a:r>
            <a:endParaRPr lang="en-US" sz="1000" dirty="0"/>
          </a:p>
        </p:txBody>
      </p:sp>
      <p:sp>
        <p:nvSpPr>
          <p:cNvPr id="16" name="Shape 13"/>
          <p:cNvSpPr/>
          <p:nvPr/>
        </p:nvSpPr>
        <p:spPr>
          <a:xfrm>
            <a:off x="3444240" y="3465576"/>
            <a:ext cx="1356360" cy="1353312"/>
          </a:xfrm>
          <a:prstGeom prst="roundRect">
            <a:avLst>
              <a:gd name="adj" fmla="val 3378"/>
            </a:avLst>
          </a:prstGeom>
          <a:solidFill>
            <a:srgbClr val="F5F7FC"/>
          </a:solidFill>
          <a:ln w="9525">
            <a:solidFill>
              <a:srgbClr val="E3E7F1"/>
            </a:solidFill>
            <a:prstDash val="solid"/>
          </a:ln>
        </p:spPr>
      </p:sp>
      <p:sp>
        <p:nvSpPr>
          <p:cNvPr id="17" name="Text 14"/>
          <p:cNvSpPr/>
          <p:nvPr/>
        </p:nvSpPr>
        <p:spPr>
          <a:xfrm>
            <a:off x="3489960" y="3538728"/>
            <a:ext cx="1264920" cy="7443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53,086</a:t>
            </a:r>
            <a:endParaRPr lang="en-US" sz="1600" dirty="0"/>
          </a:p>
        </p:txBody>
      </p:sp>
      <p:sp>
        <p:nvSpPr>
          <p:cNvPr id="18" name="Text 15"/>
          <p:cNvSpPr/>
          <p:nvPr/>
        </p:nvSpPr>
        <p:spPr>
          <a:xfrm>
            <a:off x="3489960" y="4277563"/>
            <a:ext cx="1264920" cy="541325"/>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Bài toán</a:t>
            </a:r>
            <a:endParaRPr lang="en-US" sz="1000" dirty="0"/>
          </a:p>
        </p:txBody>
      </p:sp>
      <p:sp>
        <p:nvSpPr>
          <p:cNvPr id="19" name="Shape 16"/>
          <p:cNvSpPr/>
          <p:nvPr/>
        </p:nvSpPr>
        <p:spPr>
          <a:xfrm>
            <a:off x="548640" y="4910328"/>
            <a:ext cx="1356360" cy="1353312"/>
          </a:xfrm>
          <a:prstGeom prst="roundRect">
            <a:avLst>
              <a:gd name="adj" fmla="val 3378"/>
            </a:avLst>
          </a:prstGeom>
          <a:solidFill>
            <a:srgbClr val="F5F7FC"/>
          </a:solidFill>
          <a:ln w="9525">
            <a:solidFill>
              <a:srgbClr val="E3E7F1"/>
            </a:solidFill>
            <a:prstDash val="solid"/>
          </a:ln>
        </p:spPr>
      </p:sp>
      <p:sp>
        <p:nvSpPr>
          <p:cNvPr id="20" name="Text 17"/>
          <p:cNvSpPr/>
          <p:nvPr/>
        </p:nvSpPr>
        <p:spPr>
          <a:xfrm>
            <a:off x="594360" y="4983480"/>
            <a:ext cx="1264920" cy="7443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265</a:t>
            </a:r>
            <a:endParaRPr lang="en-US" sz="1600" dirty="0"/>
          </a:p>
        </p:txBody>
      </p:sp>
      <p:sp>
        <p:nvSpPr>
          <p:cNvPr id="21" name="Text 18"/>
          <p:cNvSpPr/>
          <p:nvPr/>
        </p:nvSpPr>
        <p:spPr>
          <a:xfrm>
            <a:off x="594360" y="5722315"/>
            <a:ext cx="1264920" cy="541325"/>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Skill (KC)</a:t>
            </a:r>
            <a:endParaRPr lang="en-US" sz="1000" dirty="0"/>
          </a:p>
        </p:txBody>
      </p:sp>
      <p:sp>
        <p:nvSpPr>
          <p:cNvPr id="22" name="Shape 19"/>
          <p:cNvSpPr/>
          <p:nvPr/>
        </p:nvSpPr>
        <p:spPr>
          <a:xfrm>
            <a:off x="1996440" y="4910328"/>
            <a:ext cx="1356360" cy="1353312"/>
          </a:xfrm>
          <a:prstGeom prst="roundRect">
            <a:avLst>
              <a:gd name="adj" fmla="val 3378"/>
            </a:avLst>
          </a:prstGeom>
          <a:solidFill>
            <a:srgbClr val="F5F7FC"/>
          </a:solidFill>
          <a:ln w="9525">
            <a:solidFill>
              <a:srgbClr val="E3E7F1"/>
            </a:solidFill>
            <a:prstDash val="solid"/>
          </a:ln>
        </p:spPr>
      </p:sp>
      <p:sp>
        <p:nvSpPr>
          <p:cNvPr id="23" name="Text 20"/>
          <p:cNvSpPr/>
          <p:nvPr/>
        </p:nvSpPr>
        <p:spPr>
          <a:xfrm>
            <a:off x="2042160" y="4983480"/>
            <a:ext cx="1264920" cy="7443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69.5%</a:t>
            </a:r>
            <a:endParaRPr lang="en-US" sz="1600" dirty="0"/>
          </a:p>
        </p:txBody>
      </p:sp>
      <p:sp>
        <p:nvSpPr>
          <p:cNvPr id="24" name="Text 21"/>
          <p:cNvSpPr/>
          <p:nvPr/>
        </p:nvSpPr>
        <p:spPr>
          <a:xfrm>
            <a:off x="2042160" y="5722315"/>
            <a:ext cx="1264920" cy="541325"/>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Tỉ lệ đúng chung</a:t>
            </a:r>
            <a:endParaRPr lang="en-US" sz="1000" dirty="0"/>
          </a:p>
        </p:txBody>
      </p:sp>
      <p:sp>
        <p:nvSpPr>
          <p:cNvPr id="25" name="Shape 22"/>
          <p:cNvSpPr/>
          <p:nvPr/>
        </p:nvSpPr>
        <p:spPr>
          <a:xfrm>
            <a:off x="3444240" y="4910328"/>
            <a:ext cx="1356360" cy="1353312"/>
          </a:xfrm>
          <a:prstGeom prst="roundRect">
            <a:avLst>
              <a:gd name="adj" fmla="val 3378"/>
            </a:avLst>
          </a:prstGeom>
          <a:solidFill>
            <a:srgbClr val="F5F7FC"/>
          </a:solidFill>
          <a:ln w="9525">
            <a:solidFill>
              <a:srgbClr val="E3E7F1"/>
            </a:solidFill>
            <a:prstDash val="solid"/>
          </a:ln>
        </p:spPr>
      </p:sp>
      <p:sp>
        <p:nvSpPr>
          <p:cNvPr id="26" name="Text 23"/>
          <p:cNvSpPr/>
          <p:nvPr/>
        </p:nvSpPr>
        <p:spPr>
          <a:xfrm>
            <a:off x="3489960" y="4983480"/>
            <a:ext cx="1264920" cy="7443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36</a:t>
            </a:r>
            <a:endParaRPr lang="en-US" sz="1600" dirty="0"/>
          </a:p>
        </p:txBody>
      </p:sp>
      <p:sp>
        <p:nvSpPr>
          <p:cNvPr id="27" name="Text 24"/>
          <p:cNvSpPr/>
          <p:nvPr/>
        </p:nvSpPr>
        <p:spPr>
          <a:xfrm>
            <a:off x="3489960" y="5722315"/>
            <a:ext cx="1264920" cy="541325"/>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Trung vị tương tác/HS</a:t>
            </a:r>
            <a:endParaRPr lang="en-US" sz="1000" dirty="0"/>
          </a:p>
        </p:txBody>
      </p:sp>
      <p:sp>
        <p:nvSpPr>
          <p:cNvPr id="28" name="Shape 25"/>
          <p:cNvSpPr/>
          <p:nvPr/>
        </p:nvSpPr>
        <p:spPr>
          <a:xfrm>
            <a:off x="4910328" y="1298448"/>
            <a:ext cx="6803136" cy="4581144"/>
          </a:xfrm>
          <a:prstGeom prst="roundRect">
            <a:avLst>
              <a:gd name="adj" fmla="val 798"/>
            </a:avLst>
          </a:prstGeom>
          <a:solidFill>
            <a:srgbClr val="FFFFFF"/>
          </a:solidFill>
          <a:ln w="15875">
            <a:solidFill>
              <a:srgbClr val="EB6834"/>
            </a:solidFill>
            <a:prstDash val="solid"/>
          </a:ln>
        </p:spPr>
      </p:sp>
      <p:pic>
        <p:nvPicPr>
          <p:cNvPr id="29" name="Image 0" descr="/tmp/claude-1000/-home-admincsc-workspace-binh-openscience-kt-workspace/c4c4a90d-95e7-4615-8c88-d95bfdcdf616/scratchpad/pptx_assets/fig_23.png">    </p:cNvPr>
          <p:cNvPicPr>
            <a:picLocks noChangeAspect="1"/>
          </p:cNvPicPr>
          <p:nvPr/>
        </p:nvPicPr>
        <p:blipFill>
          <a:blip r:embed="rId1"/>
          <a:stretch>
            <a:fillRect/>
          </a:stretch>
        </p:blipFill>
        <p:spPr>
          <a:xfrm>
            <a:off x="4983480" y="1790700"/>
            <a:ext cx="6656832" cy="3596640"/>
          </a:xfrm>
          <a:prstGeom prst="rect">
            <a:avLst/>
          </a:prstGeom>
        </p:spPr>
      </p:pic>
      <p:sp>
        <p:nvSpPr>
          <p:cNvPr id="30" name="Text 26"/>
          <p:cNvSpPr/>
          <p:nvPr/>
        </p:nvSpPr>
        <p:spPr>
          <a:xfrm>
            <a:off x="4983480" y="5916168"/>
            <a:ext cx="6656832" cy="502920"/>
          </a:xfrm>
          <a:prstGeom prst="rect">
            <a:avLst/>
          </a:prstGeom>
          <a:noFill/>
          <a:ln/>
        </p:spPr>
        <p:txBody>
          <a:bodyPr wrap="square" lIns="0" tIns="0" rIns="0" bIns="0" rtlCol="0" anchor="ctr"/>
          <a:lstStyle/>
          <a:p>
            <a:pPr algn="l"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2,711,602/6,123,270 dòng có skill_id + nhãn đúng/sai hợp lệ. Tương quan (cảm xúc, đúng/sai): Tập trung +0.122, Chán −0.111, Bối rối +0.019, Bực bội +0.016 (2 hệ số cuối gần như không tương quan).  ·  Nguồn hình: mục 2.4 "Phân tích &amp; trực quan hóa" – datasets_deep_dive.ipynb.</a:t>
            </a:r>
            <a:endParaRPr lang="en-US" sz="1000" dirty="0"/>
          </a:p>
        </p:txBody>
      </p:sp>
      <p:sp>
        <p:nvSpPr>
          <p:cNvPr id="31" name="Text 2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assist12 · ASSISTments 2012-2013</a:t>
            </a:r>
            <a:endParaRPr lang="en-US" sz="1000" dirty="0"/>
          </a:p>
        </p:txBody>
      </p:sp>
      <p:sp>
        <p:nvSpPr>
          <p:cNvPr id="32" name="Text 2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85800" y="1417320"/>
            <a:ext cx="3657600" cy="2011680"/>
          </a:xfrm>
          <a:prstGeom prst="rect">
            <a:avLst/>
          </a:prstGeom>
          <a:noFill/>
          <a:ln/>
        </p:spPr>
        <p:txBody>
          <a:bodyPr wrap="square" lIns="0" tIns="0" rIns="0" bIns="0" rtlCol="0" anchor="ctr"/>
          <a:lstStyle/>
          <a:p>
            <a:pPr algn="l" indent="0" marL="0">
              <a:buNone/>
            </a:pPr>
            <a:r>
              <a:rPr lang="en-US" sz="13000" b="1" dirty="0">
                <a:solidFill>
                  <a:srgbClr val="FFFFFF">
                    <a:alpha val="18000"/>
                  </a:srgbClr>
                </a:solidFill>
                <a:latin typeface="Cambria" pitchFamily="34" charset="0"/>
                <a:ea typeface="Cambria" pitchFamily="34" charset="-122"/>
                <a:cs typeface="Cambria" pitchFamily="34" charset="-120"/>
              </a:rPr>
              <a:t>02</a:t>
            </a:r>
            <a:endParaRPr lang="en-US" sz="13000" dirty="0"/>
          </a:p>
        </p:txBody>
      </p:sp>
      <p:sp>
        <p:nvSpPr>
          <p:cNvPr id="3" name="Text 1"/>
          <p:cNvSpPr/>
          <p:nvPr/>
        </p:nvSpPr>
        <p:spPr>
          <a:xfrm>
            <a:off x="822960" y="3017520"/>
            <a:ext cx="100584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Eedi NeurIPS 2020</a:t>
            </a:r>
            <a:endParaRPr lang="en-US" sz="4000" dirty="0"/>
          </a:p>
        </p:txBody>
      </p:sp>
      <p:sp>
        <p:nvSpPr>
          <p:cNvPr id="4" name="Text 2"/>
          <p:cNvSpPr/>
          <p:nvPr/>
        </p:nvSpPr>
        <p:spPr>
          <a:xfrm>
            <a:off x="822960" y="3886200"/>
            <a:ext cx="9601200" cy="64008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Trắc nghiệm toán tiếng Anh — KC là cây môn học 4 cấp, có ảnh minh hoạ và hồ sơ học sinh.</a:t>
            </a:r>
            <a:endParaRPr lang="en-US" sz="1500" dirty="0"/>
          </a:p>
        </p:txBody>
      </p:sp>
      <p:sp>
        <p:nvSpPr>
          <p:cNvPr id="5" name="Shape 3"/>
          <p:cNvSpPr/>
          <p:nvPr/>
        </p:nvSpPr>
        <p:spPr>
          <a:xfrm>
            <a:off x="822960" y="4663440"/>
            <a:ext cx="941832" cy="438912"/>
          </a:xfrm>
          <a:prstGeom prst="roundRect">
            <a:avLst>
              <a:gd name="adj" fmla="val 18750"/>
            </a:avLst>
          </a:prstGeom>
          <a:solidFill>
            <a:srgbClr val="008300"/>
          </a:solidFill>
          <a:ln/>
        </p:spPr>
      </p:sp>
      <p:sp>
        <p:nvSpPr>
          <p:cNvPr id="6" name="Text 4"/>
          <p:cNvSpPr/>
          <p:nvPr/>
        </p:nvSpPr>
        <p:spPr>
          <a:xfrm>
            <a:off x="822960" y="4663440"/>
            <a:ext cx="94183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eedi</a:t>
            </a:r>
            <a:endParaRPr lang="en-US" sz="1300" dirty="0"/>
          </a:p>
        </p:txBody>
      </p:sp>
      <p:sp>
        <p:nvSpPr>
          <p:cNvPr id="7" name="Text 5"/>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Eedi NeurIPS 2020</a:t>
            </a:r>
            <a:endParaRPr lang="en-US" sz="1000" dirty="0"/>
          </a:p>
        </p:txBody>
      </p:sp>
      <p:sp>
        <p:nvSpPr>
          <p:cNvPr id="8" name="Text 6"/>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liên kết file · eedi  ·  Nguồn: mục 3.1 "Cấu trúc file / Liên kết"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Cấu trúc file</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train_task_1_2.csv là trung tâm, 3 file metadata nối vào qua 3 khóa khác nhau.</a:t>
            </a:r>
            <a:endParaRPr lang="en-US" sz="1150" dirty="0"/>
          </a:p>
        </p:txBody>
      </p:sp>
      <p:sp>
        <p:nvSpPr>
          <p:cNvPr id="5" name="Shape 3"/>
          <p:cNvSpPr/>
          <p:nvPr/>
        </p:nvSpPr>
        <p:spPr>
          <a:xfrm>
            <a:off x="4453128" y="3063240"/>
            <a:ext cx="3291840" cy="868680"/>
          </a:xfrm>
          <a:prstGeom prst="roundRect">
            <a:avLst>
              <a:gd name="adj" fmla="val 7368"/>
            </a:avLst>
          </a:prstGeom>
          <a:solidFill>
            <a:srgbClr val="E0F0E0"/>
          </a:solidFill>
          <a:ln w="19050">
            <a:solidFill>
              <a:srgbClr val="008300"/>
            </a:solidFill>
            <a:prstDash val="solid"/>
          </a:ln>
        </p:spPr>
      </p:sp>
      <p:sp>
        <p:nvSpPr>
          <p:cNvPr id="6" name="Text 4"/>
          <p:cNvSpPr/>
          <p:nvPr/>
        </p:nvSpPr>
        <p:spPr>
          <a:xfrm>
            <a:off x="4544568" y="3063240"/>
            <a:ext cx="3108960" cy="86868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train_task_1_2.csv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log tương tác chính</a:t>
            </a:r>
            <a:endParaRPr lang="en-US" sz="1150" dirty="0"/>
          </a:p>
        </p:txBody>
      </p:sp>
      <p:sp>
        <p:nvSpPr>
          <p:cNvPr id="7" name="Shape 5"/>
          <p:cNvSpPr/>
          <p:nvPr/>
        </p:nvSpPr>
        <p:spPr>
          <a:xfrm>
            <a:off x="640080" y="1691640"/>
            <a:ext cx="3291840" cy="777240"/>
          </a:xfrm>
          <a:prstGeom prst="roundRect">
            <a:avLst>
              <a:gd name="adj" fmla="val 8235"/>
            </a:avLst>
          </a:prstGeom>
          <a:solidFill>
            <a:srgbClr val="E0F0E0"/>
          </a:solidFill>
          <a:ln w="19050">
            <a:solidFill>
              <a:srgbClr val="008300"/>
            </a:solidFill>
            <a:prstDash val="solid"/>
          </a:ln>
        </p:spPr>
      </p:sp>
      <p:sp>
        <p:nvSpPr>
          <p:cNvPr id="8" name="Text 6"/>
          <p:cNvSpPr/>
          <p:nvPr/>
        </p:nvSpPr>
        <p:spPr>
          <a:xfrm>
            <a:off x="731520" y="1691640"/>
            <a:ext cx="3108960" cy="77724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question_metadata_task_1_2.csv</a:t>
            </a:r>
            <a:endParaRPr lang="en-US" sz="1150" dirty="0"/>
          </a:p>
        </p:txBody>
      </p:sp>
      <p:sp>
        <p:nvSpPr>
          <p:cNvPr id="9" name="Shape 7"/>
          <p:cNvSpPr/>
          <p:nvPr/>
        </p:nvSpPr>
        <p:spPr>
          <a:xfrm>
            <a:off x="640080" y="5257800"/>
            <a:ext cx="3291840" cy="777240"/>
          </a:xfrm>
          <a:prstGeom prst="roundRect">
            <a:avLst>
              <a:gd name="adj" fmla="val 8235"/>
            </a:avLst>
          </a:prstGeom>
          <a:solidFill>
            <a:srgbClr val="E0F0E0"/>
          </a:solidFill>
          <a:ln w="19050">
            <a:solidFill>
              <a:srgbClr val="008300"/>
            </a:solidFill>
            <a:prstDash val="solid"/>
          </a:ln>
        </p:spPr>
      </p:sp>
      <p:sp>
        <p:nvSpPr>
          <p:cNvPr id="10" name="Text 8"/>
          <p:cNvSpPr/>
          <p:nvPr/>
        </p:nvSpPr>
        <p:spPr>
          <a:xfrm>
            <a:off x="731520" y="5257800"/>
            <a:ext cx="3108960" cy="77724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subject_metadata.csv</a:t>
            </a:r>
            <a:endParaRPr lang="en-US" sz="1150" dirty="0"/>
          </a:p>
        </p:txBody>
      </p:sp>
      <p:sp>
        <p:nvSpPr>
          <p:cNvPr id="11" name="Shape 9"/>
          <p:cNvSpPr/>
          <p:nvPr/>
        </p:nvSpPr>
        <p:spPr>
          <a:xfrm>
            <a:off x="8229600" y="1691640"/>
            <a:ext cx="3291840" cy="777240"/>
          </a:xfrm>
          <a:prstGeom prst="roundRect">
            <a:avLst>
              <a:gd name="adj" fmla="val 8235"/>
            </a:avLst>
          </a:prstGeom>
          <a:solidFill>
            <a:srgbClr val="E0F0E0"/>
          </a:solidFill>
          <a:ln w="19050">
            <a:solidFill>
              <a:srgbClr val="008300"/>
            </a:solidFill>
            <a:prstDash val="solid"/>
          </a:ln>
        </p:spPr>
      </p:sp>
      <p:sp>
        <p:nvSpPr>
          <p:cNvPr id="12" name="Text 10"/>
          <p:cNvSpPr/>
          <p:nvPr/>
        </p:nvSpPr>
        <p:spPr>
          <a:xfrm>
            <a:off x="8321040" y="1691640"/>
            <a:ext cx="3108960" cy="77724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student_metadata_task_1_2.csv</a:t>
            </a:r>
            <a:endParaRPr lang="en-US" sz="1150" dirty="0"/>
          </a:p>
        </p:txBody>
      </p:sp>
      <p:sp>
        <p:nvSpPr>
          <p:cNvPr id="13" name="Shape 11"/>
          <p:cNvSpPr/>
          <p:nvPr/>
        </p:nvSpPr>
        <p:spPr>
          <a:xfrm>
            <a:off x="8229600" y="5257800"/>
            <a:ext cx="3291840" cy="777240"/>
          </a:xfrm>
          <a:prstGeom prst="roundRect">
            <a:avLst>
              <a:gd name="adj" fmla="val 8235"/>
            </a:avLst>
          </a:prstGeom>
          <a:solidFill>
            <a:srgbClr val="E0F0E0"/>
          </a:solidFill>
          <a:ln w="19050">
            <a:solidFill>
              <a:srgbClr val="008300"/>
            </a:solidFill>
            <a:prstDash val="solid"/>
          </a:ln>
        </p:spPr>
      </p:sp>
      <p:sp>
        <p:nvSpPr>
          <p:cNvPr id="14" name="Text 12"/>
          <p:cNvSpPr/>
          <p:nvPr/>
        </p:nvSpPr>
        <p:spPr>
          <a:xfrm>
            <a:off x="8321040" y="5257800"/>
            <a:ext cx="3108960" cy="77724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answer_metadata_task_1_2.csv</a:t>
            </a:r>
            <a:endParaRPr lang="en-US" sz="1150" dirty="0"/>
          </a:p>
        </p:txBody>
      </p:sp>
      <p:sp>
        <p:nvSpPr>
          <p:cNvPr id="15" name="Shape 13"/>
          <p:cNvSpPr/>
          <p:nvPr/>
        </p:nvSpPr>
        <p:spPr>
          <a:xfrm flipH="1" flipV="1">
            <a:off x="3331513" y="2468880"/>
            <a:ext cx="1599020" cy="594360"/>
          </a:xfrm>
          <a:prstGeom prst="line">
            <a:avLst/>
          </a:prstGeom>
          <a:noFill/>
          <a:ln w="19050">
            <a:solidFill>
              <a:srgbClr val="008300"/>
            </a:solidFill>
            <a:prstDash val="solid"/>
            <a:headEnd type="none"/>
            <a:tailEnd type="triangle"/>
          </a:ln>
        </p:spPr>
      </p:sp>
      <p:sp>
        <p:nvSpPr>
          <p:cNvPr id="16" name="Shape 14"/>
          <p:cNvSpPr/>
          <p:nvPr/>
        </p:nvSpPr>
        <p:spPr>
          <a:xfrm>
            <a:off x="3445223" y="2619756"/>
            <a:ext cx="1371600" cy="292608"/>
          </a:xfrm>
          <a:prstGeom prst="roundRect">
            <a:avLst>
              <a:gd name="adj" fmla="val 15625"/>
            </a:avLst>
          </a:prstGeom>
          <a:solidFill>
            <a:srgbClr val="FFFFFF"/>
          </a:solidFill>
          <a:ln w="6350">
            <a:solidFill>
              <a:srgbClr val="E3E7F1"/>
            </a:solidFill>
            <a:prstDash val="solid"/>
          </a:ln>
        </p:spPr>
      </p:sp>
      <p:sp>
        <p:nvSpPr>
          <p:cNvPr id="17" name="Text 15"/>
          <p:cNvSpPr/>
          <p:nvPr/>
        </p:nvSpPr>
        <p:spPr>
          <a:xfrm>
            <a:off x="3445223" y="2619756"/>
            <a:ext cx="137160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QuestionId</a:t>
            </a:r>
            <a:endParaRPr lang="en-US" sz="1000" dirty="0"/>
          </a:p>
        </p:txBody>
      </p:sp>
      <p:sp>
        <p:nvSpPr>
          <p:cNvPr id="18" name="Shape 16"/>
          <p:cNvSpPr/>
          <p:nvPr/>
        </p:nvSpPr>
        <p:spPr>
          <a:xfrm flipV="1">
            <a:off x="7256354" y="2468880"/>
            <a:ext cx="1583682" cy="594360"/>
          </a:xfrm>
          <a:prstGeom prst="line">
            <a:avLst/>
          </a:prstGeom>
          <a:noFill/>
          <a:ln w="19050">
            <a:solidFill>
              <a:srgbClr val="008300"/>
            </a:solidFill>
            <a:prstDash val="solid"/>
            <a:headEnd type="none"/>
            <a:tailEnd type="triangle"/>
          </a:ln>
        </p:spPr>
      </p:sp>
      <p:sp>
        <p:nvSpPr>
          <p:cNvPr id="19" name="Shape 17"/>
          <p:cNvSpPr/>
          <p:nvPr/>
        </p:nvSpPr>
        <p:spPr>
          <a:xfrm>
            <a:off x="7453835" y="2619756"/>
            <a:ext cx="1188720" cy="292608"/>
          </a:xfrm>
          <a:prstGeom prst="roundRect">
            <a:avLst>
              <a:gd name="adj" fmla="val 15625"/>
            </a:avLst>
          </a:prstGeom>
          <a:solidFill>
            <a:srgbClr val="FFFFFF"/>
          </a:solidFill>
          <a:ln w="6350">
            <a:solidFill>
              <a:srgbClr val="E3E7F1"/>
            </a:solidFill>
            <a:prstDash val="solid"/>
          </a:ln>
        </p:spPr>
      </p:sp>
      <p:sp>
        <p:nvSpPr>
          <p:cNvPr id="20" name="Text 18"/>
          <p:cNvSpPr/>
          <p:nvPr/>
        </p:nvSpPr>
        <p:spPr>
          <a:xfrm>
            <a:off x="7453835" y="2619756"/>
            <a:ext cx="118872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UserId</a:t>
            </a:r>
            <a:endParaRPr lang="en-US" sz="1000" dirty="0"/>
          </a:p>
        </p:txBody>
      </p:sp>
      <p:sp>
        <p:nvSpPr>
          <p:cNvPr id="21" name="Shape 19"/>
          <p:cNvSpPr/>
          <p:nvPr/>
        </p:nvSpPr>
        <p:spPr>
          <a:xfrm>
            <a:off x="6862377" y="3931920"/>
            <a:ext cx="2330164" cy="1325880"/>
          </a:xfrm>
          <a:prstGeom prst="line">
            <a:avLst/>
          </a:prstGeom>
          <a:noFill/>
          <a:ln w="19050">
            <a:solidFill>
              <a:srgbClr val="008300"/>
            </a:solidFill>
            <a:prstDash val="solid"/>
            <a:headEnd type="none"/>
            <a:tailEnd type="triangle"/>
          </a:ln>
        </p:spPr>
      </p:sp>
      <p:sp>
        <p:nvSpPr>
          <p:cNvPr id="22" name="Shape 20"/>
          <p:cNvSpPr/>
          <p:nvPr/>
        </p:nvSpPr>
        <p:spPr>
          <a:xfrm>
            <a:off x="7433099" y="4448556"/>
            <a:ext cx="1188720" cy="292608"/>
          </a:xfrm>
          <a:prstGeom prst="roundRect">
            <a:avLst>
              <a:gd name="adj" fmla="val 15625"/>
            </a:avLst>
          </a:prstGeom>
          <a:solidFill>
            <a:srgbClr val="FFFFFF"/>
          </a:solidFill>
          <a:ln w="6350">
            <a:solidFill>
              <a:srgbClr val="E3E7F1"/>
            </a:solidFill>
            <a:prstDash val="solid"/>
          </a:ln>
        </p:spPr>
      </p:sp>
      <p:sp>
        <p:nvSpPr>
          <p:cNvPr id="23" name="Text 21"/>
          <p:cNvSpPr/>
          <p:nvPr/>
        </p:nvSpPr>
        <p:spPr>
          <a:xfrm>
            <a:off x="7433099" y="4448556"/>
            <a:ext cx="118872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AnswerId</a:t>
            </a:r>
            <a:endParaRPr lang="en-US" sz="1000" dirty="0"/>
          </a:p>
        </p:txBody>
      </p:sp>
      <p:sp>
        <p:nvSpPr>
          <p:cNvPr id="24" name="Shape 22"/>
          <p:cNvSpPr/>
          <p:nvPr/>
        </p:nvSpPr>
        <p:spPr>
          <a:xfrm>
            <a:off x="2286000" y="2468880"/>
            <a:ext cx="914" cy="2788920"/>
          </a:xfrm>
          <a:prstGeom prst="line">
            <a:avLst/>
          </a:prstGeom>
          <a:noFill/>
          <a:ln w="19050">
            <a:solidFill>
              <a:srgbClr val="9CA3AF"/>
            </a:solidFill>
            <a:prstDash val="dash"/>
            <a:headEnd type="none"/>
            <a:tailEnd type="triangle"/>
          </a:ln>
        </p:spPr>
      </p:sp>
      <p:sp>
        <p:nvSpPr>
          <p:cNvPr id="25" name="Shape 23"/>
          <p:cNvSpPr/>
          <p:nvPr/>
        </p:nvSpPr>
        <p:spPr>
          <a:xfrm>
            <a:off x="1234440" y="3717036"/>
            <a:ext cx="2103120" cy="292608"/>
          </a:xfrm>
          <a:prstGeom prst="roundRect">
            <a:avLst>
              <a:gd name="adj" fmla="val 15625"/>
            </a:avLst>
          </a:prstGeom>
          <a:solidFill>
            <a:srgbClr val="FFFFFF"/>
          </a:solidFill>
          <a:ln w="6350">
            <a:solidFill>
              <a:srgbClr val="E3E7F1"/>
            </a:solidFill>
            <a:prstDash val="solid"/>
          </a:ln>
        </p:spPr>
      </p:sp>
      <p:sp>
        <p:nvSpPr>
          <p:cNvPr id="26" name="Text 24"/>
          <p:cNvSpPr/>
          <p:nvPr/>
        </p:nvSpPr>
        <p:spPr>
          <a:xfrm>
            <a:off x="1234440" y="3717036"/>
            <a:ext cx="210312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SubjectId → ParentId</a:t>
            </a:r>
            <a:endParaRPr lang="en-US" sz="1000" dirty="0"/>
          </a:p>
        </p:txBody>
      </p:sp>
      <p:sp>
        <p:nvSpPr>
          <p:cNvPr id="27" name="Text 25"/>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sơ đồ liên kết file</a:t>
            </a:r>
            <a:endParaRPr lang="en-US" sz="1000" dirty="0"/>
          </a:p>
        </p:txBody>
      </p:sp>
      <p:sp>
        <p:nvSpPr>
          <p:cNvPr id="28" name="Text 26"/>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14984" cy="384048"/>
          </a:xfrm>
          <a:prstGeom prst="roundRect">
            <a:avLst>
              <a:gd name="adj" fmla="val 19048"/>
            </a:avLst>
          </a:prstGeom>
          <a:solidFill>
            <a:srgbClr val="008300"/>
          </a:solidFill>
          <a:ln/>
        </p:spPr>
      </p:sp>
      <p:sp>
        <p:nvSpPr>
          <p:cNvPr id="3" name="Text 1"/>
          <p:cNvSpPr/>
          <p:nvPr/>
        </p:nvSpPr>
        <p:spPr>
          <a:xfrm>
            <a:off x="548640" y="384048"/>
            <a:ext cx="10149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eedi</a:t>
            </a:r>
            <a:endParaRPr lang="en-US" sz="1300" dirty="0"/>
          </a:p>
        </p:txBody>
      </p:sp>
      <p:sp>
        <p:nvSpPr>
          <p:cNvPr id="4" name="Text 2"/>
          <p:cNvSpPr/>
          <p:nvPr/>
        </p:nvSpPr>
        <p:spPr>
          <a:xfrm>
            <a:off x="1792224" y="310896"/>
            <a:ext cx="552297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train_task_1_2.csv</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1/5 của Eedi NeurIPS 2020 · 6 cột · 430.0 MB · Nguồn: mục 3.1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352044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QuestionId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câu hỏi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16997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16531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15911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UserId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65967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62121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50013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AnswerId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lượt trả lời, dùng làm mốc thời gian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12453206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15686710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13598796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IsCorrect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1=trả lời đúng, 0=sai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CorrectAnswer</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AnswerValue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train_task_1_2.csv</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14984" cy="384048"/>
          </a:xfrm>
          <a:prstGeom prst="roundRect">
            <a:avLst>
              <a:gd name="adj" fmla="val 19048"/>
            </a:avLst>
          </a:prstGeom>
          <a:solidFill>
            <a:srgbClr val="008300"/>
          </a:solidFill>
          <a:ln/>
        </p:spPr>
      </p:sp>
      <p:sp>
        <p:nvSpPr>
          <p:cNvPr id="3" name="Text 1"/>
          <p:cNvSpPr/>
          <p:nvPr/>
        </p:nvSpPr>
        <p:spPr>
          <a:xfrm>
            <a:off x="548640" y="384048"/>
            <a:ext cx="10149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eedi</a:t>
            </a:r>
            <a:endParaRPr lang="en-US" sz="1300" dirty="0"/>
          </a:p>
        </p:txBody>
      </p:sp>
      <p:sp>
        <p:nvSpPr>
          <p:cNvPr id="4" name="Text 2"/>
          <p:cNvSpPr/>
          <p:nvPr/>
        </p:nvSpPr>
        <p:spPr>
          <a:xfrm>
            <a:off x="1792224" y="310896"/>
            <a:ext cx="552297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question_metadata_task_1_2.csv</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2/5 của Eedi NeurIPS 2020 · 2 cột · 0.7 MB · Nguồn: mục 3.1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150876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QuestionId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câu hỏi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13090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1855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10423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SubjectId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môn học/kỹ năng (KC), có thể nhiều</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 32, 71, 77, 141, 185, 186, 214]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 71, 75, 86, 178]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 32, 38, 239]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question_metadata_task_1_2.csv</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14984" cy="384048"/>
          </a:xfrm>
          <a:prstGeom prst="roundRect">
            <a:avLst>
              <a:gd name="adj" fmla="val 19048"/>
            </a:avLst>
          </a:prstGeom>
          <a:solidFill>
            <a:srgbClr val="008300"/>
          </a:solidFill>
          <a:ln/>
        </p:spPr>
      </p:sp>
      <p:sp>
        <p:nvSpPr>
          <p:cNvPr id="3" name="Text 1"/>
          <p:cNvSpPr/>
          <p:nvPr/>
        </p:nvSpPr>
        <p:spPr>
          <a:xfrm>
            <a:off x="548640" y="384048"/>
            <a:ext cx="10149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eedi</a:t>
            </a:r>
            <a:endParaRPr lang="en-US" sz="1300" dirty="0"/>
          </a:p>
        </p:txBody>
      </p:sp>
      <p:sp>
        <p:nvSpPr>
          <p:cNvPr id="4" name="Text 2"/>
          <p:cNvSpPr/>
          <p:nvPr/>
        </p:nvSpPr>
        <p:spPr>
          <a:xfrm>
            <a:off x="1792224" y="310896"/>
            <a:ext cx="552297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subject_metadata.csv</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3/5 của Eedi NeurIPS 2020 · 4 cột · 0.0 MB · Nguồn: mục 3.1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251460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SubjectId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môn học/kỹ năng (KC), có thể nhiều</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môn học/kỹ năng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Maths</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Number</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BIDMAS</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ParentId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môn học cha (cây phân cấp)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NULL</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144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Knowledge Graph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subject_metadata.csv</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14984" cy="384048"/>
          </a:xfrm>
          <a:prstGeom prst="roundRect">
            <a:avLst>
              <a:gd name="adj" fmla="val 19048"/>
            </a:avLst>
          </a:prstGeom>
          <a:solidFill>
            <a:srgbClr val="008300"/>
          </a:solidFill>
          <a:ln/>
        </p:spPr>
      </p:sp>
      <p:sp>
        <p:nvSpPr>
          <p:cNvPr id="3" name="Text 1"/>
          <p:cNvSpPr/>
          <p:nvPr/>
        </p:nvSpPr>
        <p:spPr>
          <a:xfrm>
            <a:off x="548640" y="384048"/>
            <a:ext cx="10149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eedi</a:t>
            </a:r>
            <a:endParaRPr lang="en-US" sz="1300" dirty="0"/>
          </a:p>
        </p:txBody>
      </p:sp>
      <p:sp>
        <p:nvSpPr>
          <p:cNvPr id="4" name="Text 2"/>
          <p:cNvSpPr/>
          <p:nvPr/>
        </p:nvSpPr>
        <p:spPr>
          <a:xfrm>
            <a:off x="1792224" y="310896"/>
            <a:ext cx="552297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student_metadata_task_1_2.csv</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4/5 của Eedi NeurIPS 2020 · 4 cột · 3.3 MB · Nguồn: mục 3.1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sp>
        <p:nvSpPr>
          <p:cNvPr id="12" name="Shape 10"/>
          <p:cNvSpPr/>
          <p:nvPr/>
        </p:nvSpPr>
        <p:spPr>
          <a:xfrm>
            <a:off x="548640" y="1133856"/>
            <a:ext cx="11091672" cy="365760"/>
          </a:xfrm>
          <a:prstGeom prst="roundRect">
            <a:avLst>
              <a:gd name="adj" fmla="val 10000"/>
            </a:avLst>
          </a:prstGeom>
          <a:solidFill>
            <a:srgbClr val="EEF0F7"/>
          </a:solidFill>
          <a:ln w="9525">
            <a:solidFill>
              <a:srgbClr val="E3E7F1"/>
            </a:solidFill>
            <a:prstDash val="solid"/>
          </a:ln>
        </p:spPr>
      </p:sp>
      <p:sp>
        <p:nvSpPr>
          <p:cNvPr id="13" name="Text 11"/>
          <p:cNvSpPr/>
          <p:nvPr/>
        </p:nvSpPr>
        <p:spPr>
          <a:xfrm>
            <a:off x="685800" y="1133856"/>
            <a:ext cx="10881360"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File này không cung cấp tín hiệu cần cho kiến trúc DPA-KT hiện tại (short_paper_final.pdf, Mục IV) - có thể là hướng mở rộng (đặc trưng nhân khẩu học) cho nghiên cứu sau này.</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91672" cy="251460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UserId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58022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104674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32020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Gender</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giới tính (0=chưa rõ,1=nữ,2=nam)</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DateOfBirth</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ngày sinh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2006-08-01 00:00:00.000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2008-11-01 00:00:00.000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PremiumPupil</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học sinh có được trợ cấp bữa ăn hay không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15" name="Text 12"/>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student_metadata_task_1_2.csv</a:t>
            </a:r>
            <a:endParaRPr lang="en-US" sz="1000" dirty="0"/>
          </a:p>
        </p:txBody>
      </p:sp>
      <p:sp>
        <p:nvSpPr>
          <p:cNvPr id="16" name="Text 13"/>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14984" cy="384048"/>
          </a:xfrm>
          <a:prstGeom prst="roundRect">
            <a:avLst>
              <a:gd name="adj" fmla="val 19048"/>
            </a:avLst>
          </a:prstGeom>
          <a:solidFill>
            <a:srgbClr val="008300"/>
          </a:solidFill>
          <a:ln/>
        </p:spPr>
      </p:sp>
      <p:sp>
        <p:nvSpPr>
          <p:cNvPr id="3" name="Text 1"/>
          <p:cNvSpPr/>
          <p:nvPr/>
        </p:nvSpPr>
        <p:spPr>
          <a:xfrm>
            <a:off x="548640" y="384048"/>
            <a:ext cx="10149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eedi</a:t>
            </a:r>
            <a:endParaRPr lang="en-US" sz="1300" dirty="0"/>
          </a:p>
        </p:txBody>
      </p:sp>
      <p:sp>
        <p:nvSpPr>
          <p:cNvPr id="4" name="Text 2"/>
          <p:cNvSpPr/>
          <p:nvPr/>
        </p:nvSpPr>
        <p:spPr>
          <a:xfrm>
            <a:off x="1792224" y="310896"/>
            <a:ext cx="552297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answer_metadata_task_1_2.csv</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5/5 của Eedi NeurIPS 2020 · 6 cột · 1019.4 MB · Nguồn: mục 3.1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352044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AnswerId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lượt trả lời, dùng làm mốc thời gian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4060128.0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4300489.0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4873647.0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DateAnswered</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Response-time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2019-05-13 17:49:00.000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2019-12-16 13:44:00.000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2019-06-02 16:18:00.000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Evidence bổ sung (ECD)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75.0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GroupId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nhóm/lớp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3586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11745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11686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QuizId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kiểm tra</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7269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8400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14739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SchemeOfWorkId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chương trình giảng dạy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8418.0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8376.0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28237.0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answer_metadata_task_1_2.csv</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14984" cy="384048"/>
          </a:xfrm>
          <a:prstGeom prst="roundRect">
            <a:avLst>
              <a:gd name="adj" fmla="val 19048"/>
            </a:avLst>
          </a:prstGeom>
          <a:solidFill>
            <a:srgbClr val="008300"/>
          </a:solidFill>
          <a:ln/>
        </p:spPr>
      </p:sp>
      <p:sp>
        <p:nvSpPr>
          <p:cNvPr id="3" name="Text 1"/>
          <p:cNvSpPr/>
          <p:nvPr/>
        </p:nvSpPr>
        <p:spPr>
          <a:xfrm>
            <a:off x="548640" y="384048"/>
            <a:ext cx="1014984"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eedi</a:t>
            </a:r>
            <a:endParaRPr lang="en-US" sz="1300" dirty="0"/>
          </a:p>
        </p:txBody>
      </p:sp>
      <p:sp>
        <p:nvSpPr>
          <p:cNvPr id="4" name="Text 2"/>
          <p:cNvSpPr/>
          <p:nvPr/>
        </p:nvSpPr>
        <p:spPr>
          <a:xfrm>
            <a:off x="1792224" y="310896"/>
            <a:ext cx="868680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Vì sao các cột này được chọn cho DPA-KT</a:t>
            </a:r>
            <a:endParaRPr lang="en-US" sz="1900" dirty="0"/>
          </a:p>
        </p:txBody>
      </p:sp>
      <p:sp>
        <p:nvSpPr>
          <p:cNvPr id="5" name="Text 3"/>
          <p:cNvSpPr/>
          <p:nvPr/>
        </p:nvSpPr>
        <p:spPr>
          <a:xfrm>
            <a:off x="548640" y="859536"/>
            <a:ext cx="108813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Eedi NeurIPS 2020  ·  Dựa trên kiến trúc short_paper_final.pdf, Mục IV</a:t>
            </a:r>
            <a:endParaRPr lang="en-US" sz="1050" dirty="0"/>
          </a:p>
        </p:txBody>
      </p:sp>
      <p:sp>
        <p:nvSpPr>
          <p:cNvPr id="6" name="Text 4"/>
          <p:cNvSpPr/>
          <p:nvPr/>
        </p:nvSpPr>
        <p:spPr>
          <a:xfrm>
            <a:off x="548640" y="1298448"/>
            <a:ext cx="4206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5 TRƯỜNG LÕI  ·  Module 1 + định nghĩa bài toán</a:t>
            </a:r>
            <a:endParaRPr lang="en-US" sz="1100" dirty="0"/>
          </a:p>
        </p:txBody>
      </p:sp>
      <p:sp>
        <p:nvSpPr>
          <p:cNvPr id="7" name="Text 5"/>
          <p:cNvSpPr/>
          <p:nvPr/>
        </p:nvSpPr>
        <p:spPr>
          <a:xfrm>
            <a:off x="548640" y="1609344"/>
            <a:ext cx="4206240" cy="10515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Mọi kiến trúc KT (kể cả DPA-KT) cần tối thiểu chuỗi tương tác S_T = {(q_t, r_t)} và tập KC C: input bắt buộc cho "interaction context" ở Module 1, và để đọc/ghi đúng KC trong mastery memory M ở Module 1 &amp; 3.</a:t>
            </a:r>
            <a:endParaRPr lang="en-US" sz="10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4206240" cy="2743200"/>
        </p:xfrm>
        <a:graphic>
          <a:graphicData uri="http://schemas.openxmlformats.org/drawingml/2006/table">
            <a:tbl>
              <a:tblPr/>
              <a:tblGrid>
                <a:gridCol w="1682496"/>
                <a:gridCol w="2523744"/>
              </a:tblGrid>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Học sinh (student)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UserId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Câu hỏi (q_t)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QuestionId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Khái niệm (KC, tập 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SubjectId (qua question_metadata; phân cấp qua subject_metadata.ParentId)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Đúng/sai (r_t)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IsCorrect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Thời gian / thứ tự</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AnswerId (mốc thứ tự lượt trả lời)</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9" name="Text 6"/>
          <p:cNvSpPr/>
          <p:nvPr/>
        </p:nvSpPr>
        <p:spPr>
          <a:xfrm>
            <a:off x="548640" y="5586984"/>
            <a:ext cx="4206240" cy="365760"/>
          </a:xfrm>
          <a:prstGeom prst="rect">
            <a:avLst/>
          </a:prstGeom>
          <a:noFill/>
          <a:ln/>
        </p:spPr>
        <p:txBody>
          <a:bodyPr wrap="square" lIns="0" tIns="0" rIns="0" bIns="0" rtlCol="0" anchor="ctr"/>
          <a:lstStyle/>
          <a:p>
            <a:pPr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mục 3.1 &amp; 3.2 notebook (đúng các cột dùng để tính thống kê/vẽ biểu đồ).</a:t>
            </a:r>
            <a:endParaRPr lang="en-US" sz="1000" dirty="0"/>
          </a:p>
        </p:txBody>
      </p:sp>
      <p:sp>
        <p:nvSpPr>
          <p:cNvPr id="10" name="Text 7"/>
          <p:cNvSpPr/>
          <p:nvPr/>
        </p:nvSpPr>
        <p:spPr>
          <a:xfrm>
            <a:off x="5029200" y="1298448"/>
            <a:ext cx="6611112"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CỘT KHUYẾN NGHỊ THÊM  ·  nguyên lý/module tương ứng trong DPA-KT</a:t>
            </a:r>
            <a:endParaRPr lang="en-US" sz="1100" dirty="0"/>
          </a:p>
        </p:txBody>
      </p:sp>
      <p:sp>
        <p:nvSpPr>
          <p:cNvPr id="11" name="Shape 8"/>
          <p:cNvSpPr/>
          <p:nvPr/>
        </p:nvSpPr>
        <p:spPr>
          <a:xfrm>
            <a:off x="5029200" y="1627632"/>
            <a:ext cx="3232404" cy="1664208"/>
          </a:xfrm>
          <a:prstGeom prst="roundRect">
            <a:avLst>
              <a:gd name="adj" fmla="val 2747"/>
            </a:avLst>
          </a:prstGeom>
          <a:solidFill>
            <a:srgbClr val="FBE8B8"/>
          </a:solidFill>
          <a:ln w="9525">
            <a:solidFill>
              <a:srgbClr val="C9891A"/>
            </a:solidFill>
            <a:prstDash val="solid"/>
          </a:ln>
        </p:spPr>
      </p:sp>
      <p:sp>
        <p:nvSpPr>
          <p:cNvPr id="12" name="Text 9"/>
          <p:cNvSpPr/>
          <p:nvPr/>
        </p:nvSpPr>
        <p:spPr>
          <a:xfrm>
            <a:off x="5175504" y="1719072"/>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Guess/Slip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cho nguyên lý guessing and slipping ở Module 2: khi 1 pattern cùng KC/độ khó có phản hồi bất thường (đúng giữa chuỗi sai, hoặc ngược lại), pattern được điều chỉnh để hấp thụ khả năng đoán mò/lỡ tay.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CorrectAnswer, AnswerValue</a:t>
            </a:r>
            <a:endParaRPr lang="en-US" sz="1200" dirty="0"/>
          </a:p>
        </p:txBody>
      </p:sp>
      <p:sp>
        <p:nvSpPr>
          <p:cNvPr id="13" name="Shape 10"/>
          <p:cNvSpPr/>
          <p:nvPr/>
        </p:nvSpPr>
        <p:spPr>
          <a:xfrm>
            <a:off x="8407908" y="1627632"/>
            <a:ext cx="3232404" cy="1664208"/>
          </a:xfrm>
          <a:prstGeom prst="roundRect">
            <a:avLst>
              <a:gd name="adj" fmla="val 2747"/>
            </a:avLst>
          </a:prstGeom>
          <a:solidFill>
            <a:srgbClr val="FBE8B8"/>
          </a:solidFill>
          <a:ln w="9525">
            <a:solidFill>
              <a:srgbClr val="C9891A"/>
            </a:solidFill>
            <a:prstDash val="solid"/>
          </a:ln>
        </p:spPr>
      </p:sp>
      <p:sp>
        <p:nvSpPr>
          <p:cNvPr id="14" name="Text 11"/>
          <p:cNvSpPr/>
          <p:nvPr/>
        </p:nvSpPr>
        <p:spPr>
          <a:xfrm>
            <a:off x="8554212" y="1719072"/>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Knowledge Graph (KC)</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Input cho đồ thị tri thức G: Module 1 dùng G đọc mastery memory theo đúng cấu trúc KC; Module 2 dùng G cho nguyên lý KC-relation consistency - điều chỉnh pattern theo quan hệ giữa các KC (VD prerequisite).</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Level</a:t>
            </a:r>
            <a:endParaRPr lang="en-US" sz="1200" dirty="0"/>
          </a:p>
        </p:txBody>
      </p:sp>
      <p:sp>
        <p:nvSpPr>
          <p:cNvPr id="15" name="Shape 12"/>
          <p:cNvSpPr/>
          <p:nvPr/>
        </p:nvSpPr>
        <p:spPr>
          <a:xfrm>
            <a:off x="5029200" y="3438144"/>
            <a:ext cx="3232404" cy="1495044"/>
          </a:xfrm>
          <a:prstGeom prst="roundRect">
            <a:avLst>
              <a:gd name="adj" fmla="val 3058"/>
            </a:avLst>
          </a:prstGeom>
          <a:solidFill>
            <a:srgbClr val="FBE8B8"/>
          </a:solidFill>
          <a:ln w="9525">
            <a:solidFill>
              <a:srgbClr val="C9891A"/>
            </a:solidFill>
            <a:prstDash val="solid"/>
          </a:ln>
        </p:spPr>
      </p:sp>
      <p:sp>
        <p:nvSpPr>
          <p:cNvPr id="16" name="Text 13"/>
          <p:cNvSpPr/>
          <p:nvPr/>
        </p:nvSpPr>
        <p:spPr>
          <a:xfrm>
            <a:off x="5175504" y="3529584"/>
            <a:ext cx="2939796" cy="1312164"/>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Evidence bổ sung (ECD)</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bối cảnh (cảm xúc, độ tự tin) đúng tinh thần evidence-centered của framework, nhưng chưa map vào module cụ thể - hướng mở rộng cho nghiên cứu tiếp theo.</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Confidence</a:t>
            </a:r>
            <a:endParaRPr lang="en-US" sz="1200" dirty="0"/>
          </a:p>
        </p:txBody>
      </p:sp>
      <p:sp>
        <p:nvSpPr>
          <p:cNvPr id="17" name="Shape 14"/>
          <p:cNvSpPr/>
          <p:nvPr/>
        </p:nvSpPr>
        <p:spPr>
          <a:xfrm>
            <a:off x="8407908" y="3438144"/>
            <a:ext cx="3232404" cy="1495044"/>
          </a:xfrm>
          <a:prstGeom prst="roundRect">
            <a:avLst>
              <a:gd name="adj" fmla="val 3058"/>
            </a:avLst>
          </a:prstGeom>
          <a:solidFill>
            <a:srgbClr val="FBE8B8"/>
          </a:solidFill>
          <a:ln w="9525">
            <a:solidFill>
              <a:srgbClr val="C9891A"/>
            </a:solidFill>
            <a:prstDash val="solid"/>
          </a:ln>
        </p:spPr>
      </p:sp>
      <p:sp>
        <p:nvSpPr>
          <p:cNvPr id="18" name="Text 15"/>
          <p:cNvSpPr/>
          <p:nvPr/>
        </p:nvSpPr>
        <p:spPr>
          <a:xfrm>
            <a:off x="8554212" y="3529584"/>
            <a:ext cx="2939796" cy="1312164"/>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Response-time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Cơ sở cho operator temporal pooling ở Module 2 - pool đúng các tương tác GẦN NHẤT theo thời gian khi xây dựng pattern; cũng là tín hiệu bổ sung cho Module 1.</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DateAnswered</a:t>
            </a:r>
            <a:endParaRPr lang="en-US" sz="1200" dirty="0"/>
          </a:p>
        </p:txBody>
      </p:sp>
      <p:sp>
        <p:nvSpPr>
          <p:cNvPr id="19" name="Text 1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vì sao chọn cột này</a:t>
            </a:r>
            <a:endParaRPr lang="en-US" sz="1000" dirty="0"/>
          </a:p>
        </p:txBody>
      </p:sp>
      <p:sp>
        <p:nvSpPr>
          <p:cNvPr id="20" name="Text 1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KC · eedi  ·  Nguồn: mục 3.1 notebook</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Cây khái niệm (KC) có sẵn trong dữ liệu thô</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Cây phân cấp khái niệm (KC) này CÓ SẴN trong metadata thô, không suy ra từ thống kê. Ở mỗi cấp, ngoài khái niệm đang đi theo (viền đậm) còn hiển thị các khái niệm "anh em" thật cùng cấp, rồi tới câu hỏi/bài tập thật gắn với khái niệm cuối cùng.</a:t>
            </a:r>
            <a:endParaRPr lang="en-US" sz="1150" dirty="0"/>
          </a:p>
        </p:txBody>
      </p:sp>
      <p:sp>
        <p:nvSpPr>
          <p:cNvPr id="5" name="Shape 3"/>
          <p:cNvSpPr/>
          <p:nvPr/>
        </p:nvSpPr>
        <p:spPr>
          <a:xfrm flipV="1">
            <a:off x="1956982" y="2450436"/>
            <a:ext cx="1709737" cy="1202489"/>
          </a:xfrm>
          <a:prstGeom prst="line">
            <a:avLst/>
          </a:prstGeom>
          <a:noFill/>
          <a:ln w="15875">
            <a:solidFill>
              <a:srgbClr val="008300"/>
            </a:solidFill>
            <a:prstDash val="solid"/>
            <a:headEnd type="none"/>
            <a:tailEnd type="triangle"/>
          </a:ln>
        </p:spPr>
      </p:sp>
      <p:sp>
        <p:nvSpPr>
          <p:cNvPr id="6" name="Shape 4"/>
          <p:cNvSpPr/>
          <p:nvPr/>
        </p:nvSpPr>
        <p:spPr>
          <a:xfrm flipV="1">
            <a:off x="2013912" y="3401714"/>
            <a:ext cx="1612956" cy="378141"/>
          </a:xfrm>
          <a:prstGeom prst="line">
            <a:avLst/>
          </a:prstGeom>
          <a:noFill/>
          <a:ln w="15875">
            <a:solidFill>
              <a:srgbClr val="008300"/>
            </a:solidFill>
            <a:prstDash val="solid"/>
            <a:headEnd type="none"/>
            <a:tailEnd type="triangle"/>
          </a:ln>
        </p:spPr>
      </p:sp>
      <p:sp>
        <p:nvSpPr>
          <p:cNvPr id="7" name="Shape 5"/>
          <p:cNvSpPr/>
          <p:nvPr/>
        </p:nvSpPr>
        <p:spPr>
          <a:xfrm>
            <a:off x="2013912" y="3946825"/>
            <a:ext cx="1612956" cy="378141"/>
          </a:xfrm>
          <a:prstGeom prst="line">
            <a:avLst/>
          </a:prstGeom>
          <a:noFill/>
          <a:ln w="15875">
            <a:solidFill>
              <a:srgbClr val="008300"/>
            </a:solidFill>
            <a:prstDash val="solid"/>
            <a:headEnd type="none"/>
            <a:tailEnd type="triangle"/>
          </a:ln>
        </p:spPr>
      </p:sp>
      <p:sp>
        <p:nvSpPr>
          <p:cNvPr id="8" name="Shape 6"/>
          <p:cNvSpPr/>
          <p:nvPr/>
        </p:nvSpPr>
        <p:spPr>
          <a:xfrm>
            <a:off x="1956982" y="4073755"/>
            <a:ext cx="1709737" cy="1202489"/>
          </a:xfrm>
          <a:prstGeom prst="line">
            <a:avLst/>
          </a:prstGeom>
          <a:noFill/>
          <a:ln w="15875">
            <a:solidFill>
              <a:srgbClr val="008300"/>
            </a:solidFill>
            <a:prstDash val="solid"/>
            <a:headEnd type="none"/>
            <a:tailEnd type="triangle"/>
          </a:ln>
        </p:spPr>
      </p:sp>
      <p:sp>
        <p:nvSpPr>
          <p:cNvPr id="9" name="Shape 7"/>
          <p:cNvSpPr/>
          <p:nvPr/>
        </p:nvSpPr>
        <p:spPr>
          <a:xfrm>
            <a:off x="4132174" y="2303145"/>
            <a:ext cx="1706270" cy="914"/>
          </a:xfrm>
          <a:prstGeom prst="line">
            <a:avLst/>
          </a:prstGeom>
          <a:noFill/>
          <a:ln w="15875">
            <a:solidFill>
              <a:srgbClr val="008300"/>
            </a:solidFill>
            <a:prstDash val="solid"/>
            <a:headEnd type="none"/>
            <a:tailEnd type="triangle"/>
          </a:ln>
        </p:spPr>
      </p:sp>
      <p:sp>
        <p:nvSpPr>
          <p:cNvPr id="10" name="Shape 8"/>
          <p:cNvSpPr/>
          <p:nvPr/>
        </p:nvSpPr>
        <p:spPr>
          <a:xfrm>
            <a:off x="4107957" y="2411838"/>
            <a:ext cx="1754704" cy="822744"/>
          </a:xfrm>
          <a:prstGeom prst="line">
            <a:avLst/>
          </a:prstGeom>
          <a:noFill/>
          <a:ln w="15875">
            <a:solidFill>
              <a:srgbClr val="008300"/>
            </a:solidFill>
            <a:prstDash val="solid"/>
            <a:headEnd type="none"/>
            <a:tailEnd type="triangle"/>
          </a:ln>
        </p:spPr>
      </p:sp>
      <p:sp>
        <p:nvSpPr>
          <p:cNvPr id="11" name="Shape 9"/>
          <p:cNvSpPr/>
          <p:nvPr/>
        </p:nvSpPr>
        <p:spPr>
          <a:xfrm>
            <a:off x="4062902" y="2478281"/>
            <a:ext cx="1844813" cy="1729987"/>
          </a:xfrm>
          <a:prstGeom prst="line">
            <a:avLst/>
          </a:prstGeom>
          <a:noFill/>
          <a:ln w="15875">
            <a:solidFill>
              <a:srgbClr val="008300"/>
            </a:solidFill>
            <a:prstDash val="solid"/>
            <a:headEnd type="none"/>
            <a:tailEnd type="triangle"/>
          </a:ln>
        </p:spPr>
      </p:sp>
      <p:sp>
        <p:nvSpPr>
          <p:cNvPr id="12" name="Shape 10"/>
          <p:cNvSpPr/>
          <p:nvPr/>
        </p:nvSpPr>
        <p:spPr>
          <a:xfrm>
            <a:off x="4024491" y="2511819"/>
            <a:ext cx="1921635" cy="2703042"/>
          </a:xfrm>
          <a:prstGeom prst="line">
            <a:avLst/>
          </a:prstGeom>
          <a:noFill/>
          <a:ln w="15875">
            <a:solidFill>
              <a:srgbClr val="008300"/>
            </a:solidFill>
            <a:prstDash val="solid"/>
            <a:headEnd type="none"/>
            <a:tailEnd type="triangle"/>
          </a:ln>
        </p:spPr>
      </p:sp>
      <p:sp>
        <p:nvSpPr>
          <p:cNvPr id="13" name="Shape 11"/>
          <p:cNvSpPr/>
          <p:nvPr/>
        </p:nvSpPr>
        <p:spPr>
          <a:xfrm>
            <a:off x="6350508" y="2303145"/>
            <a:ext cx="1706270" cy="914"/>
          </a:xfrm>
          <a:prstGeom prst="line">
            <a:avLst/>
          </a:prstGeom>
          <a:noFill/>
          <a:ln w="15875">
            <a:solidFill>
              <a:srgbClr val="008300"/>
            </a:solidFill>
            <a:prstDash val="solid"/>
            <a:headEnd type="none"/>
            <a:tailEnd type="triangle"/>
          </a:ln>
        </p:spPr>
      </p:sp>
      <p:sp>
        <p:nvSpPr>
          <p:cNvPr id="14" name="Shape 12"/>
          <p:cNvSpPr/>
          <p:nvPr/>
        </p:nvSpPr>
        <p:spPr>
          <a:xfrm>
            <a:off x="6326291" y="2411838"/>
            <a:ext cx="1754704" cy="822744"/>
          </a:xfrm>
          <a:prstGeom prst="line">
            <a:avLst/>
          </a:prstGeom>
          <a:noFill/>
          <a:ln w="15875">
            <a:solidFill>
              <a:srgbClr val="008300"/>
            </a:solidFill>
            <a:prstDash val="solid"/>
            <a:headEnd type="none"/>
            <a:tailEnd type="triangle"/>
          </a:ln>
        </p:spPr>
      </p:sp>
      <p:sp>
        <p:nvSpPr>
          <p:cNvPr id="15" name="Shape 13"/>
          <p:cNvSpPr/>
          <p:nvPr/>
        </p:nvSpPr>
        <p:spPr>
          <a:xfrm>
            <a:off x="6281237" y="2478281"/>
            <a:ext cx="1844813" cy="1729987"/>
          </a:xfrm>
          <a:prstGeom prst="line">
            <a:avLst/>
          </a:prstGeom>
          <a:noFill/>
          <a:ln w="15875">
            <a:solidFill>
              <a:srgbClr val="008300"/>
            </a:solidFill>
            <a:prstDash val="solid"/>
            <a:headEnd type="none"/>
            <a:tailEnd type="triangle"/>
          </a:ln>
        </p:spPr>
      </p:sp>
      <p:sp>
        <p:nvSpPr>
          <p:cNvPr id="16" name="Shape 14"/>
          <p:cNvSpPr/>
          <p:nvPr/>
        </p:nvSpPr>
        <p:spPr>
          <a:xfrm>
            <a:off x="6242826" y="2511819"/>
            <a:ext cx="1921635" cy="2703042"/>
          </a:xfrm>
          <a:prstGeom prst="line">
            <a:avLst/>
          </a:prstGeom>
          <a:noFill/>
          <a:ln w="15875">
            <a:solidFill>
              <a:srgbClr val="008300"/>
            </a:solidFill>
            <a:prstDash val="solid"/>
            <a:headEnd type="none"/>
            <a:tailEnd type="triangle"/>
          </a:ln>
        </p:spPr>
      </p:sp>
      <p:sp>
        <p:nvSpPr>
          <p:cNvPr id="17" name="Shape 15"/>
          <p:cNvSpPr/>
          <p:nvPr/>
        </p:nvSpPr>
        <p:spPr>
          <a:xfrm flipV="1">
            <a:off x="8568064" y="2146175"/>
            <a:ext cx="1753408" cy="137023"/>
          </a:xfrm>
          <a:prstGeom prst="line">
            <a:avLst/>
          </a:prstGeom>
          <a:noFill/>
          <a:ln w="12700">
            <a:solidFill>
              <a:srgbClr val="9CA3AF"/>
            </a:solidFill>
            <a:prstDash val="dash"/>
            <a:headEnd type="none"/>
            <a:tailEnd type="triangle"/>
          </a:ln>
        </p:spPr>
      </p:sp>
      <p:sp>
        <p:nvSpPr>
          <p:cNvPr id="18" name="Shape 16"/>
          <p:cNvSpPr/>
          <p:nvPr/>
        </p:nvSpPr>
        <p:spPr>
          <a:xfrm>
            <a:off x="8562084" y="2361584"/>
            <a:ext cx="1764301" cy="413622"/>
          </a:xfrm>
          <a:prstGeom prst="line">
            <a:avLst/>
          </a:prstGeom>
          <a:noFill/>
          <a:ln w="12700">
            <a:solidFill>
              <a:srgbClr val="9CA3AF"/>
            </a:solidFill>
            <a:prstDash val="dash"/>
            <a:headEnd type="none"/>
            <a:tailEnd type="triangle"/>
          </a:ln>
        </p:spPr>
      </p:sp>
      <p:sp>
        <p:nvSpPr>
          <p:cNvPr id="19" name="Shape 17"/>
          <p:cNvSpPr/>
          <p:nvPr/>
        </p:nvSpPr>
        <p:spPr>
          <a:xfrm>
            <a:off x="8537431" y="2426018"/>
            <a:ext cx="1809204" cy="989680"/>
          </a:xfrm>
          <a:prstGeom prst="line">
            <a:avLst/>
          </a:prstGeom>
          <a:noFill/>
          <a:ln w="12700">
            <a:solidFill>
              <a:srgbClr val="9CA3AF"/>
            </a:solidFill>
            <a:prstDash val="dash"/>
            <a:headEnd type="none"/>
            <a:tailEnd type="triangle"/>
          </a:ln>
        </p:spPr>
      </p:sp>
      <p:sp>
        <p:nvSpPr>
          <p:cNvPr id="20" name="Shape 18"/>
          <p:cNvSpPr/>
          <p:nvPr/>
        </p:nvSpPr>
        <p:spPr>
          <a:xfrm>
            <a:off x="8506967" y="2470045"/>
            <a:ext cx="1864691" cy="1602909"/>
          </a:xfrm>
          <a:prstGeom prst="line">
            <a:avLst/>
          </a:prstGeom>
          <a:noFill/>
          <a:ln w="12700">
            <a:solidFill>
              <a:srgbClr val="9CA3AF"/>
            </a:solidFill>
            <a:prstDash val="dash"/>
            <a:headEnd type="none"/>
            <a:tailEnd type="triangle"/>
          </a:ln>
        </p:spPr>
      </p:sp>
      <p:sp>
        <p:nvSpPr>
          <p:cNvPr id="21" name="Shape 19"/>
          <p:cNvSpPr/>
          <p:nvPr/>
        </p:nvSpPr>
        <p:spPr>
          <a:xfrm>
            <a:off x="8478979" y="2497928"/>
            <a:ext cx="1915670" cy="2245542"/>
          </a:xfrm>
          <a:prstGeom prst="line">
            <a:avLst/>
          </a:prstGeom>
          <a:noFill/>
          <a:ln w="12700">
            <a:solidFill>
              <a:srgbClr val="9CA3AF"/>
            </a:solidFill>
            <a:prstDash val="dash"/>
            <a:headEnd type="none"/>
            <a:tailEnd type="triangle"/>
          </a:ln>
        </p:spPr>
      </p:sp>
      <p:sp>
        <p:nvSpPr>
          <p:cNvPr id="22" name="Shape 20"/>
          <p:cNvSpPr/>
          <p:nvPr/>
        </p:nvSpPr>
        <p:spPr>
          <a:xfrm>
            <a:off x="8455834" y="2515504"/>
            <a:ext cx="1957827" cy="2906947"/>
          </a:xfrm>
          <a:prstGeom prst="line">
            <a:avLst/>
          </a:prstGeom>
          <a:noFill/>
          <a:ln w="12700">
            <a:solidFill>
              <a:srgbClr val="9CA3AF"/>
            </a:solidFill>
            <a:prstDash val="dash"/>
            <a:headEnd type="none"/>
            <a:tailEnd type="triangle"/>
          </a:ln>
        </p:spPr>
      </p:sp>
      <p:sp>
        <p:nvSpPr>
          <p:cNvPr id="23" name="Shape 21"/>
          <p:cNvSpPr/>
          <p:nvPr/>
        </p:nvSpPr>
        <p:spPr>
          <a:xfrm>
            <a:off x="1292047" y="3497580"/>
            <a:ext cx="731520" cy="731520"/>
          </a:xfrm>
          <a:prstGeom prst="ellipse">
            <a:avLst/>
          </a:prstGeom>
          <a:solidFill>
            <a:srgbClr val="CCE6CC"/>
          </a:solidFill>
          <a:ln w="31750">
            <a:solidFill>
              <a:srgbClr val="008300"/>
            </a:solidFill>
            <a:prstDash val="solid"/>
          </a:ln>
        </p:spPr>
      </p:sp>
      <p:sp>
        <p:nvSpPr>
          <p:cNvPr id="24" name="Shape 22"/>
          <p:cNvSpPr/>
          <p:nvPr/>
        </p:nvSpPr>
        <p:spPr>
          <a:xfrm>
            <a:off x="617220" y="4274820"/>
            <a:ext cx="2081174" cy="384048"/>
          </a:xfrm>
          <a:prstGeom prst="rect">
            <a:avLst/>
          </a:prstGeom>
          <a:solidFill>
            <a:srgbClr val="FFFFFF"/>
          </a:solidFill>
          <a:ln/>
        </p:spPr>
      </p:sp>
      <p:sp>
        <p:nvSpPr>
          <p:cNvPr id="25" name="Text 23"/>
          <p:cNvSpPr/>
          <p:nvPr/>
        </p:nvSpPr>
        <p:spPr>
          <a:xfrm>
            <a:off x="617220" y="4274820"/>
            <a:ext cx="2081174"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Maths</a:t>
            </a:r>
            <a:endParaRPr lang="en-US" sz="1000" dirty="0"/>
          </a:p>
        </p:txBody>
      </p:sp>
      <p:sp>
        <p:nvSpPr>
          <p:cNvPr id="26" name="Shape 24"/>
          <p:cNvSpPr/>
          <p:nvPr/>
        </p:nvSpPr>
        <p:spPr>
          <a:xfrm>
            <a:off x="3620110" y="2047113"/>
            <a:ext cx="512064" cy="512064"/>
          </a:xfrm>
          <a:prstGeom prst="ellipse">
            <a:avLst/>
          </a:prstGeom>
          <a:solidFill>
            <a:srgbClr val="CCE6CC"/>
          </a:solidFill>
          <a:ln w="31750">
            <a:solidFill>
              <a:srgbClr val="008300"/>
            </a:solidFill>
            <a:prstDash val="solid"/>
          </a:ln>
        </p:spPr>
      </p:sp>
      <p:sp>
        <p:nvSpPr>
          <p:cNvPr id="27" name="Shape 25"/>
          <p:cNvSpPr/>
          <p:nvPr/>
        </p:nvSpPr>
        <p:spPr>
          <a:xfrm>
            <a:off x="2835554" y="2604897"/>
            <a:ext cx="2081174" cy="384048"/>
          </a:xfrm>
          <a:prstGeom prst="rect">
            <a:avLst/>
          </a:prstGeom>
          <a:solidFill>
            <a:srgbClr val="FFFFFF"/>
          </a:solidFill>
          <a:ln/>
        </p:spPr>
      </p:sp>
      <p:sp>
        <p:nvSpPr>
          <p:cNvPr id="28" name="Text 26"/>
          <p:cNvSpPr/>
          <p:nvPr/>
        </p:nvSpPr>
        <p:spPr>
          <a:xfrm>
            <a:off x="2835554" y="2604897"/>
            <a:ext cx="2081174"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Number</a:t>
            </a:r>
            <a:endParaRPr lang="en-US" sz="1000" dirty="0"/>
          </a:p>
        </p:txBody>
      </p:sp>
      <p:sp>
        <p:nvSpPr>
          <p:cNvPr id="29" name="Shape 27"/>
          <p:cNvSpPr/>
          <p:nvPr/>
        </p:nvSpPr>
        <p:spPr>
          <a:xfrm>
            <a:off x="3620110" y="3087243"/>
            <a:ext cx="512064" cy="512064"/>
          </a:xfrm>
          <a:prstGeom prst="ellipse">
            <a:avLst/>
          </a:prstGeom>
          <a:solidFill>
            <a:srgbClr val="CCE6CC"/>
          </a:solidFill>
          <a:ln w="19050">
            <a:solidFill>
              <a:srgbClr val="008300"/>
            </a:solidFill>
            <a:prstDash val="solid"/>
          </a:ln>
        </p:spPr>
      </p:sp>
      <p:sp>
        <p:nvSpPr>
          <p:cNvPr id="30" name="Shape 28"/>
          <p:cNvSpPr/>
          <p:nvPr/>
        </p:nvSpPr>
        <p:spPr>
          <a:xfrm>
            <a:off x="2835554" y="3645027"/>
            <a:ext cx="2081174" cy="384048"/>
          </a:xfrm>
          <a:prstGeom prst="rect">
            <a:avLst/>
          </a:prstGeom>
          <a:solidFill>
            <a:srgbClr val="FFFFFF"/>
          </a:solidFill>
          <a:ln/>
        </p:spPr>
      </p:sp>
      <p:sp>
        <p:nvSpPr>
          <p:cNvPr id="31" name="Text 29"/>
          <p:cNvSpPr/>
          <p:nvPr/>
        </p:nvSpPr>
        <p:spPr>
          <a:xfrm>
            <a:off x="2835554" y="364502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Algebra</a:t>
            </a:r>
            <a:endParaRPr lang="en-US" sz="1000" dirty="0"/>
          </a:p>
        </p:txBody>
      </p:sp>
      <p:sp>
        <p:nvSpPr>
          <p:cNvPr id="32" name="Shape 30"/>
          <p:cNvSpPr/>
          <p:nvPr/>
        </p:nvSpPr>
        <p:spPr>
          <a:xfrm>
            <a:off x="3620110" y="4127373"/>
            <a:ext cx="512064" cy="512064"/>
          </a:xfrm>
          <a:prstGeom prst="ellipse">
            <a:avLst/>
          </a:prstGeom>
          <a:solidFill>
            <a:srgbClr val="CCE6CC"/>
          </a:solidFill>
          <a:ln w="19050">
            <a:solidFill>
              <a:srgbClr val="008300"/>
            </a:solidFill>
            <a:prstDash val="solid"/>
          </a:ln>
        </p:spPr>
      </p:sp>
      <p:sp>
        <p:nvSpPr>
          <p:cNvPr id="33" name="Shape 31"/>
          <p:cNvSpPr/>
          <p:nvPr/>
        </p:nvSpPr>
        <p:spPr>
          <a:xfrm>
            <a:off x="2835554" y="4685157"/>
            <a:ext cx="2081174" cy="384048"/>
          </a:xfrm>
          <a:prstGeom prst="rect">
            <a:avLst/>
          </a:prstGeom>
          <a:solidFill>
            <a:srgbClr val="FFFFFF"/>
          </a:solidFill>
          <a:ln/>
        </p:spPr>
      </p:sp>
      <p:sp>
        <p:nvSpPr>
          <p:cNvPr id="34" name="Text 32"/>
          <p:cNvSpPr/>
          <p:nvPr/>
        </p:nvSpPr>
        <p:spPr>
          <a:xfrm>
            <a:off x="2835554" y="468515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Geometry and Measure</a:t>
            </a:r>
            <a:endParaRPr lang="en-US" sz="1000" dirty="0"/>
          </a:p>
        </p:txBody>
      </p:sp>
      <p:sp>
        <p:nvSpPr>
          <p:cNvPr id="35" name="Shape 33"/>
          <p:cNvSpPr/>
          <p:nvPr/>
        </p:nvSpPr>
        <p:spPr>
          <a:xfrm>
            <a:off x="3620110" y="5167503"/>
            <a:ext cx="512064" cy="512064"/>
          </a:xfrm>
          <a:prstGeom prst="ellipse">
            <a:avLst/>
          </a:prstGeom>
          <a:solidFill>
            <a:srgbClr val="CCE6CC"/>
          </a:solidFill>
          <a:ln w="19050">
            <a:solidFill>
              <a:srgbClr val="008300"/>
            </a:solidFill>
            <a:prstDash val="solid"/>
          </a:ln>
        </p:spPr>
      </p:sp>
      <p:sp>
        <p:nvSpPr>
          <p:cNvPr id="36" name="Shape 34"/>
          <p:cNvSpPr/>
          <p:nvPr/>
        </p:nvSpPr>
        <p:spPr>
          <a:xfrm>
            <a:off x="2835554" y="5725287"/>
            <a:ext cx="2081174" cy="384048"/>
          </a:xfrm>
          <a:prstGeom prst="rect">
            <a:avLst/>
          </a:prstGeom>
          <a:solidFill>
            <a:srgbClr val="FFFFFF"/>
          </a:solidFill>
          <a:ln/>
        </p:spPr>
      </p:sp>
      <p:sp>
        <p:nvSpPr>
          <p:cNvPr id="37" name="Text 35"/>
          <p:cNvSpPr/>
          <p:nvPr/>
        </p:nvSpPr>
        <p:spPr>
          <a:xfrm>
            <a:off x="2835554" y="572528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Data and Statistics</a:t>
            </a:r>
            <a:endParaRPr lang="en-US" sz="1000" dirty="0"/>
          </a:p>
        </p:txBody>
      </p:sp>
      <p:sp>
        <p:nvSpPr>
          <p:cNvPr id="38" name="Shape 36"/>
          <p:cNvSpPr/>
          <p:nvPr/>
        </p:nvSpPr>
        <p:spPr>
          <a:xfrm>
            <a:off x="5838444" y="2047113"/>
            <a:ext cx="512064" cy="512064"/>
          </a:xfrm>
          <a:prstGeom prst="ellipse">
            <a:avLst/>
          </a:prstGeom>
          <a:solidFill>
            <a:srgbClr val="CCE6CC"/>
          </a:solidFill>
          <a:ln w="31750">
            <a:solidFill>
              <a:srgbClr val="008300"/>
            </a:solidFill>
            <a:prstDash val="solid"/>
          </a:ln>
        </p:spPr>
      </p:sp>
      <p:sp>
        <p:nvSpPr>
          <p:cNvPr id="39" name="Shape 37"/>
          <p:cNvSpPr/>
          <p:nvPr/>
        </p:nvSpPr>
        <p:spPr>
          <a:xfrm>
            <a:off x="5053889" y="2604897"/>
            <a:ext cx="2081174" cy="384048"/>
          </a:xfrm>
          <a:prstGeom prst="rect">
            <a:avLst/>
          </a:prstGeom>
          <a:solidFill>
            <a:srgbClr val="FFFFFF"/>
          </a:solidFill>
          <a:ln/>
        </p:spPr>
      </p:sp>
      <p:sp>
        <p:nvSpPr>
          <p:cNvPr id="40" name="Text 38"/>
          <p:cNvSpPr/>
          <p:nvPr/>
        </p:nvSpPr>
        <p:spPr>
          <a:xfrm>
            <a:off x="5053889" y="2604897"/>
            <a:ext cx="2081174"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Basic Arithmetic</a:t>
            </a:r>
            <a:endParaRPr lang="en-US" sz="1000" dirty="0"/>
          </a:p>
        </p:txBody>
      </p:sp>
      <p:sp>
        <p:nvSpPr>
          <p:cNvPr id="41" name="Shape 39"/>
          <p:cNvSpPr/>
          <p:nvPr/>
        </p:nvSpPr>
        <p:spPr>
          <a:xfrm>
            <a:off x="5838444" y="3087243"/>
            <a:ext cx="512064" cy="512064"/>
          </a:xfrm>
          <a:prstGeom prst="ellipse">
            <a:avLst/>
          </a:prstGeom>
          <a:solidFill>
            <a:srgbClr val="CCE6CC"/>
          </a:solidFill>
          <a:ln w="19050">
            <a:solidFill>
              <a:srgbClr val="008300"/>
            </a:solidFill>
            <a:prstDash val="solid"/>
          </a:ln>
        </p:spPr>
      </p:sp>
      <p:sp>
        <p:nvSpPr>
          <p:cNvPr id="42" name="Shape 40"/>
          <p:cNvSpPr/>
          <p:nvPr/>
        </p:nvSpPr>
        <p:spPr>
          <a:xfrm>
            <a:off x="5053889" y="3645027"/>
            <a:ext cx="2081174" cy="384048"/>
          </a:xfrm>
          <a:prstGeom prst="rect">
            <a:avLst/>
          </a:prstGeom>
          <a:solidFill>
            <a:srgbClr val="FFFFFF"/>
          </a:solidFill>
          <a:ln/>
        </p:spPr>
      </p:sp>
      <p:sp>
        <p:nvSpPr>
          <p:cNvPr id="43" name="Text 41"/>
          <p:cNvSpPr/>
          <p:nvPr/>
        </p:nvSpPr>
        <p:spPr>
          <a:xfrm>
            <a:off x="5053889" y="364502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Calculator Use</a:t>
            </a:r>
            <a:endParaRPr lang="en-US" sz="1000" dirty="0"/>
          </a:p>
        </p:txBody>
      </p:sp>
      <p:sp>
        <p:nvSpPr>
          <p:cNvPr id="44" name="Shape 42"/>
          <p:cNvSpPr/>
          <p:nvPr/>
        </p:nvSpPr>
        <p:spPr>
          <a:xfrm>
            <a:off x="5838444" y="4127373"/>
            <a:ext cx="512064" cy="512064"/>
          </a:xfrm>
          <a:prstGeom prst="ellipse">
            <a:avLst/>
          </a:prstGeom>
          <a:solidFill>
            <a:srgbClr val="CCE6CC"/>
          </a:solidFill>
          <a:ln w="19050">
            <a:solidFill>
              <a:srgbClr val="008300"/>
            </a:solidFill>
            <a:prstDash val="solid"/>
          </a:ln>
        </p:spPr>
      </p:sp>
      <p:sp>
        <p:nvSpPr>
          <p:cNvPr id="45" name="Shape 43"/>
          <p:cNvSpPr/>
          <p:nvPr/>
        </p:nvSpPr>
        <p:spPr>
          <a:xfrm>
            <a:off x="5053889" y="4685157"/>
            <a:ext cx="2081174" cy="384048"/>
          </a:xfrm>
          <a:prstGeom prst="rect">
            <a:avLst/>
          </a:prstGeom>
          <a:solidFill>
            <a:srgbClr val="FFFFFF"/>
          </a:solidFill>
          <a:ln/>
        </p:spPr>
      </p:sp>
      <p:sp>
        <p:nvSpPr>
          <p:cNvPr id="46" name="Text 44"/>
          <p:cNvSpPr/>
          <p:nvPr/>
        </p:nvSpPr>
        <p:spPr>
          <a:xfrm>
            <a:off x="5053889" y="468515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Decimals</a:t>
            </a:r>
            <a:endParaRPr lang="en-US" sz="1000" dirty="0"/>
          </a:p>
        </p:txBody>
      </p:sp>
      <p:sp>
        <p:nvSpPr>
          <p:cNvPr id="47" name="Shape 45"/>
          <p:cNvSpPr/>
          <p:nvPr/>
        </p:nvSpPr>
        <p:spPr>
          <a:xfrm>
            <a:off x="5838444" y="5167503"/>
            <a:ext cx="512064" cy="512064"/>
          </a:xfrm>
          <a:prstGeom prst="ellipse">
            <a:avLst/>
          </a:prstGeom>
          <a:solidFill>
            <a:srgbClr val="CCE6CC"/>
          </a:solidFill>
          <a:ln w="19050">
            <a:solidFill>
              <a:srgbClr val="008300"/>
            </a:solidFill>
            <a:prstDash val="solid"/>
          </a:ln>
        </p:spPr>
      </p:sp>
      <p:sp>
        <p:nvSpPr>
          <p:cNvPr id="48" name="Shape 46"/>
          <p:cNvSpPr/>
          <p:nvPr/>
        </p:nvSpPr>
        <p:spPr>
          <a:xfrm>
            <a:off x="5053889" y="5725287"/>
            <a:ext cx="2081174" cy="384048"/>
          </a:xfrm>
          <a:prstGeom prst="rect">
            <a:avLst/>
          </a:prstGeom>
          <a:solidFill>
            <a:srgbClr val="FFFFFF"/>
          </a:solidFill>
          <a:ln/>
        </p:spPr>
      </p:sp>
      <p:sp>
        <p:nvSpPr>
          <p:cNvPr id="49" name="Text 47"/>
          <p:cNvSpPr/>
          <p:nvPr/>
        </p:nvSpPr>
        <p:spPr>
          <a:xfrm>
            <a:off x="5053889" y="572528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Factors, Multiples and …</a:t>
            </a:r>
            <a:endParaRPr lang="en-US" sz="1000" dirty="0"/>
          </a:p>
        </p:txBody>
      </p:sp>
      <p:sp>
        <p:nvSpPr>
          <p:cNvPr id="50" name="Shape 48"/>
          <p:cNvSpPr/>
          <p:nvPr/>
        </p:nvSpPr>
        <p:spPr>
          <a:xfrm>
            <a:off x="8056778" y="2047113"/>
            <a:ext cx="512064" cy="512064"/>
          </a:xfrm>
          <a:prstGeom prst="ellipse">
            <a:avLst/>
          </a:prstGeom>
          <a:solidFill>
            <a:srgbClr val="CCE6CC"/>
          </a:solidFill>
          <a:ln w="31750">
            <a:solidFill>
              <a:srgbClr val="008300"/>
            </a:solidFill>
            <a:prstDash val="solid"/>
          </a:ln>
        </p:spPr>
      </p:sp>
      <p:sp>
        <p:nvSpPr>
          <p:cNvPr id="51" name="Shape 49"/>
          <p:cNvSpPr/>
          <p:nvPr/>
        </p:nvSpPr>
        <p:spPr>
          <a:xfrm>
            <a:off x="7272223" y="2604897"/>
            <a:ext cx="2081174" cy="384048"/>
          </a:xfrm>
          <a:prstGeom prst="rect">
            <a:avLst/>
          </a:prstGeom>
          <a:solidFill>
            <a:srgbClr val="FFFFFF"/>
          </a:solidFill>
          <a:ln/>
        </p:spPr>
      </p:sp>
      <p:sp>
        <p:nvSpPr>
          <p:cNvPr id="52" name="Text 50"/>
          <p:cNvSpPr/>
          <p:nvPr/>
        </p:nvSpPr>
        <p:spPr>
          <a:xfrm>
            <a:off x="7272223" y="2604897"/>
            <a:ext cx="2081174"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Mental Addition and Sub…</a:t>
            </a:r>
            <a:endParaRPr lang="en-US" sz="1000" dirty="0"/>
          </a:p>
        </p:txBody>
      </p:sp>
      <p:sp>
        <p:nvSpPr>
          <p:cNvPr id="53" name="Shape 51"/>
          <p:cNvSpPr/>
          <p:nvPr/>
        </p:nvSpPr>
        <p:spPr>
          <a:xfrm>
            <a:off x="8056778" y="3087243"/>
            <a:ext cx="512064" cy="512064"/>
          </a:xfrm>
          <a:prstGeom prst="ellipse">
            <a:avLst/>
          </a:prstGeom>
          <a:solidFill>
            <a:srgbClr val="CCE6CC"/>
          </a:solidFill>
          <a:ln w="19050">
            <a:solidFill>
              <a:srgbClr val="008300"/>
            </a:solidFill>
            <a:prstDash val="solid"/>
          </a:ln>
        </p:spPr>
      </p:sp>
      <p:sp>
        <p:nvSpPr>
          <p:cNvPr id="54" name="Shape 52"/>
          <p:cNvSpPr/>
          <p:nvPr/>
        </p:nvSpPr>
        <p:spPr>
          <a:xfrm>
            <a:off x="7272223" y="3645027"/>
            <a:ext cx="2081174" cy="384048"/>
          </a:xfrm>
          <a:prstGeom prst="rect">
            <a:avLst/>
          </a:prstGeom>
          <a:solidFill>
            <a:srgbClr val="FFFFFF"/>
          </a:solidFill>
          <a:ln/>
        </p:spPr>
      </p:sp>
      <p:sp>
        <p:nvSpPr>
          <p:cNvPr id="55" name="Text 53"/>
          <p:cNvSpPr/>
          <p:nvPr/>
        </p:nvSpPr>
        <p:spPr>
          <a:xfrm>
            <a:off x="7272223" y="364502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BIDMAS</a:t>
            </a:r>
            <a:endParaRPr lang="en-US" sz="1000" dirty="0"/>
          </a:p>
        </p:txBody>
      </p:sp>
      <p:sp>
        <p:nvSpPr>
          <p:cNvPr id="56" name="Shape 54"/>
          <p:cNvSpPr/>
          <p:nvPr/>
        </p:nvSpPr>
        <p:spPr>
          <a:xfrm>
            <a:off x="8056778" y="4127373"/>
            <a:ext cx="512064" cy="512064"/>
          </a:xfrm>
          <a:prstGeom prst="ellipse">
            <a:avLst/>
          </a:prstGeom>
          <a:solidFill>
            <a:srgbClr val="CCE6CC"/>
          </a:solidFill>
          <a:ln w="19050">
            <a:solidFill>
              <a:srgbClr val="008300"/>
            </a:solidFill>
            <a:prstDash val="solid"/>
          </a:ln>
        </p:spPr>
      </p:sp>
      <p:sp>
        <p:nvSpPr>
          <p:cNvPr id="57" name="Shape 55"/>
          <p:cNvSpPr/>
          <p:nvPr/>
        </p:nvSpPr>
        <p:spPr>
          <a:xfrm>
            <a:off x="7272223" y="4685157"/>
            <a:ext cx="2081174" cy="384048"/>
          </a:xfrm>
          <a:prstGeom prst="rect">
            <a:avLst/>
          </a:prstGeom>
          <a:solidFill>
            <a:srgbClr val="FFFFFF"/>
          </a:solidFill>
          <a:ln/>
        </p:spPr>
      </p:sp>
      <p:sp>
        <p:nvSpPr>
          <p:cNvPr id="58" name="Text 56"/>
          <p:cNvSpPr/>
          <p:nvPr/>
        </p:nvSpPr>
        <p:spPr>
          <a:xfrm>
            <a:off x="7272223" y="468515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Counting</a:t>
            </a:r>
            <a:endParaRPr lang="en-US" sz="1000" dirty="0"/>
          </a:p>
        </p:txBody>
      </p:sp>
      <p:sp>
        <p:nvSpPr>
          <p:cNvPr id="59" name="Shape 57"/>
          <p:cNvSpPr/>
          <p:nvPr/>
        </p:nvSpPr>
        <p:spPr>
          <a:xfrm>
            <a:off x="8056778" y="5167503"/>
            <a:ext cx="512064" cy="512064"/>
          </a:xfrm>
          <a:prstGeom prst="ellipse">
            <a:avLst/>
          </a:prstGeom>
          <a:solidFill>
            <a:srgbClr val="CCE6CC"/>
          </a:solidFill>
          <a:ln w="19050">
            <a:solidFill>
              <a:srgbClr val="008300"/>
            </a:solidFill>
            <a:prstDash val="solid"/>
          </a:ln>
        </p:spPr>
      </p:sp>
      <p:sp>
        <p:nvSpPr>
          <p:cNvPr id="60" name="Shape 58"/>
          <p:cNvSpPr/>
          <p:nvPr/>
        </p:nvSpPr>
        <p:spPr>
          <a:xfrm>
            <a:off x="7272223" y="5725287"/>
            <a:ext cx="2081174" cy="384048"/>
          </a:xfrm>
          <a:prstGeom prst="rect">
            <a:avLst/>
          </a:prstGeom>
          <a:solidFill>
            <a:srgbClr val="FFFFFF"/>
          </a:solidFill>
          <a:ln/>
        </p:spPr>
      </p:sp>
      <p:sp>
        <p:nvSpPr>
          <p:cNvPr id="61" name="Text 59"/>
          <p:cNvSpPr/>
          <p:nvPr/>
        </p:nvSpPr>
        <p:spPr>
          <a:xfrm>
            <a:off x="7272223" y="5725287"/>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Place Value</a:t>
            </a:r>
            <a:endParaRPr lang="en-US" sz="1000" dirty="0"/>
          </a:p>
        </p:txBody>
      </p:sp>
      <p:sp>
        <p:nvSpPr>
          <p:cNvPr id="62" name="Shape 60"/>
          <p:cNvSpPr/>
          <p:nvPr/>
        </p:nvSpPr>
        <p:spPr>
          <a:xfrm>
            <a:off x="10320833" y="1919478"/>
            <a:ext cx="420624" cy="420624"/>
          </a:xfrm>
          <a:prstGeom prst="ellipse">
            <a:avLst/>
          </a:prstGeom>
          <a:solidFill>
            <a:srgbClr val="E1E3E6"/>
          </a:solidFill>
          <a:ln w="19050">
            <a:solidFill>
              <a:srgbClr val="6B7280"/>
            </a:solidFill>
            <a:prstDash val="solid"/>
          </a:ln>
        </p:spPr>
      </p:sp>
      <p:sp>
        <p:nvSpPr>
          <p:cNvPr id="63" name="Shape 61"/>
          <p:cNvSpPr/>
          <p:nvPr/>
        </p:nvSpPr>
        <p:spPr>
          <a:xfrm>
            <a:off x="9490558" y="2385822"/>
            <a:ext cx="2081174" cy="384048"/>
          </a:xfrm>
          <a:prstGeom prst="rect">
            <a:avLst/>
          </a:prstGeom>
          <a:solidFill>
            <a:srgbClr val="FFFFFF"/>
          </a:solidFill>
          <a:ln/>
        </p:spPr>
      </p:sp>
      <p:sp>
        <p:nvSpPr>
          <p:cNvPr id="64" name="Text 62"/>
          <p:cNvSpPr/>
          <p:nvPr/>
        </p:nvSpPr>
        <p:spPr>
          <a:xfrm>
            <a:off x="9490558" y="2385822"/>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11968</a:t>
            </a:r>
            <a:endParaRPr lang="en-US" sz="1000" dirty="0"/>
          </a:p>
        </p:txBody>
      </p:sp>
      <p:sp>
        <p:nvSpPr>
          <p:cNvPr id="65" name="Shape 63"/>
          <p:cNvSpPr/>
          <p:nvPr/>
        </p:nvSpPr>
        <p:spPr>
          <a:xfrm>
            <a:off x="10320833" y="2612898"/>
            <a:ext cx="420624" cy="420624"/>
          </a:xfrm>
          <a:prstGeom prst="ellipse">
            <a:avLst/>
          </a:prstGeom>
          <a:solidFill>
            <a:srgbClr val="E1E3E6"/>
          </a:solidFill>
          <a:ln w="19050">
            <a:solidFill>
              <a:srgbClr val="6B7280"/>
            </a:solidFill>
            <a:prstDash val="solid"/>
          </a:ln>
        </p:spPr>
      </p:sp>
      <p:sp>
        <p:nvSpPr>
          <p:cNvPr id="66" name="Shape 64"/>
          <p:cNvSpPr/>
          <p:nvPr/>
        </p:nvSpPr>
        <p:spPr>
          <a:xfrm>
            <a:off x="9490558" y="3079242"/>
            <a:ext cx="2081174" cy="384048"/>
          </a:xfrm>
          <a:prstGeom prst="rect">
            <a:avLst/>
          </a:prstGeom>
          <a:solidFill>
            <a:srgbClr val="FFFFFF"/>
          </a:solidFill>
          <a:ln/>
        </p:spPr>
      </p:sp>
      <p:sp>
        <p:nvSpPr>
          <p:cNvPr id="67" name="Text 65"/>
          <p:cNvSpPr/>
          <p:nvPr/>
        </p:nvSpPr>
        <p:spPr>
          <a:xfrm>
            <a:off x="9490558" y="3079242"/>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25942</a:t>
            </a:r>
            <a:endParaRPr lang="en-US" sz="1000" dirty="0"/>
          </a:p>
        </p:txBody>
      </p:sp>
      <p:sp>
        <p:nvSpPr>
          <p:cNvPr id="68" name="Shape 66"/>
          <p:cNvSpPr/>
          <p:nvPr/>
        </p:nvSpPr>
        <p:spPr>
          <a:xfrm>
            <a:off x="10320833" y="3306318"/>
            <a:ext cx="420624" cy="420624"/>
          </a:xfrm>
          <a:prstGeom prst="ellipse">
            <a:avLst/>
          </a:prstGeom>
          <a:solidFill>
            <a:srgbClr val="E1E3E6"/>
          </a:solidFill>
          <a:ln w="19050">
            <a:solidFill>
              <a:srgbClr val="6B7280"/>
            </a:solidFill>
            <a:prstDash val="solid"/>
          </a:ln>
        </p:spPr>
      </p:sp>
      <p:sp>
        <p:nvSpPr>
          <p:cNvPr id="69" name="Shape 67"/>
          <p:cNvSpPr/>
          <p:nvPr/>
        </p:nvSpPr>
        <p:spPr>
          <a:xfrm>
            <a:off x="9490558" y="3772662"/>
            <a:ext cx="2081174" cy="384048"/>
          </a:xfrm>
          <a:prstGeom prst="rect">
            <a:avLst/>
          </a:prstGeom>
          <a:solidFill>
            <a:srgbClr val="FFFFFF"/>
          </a:solidFill>
          <a:ln/>
        </p:spPr>
      </p:sp>
      <p:sp>
        <p:nvSpPr>
          <p:cNvPr id="70" name="Text 68"/>
          <p:cNvSpPr/>
          <p:nvPr/>
        </p:nvSpPr>
        <p:spPr>
          <a:xfrm>
            <a:off x="9490558" y="3772662"/>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15263</a:t>
            </a:r>
            <a:endParaRPr lang="en-US" sz="1000" dirty="0"/>
          </a:p>
        </p:txBody>
      </p:sp>
      <p:sp>
        <p:nvSpPr>
          <p:cNvPr id="71" name="Shape 69"/>
          <p:cNvSpPr/>
          <p:nvPr/>
        </p:nvSpPr>
        <p:spPr>
          <a:xfrm>
            <a:off x="10320833" y="3999738"/>
            <a:ext cx="420624" cy="420624"/>
          </a:xfrm>
          <a:prstGeom prst="ellipse">
            <a:avLst/>
          </a:prstGeom>
          <a:solidFill>
            <a:srgbClr val="E1E3E6"/>
          </a:solidFill>
          <a:ln w="19050">
            <a:solidFill>
              <a:srgbClr val="6B7280"/>
            </a:solidFill>
            <a:prstDash val="solid"/>
          </a:ln>
        </p:spPr>
      </p:sp>
      <p:sp>
        <p:nvSpPr>
          <p:cNvPr id="72" name="Shape 70"/>
          <p:cNvSpPr/>
          <p:nvPr/>
        </p:nvSpPr>
        <p:spPr>
          <a:xfrm>
            <a:off x="9490558" y="4466082"/>
            <a:ext cx="2081174" cy="384048"/>
          </a:xfrm>
          <a:prstGeom prst="rect">
            <a:avLst/>
          </a:prstGeom>
          <a:solidFill>
            <a:srgbClr val="FFFFFF"/>
          </a:solidFill>
          <a:ln/>
        </p:spPr>
      </p:sp>
      <p:sp>
        <p:nvSpPr>
          <p:cNvPr id="73" name="Text 71"/>
          <p:cNvSpPr/>
          <p:nvPr/>
        </p:nvSpPr>
        <p:spPr>
          <a:xfrm>
            <a:off x="9490558" y="4466082"/>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26896</a:t>
            </a:r>
            <a:endParaRPr lang="en-US" sz="1000" dirty="0"/>
          </a:p>
        </p:txBody>
      </p:sp>
      <p:sp>
        <p:nvSpPr>
          <p:cNvPr id="74" name="Shape 72"/>
          <p:cNvSpPr/>
          <p:nvPr/>
        </p:nvSpPr>
        <p:spPr>
          <a:xfrm>
            <a:off x="10320833" y="4693158"/>
            <a:ext cx="420624" cy="420624"/>
          </a:xfrm>
          <a:prstGeom prst="ellipse">
            <a:avLst/>
          </a:prstGeom>
          <a:solidFill>
            <a:srgbClr val="E1E3E6"/>
          </a:solidFill>
          <a:ln w="19050">
            <a:solidFill>
              <a:srgbClr val="6B7280"/>
            </a:solidFill>
            <a:prstDash val="solid"/>
          </a:ln>
        </p:spPr>
      </p:sp>
      <p:sp>
        <p:nvSpPr>
          <p:cNvPr id="75" name="Shape 73"/>
          <p:cNvSpPr/>
          <p:nvPr/>
        </p:nvSpPr>
        <p:spPr>
          <a:xfrm>
            <a:off x="9490558" y="5159502"/>
            <a:ext cx="2081174" cy="384048"/>
          </a:xfrm>
          <a:prstGeom prst="rect">
            <a:avLst/>
          </a:prstGeom>
          <a:solidFill>
            <a:srgbClr val="FFFFFF"/>
          </a:solidFill>
          <a:ln/>
        </p:spPr>
      </p:sp>
      <p:sp>
        <p:nvSpPr>
          <p:cNvPr id="76" name="Text 74"/>
          <p:cNvSpPr/>
          <p:nvPr/>
        </p:nvSpPr>
        <p:spPr>
          <a:xfrm>
            <a:off x="9490558" y="5159502"/>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25378</a:t>
            </a:r>
            <a:endParaRPr lang="en-US" sz="1000" dirty="0"/>
          </a:p>
        </p:txBody>
      </p:sp>
      <p:sp>
        <p:nvSpPr>
          <p:cNvPr id="77" name="Shape 75"/>
          <p:cNvSpPr/>
          <p:nvPr/>
        </p:nvSpPr>
        <p:spPr>
          <a:xfrm>
            <a:off x="10320833" y="5386578"/>
            <a:ext cx="420624" cy="420624"/>
          </a:xfrm>
          <a:prstGeom prst="ellipse">
            <a:avLst/>
          </a:prstGeom>
          <a:solidFill>
            <a:srgbClr val="E1E3E6"/>
          </a:solidFill>
          <a:ln w="19050">
            <a:solidFill>
              <a:srgbClr val="6B7280"/>
            </a:solidFill>
            <a:prstDash val="solid"/>
          </a:ln>
        </p:spPr>
      </p:sp>
      <p:sp>
        <p:nvSpPr>
          <p:cNvPr id="78" name="Shape 76"/>
          <p:cNvSpPr/>
          <p:nvPr/>
        </p:nvSpPr>
        <p:spPr>
          <a:xfrm>
            <a:off x="9490558" y="5852922"/>
            <a:ext cx="2081174" cy="384048"/>
          </a:xfrm>
          <a:prstGeom prst="rect">
            <a:avLst/>
          </a:prstGeom>
          <a:solidFill>
            <a:srgbClr val="FFFFFF"/>
          </a:solidFill>
          <a:ln/>
        </p:spPr>
      </p:sp>
      <p:sp>
        <p:nvSpPr>
          <p:cNvPr id="79" name="Text 77"/>
          <p:cNvSpPr/>
          <p:nvPr/>
        </p:nvSpPr>
        <p:spPr>
          <a:xfrm>
            <a:off x="9490558" y="5852922"/>
            <a:ext cx="2081174"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19637</a:t>
            </a:r>
            <a:endParaRPr lang="en-US" sz="1000" dirty="0"/>
          </a:p>
        </p:txBody>
      </p:sp>
      <p:sp>
        <p:nvSpPr>
          <p:cNvPr id="80" name="Text 78"/>
          <p:cNvSpPr/>
          <p:nvPr/>
        </p:nvSpPr>
        <p:spPr>
          <a:xfrm>
            <a:off x="548640" y="6236208"/>
            <a:ext cx="11091672"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Nhánh đang đi theo (viền đậm): Maths → Number → Basic Arithmetic → Mental Addition and Subtraction</a:t>
            </a:r>
            <a:endParaRPr lang="en-US" sz="1000" dirty="0"/>
          </a:p>
        </p:txBody>
      </p:sp>
      <p:sp>
        <p:nvSpPr>
          <p:cNvPr id="81" name="Text 79"/>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sơ đồ KC ↔ câu hỏi</a:t>
            </a:r>
            <a:endParaRPr lang="en-US" sz="1000" dirty="0"/>
          </a:p>
        </p:txBody>
      </p:sp>
      <p:sp>
        <p:nvSpPr>
          <p:cNvPr id="82" name="Text 80"/>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014984" cy="402336"/>
          </a:xfrm>
          <a:prstGeom prst="roundRect">
            <a:avLst>
              <a:gd name="adj" fmla="val 18182"/>
            </a:avLst>
          </a:prstGeom>
          <a:solidFill>
            <a:srgbClr val="008300"/>
          </a:solidFill>
          <a:ln/>
        </p:spPr>
      </p:sp>
      <p:sp>
        <p:nvSpPr>
          <p:cNvPr id="3" name="Text 1"/>
          <p:cNvSpPr/>
          <p:nvPr/>
        </p:nvSpPr>
        <p:spPr>
          <a:xfrm>
            <a:off x="548640" y="384048"/>
            <a:ext cx="1014984"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eedi</a:t>
            </a:r>
            <a:endParaRPr lang="en-US" sz="1400" dirty="0"/>
          </a:p>
        </p:txBody>
      </p:sp>
      <p:sp>
        <p:nvSpPr>
          <p:cNvPr id="4" name="Text 2"/>
          <p:cNvSpPr/>
          <p:nvPr/>
        </p:nvSpPr>
        <p:spPr>
          <a:xfrm>
            <a:off x="1792224" y="329184"/>
            <a:ext cx="7772400" cy="457200"/>
          </a:xfrm>
          <a:prstGeom prst="rect">
            <a:avLst/>
          </a:prstGeom>
          <a:noFill/>
          <a:ln/>
        </p:spPr>
        <p:txBody>
          <a:bodyPr wrap="square" lIns="0" tIns="0" rIns="0" bIns="0" rtlCol="0" anchor="ctr"/>
          <a:lstStyle/>
          <a:p>
            <a:pPr indent="0" marL="0">
              <a:buNone/>
            </a:pPr>
            <a:r>
              <a:rPr lang="en-US" sz="2200" b="1" dirty="0">
                <a:solidFill>
                  <a:srgbClr val="000000"/>
                </a:solidFill>
                <a:latin typeface="Cambria" pitchFamily="34" charset="0"/>
                <a:ea typeface="Cambria" pitchFamily="34" charset="-122"/>
                <a:cs typeface="Cambria" pitchFamily="34" charset="-120"/>
              </a:rPr>
              <a:t>Eedi NeurIPS 2020 (task 1/2)</a:t>
            </a:r>
            <a:endParaRPr lang="en-US" sz="2200" dirty="0"/>
          </a:p>
        </p:txBody>
      </p:sp>
      <p:sp>
        <p:nvSpPr>
          <p:cNvPr id="5" name="Text 3"/>
          <p:cNvSpPr/>
          <p:nvPr/>
        </p:nvSpPr>
        <p:spPr>
          <a:xfrm>
            <a:off x="548640" y="896112"/>
            <a:ext cx="7315200"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Eedi NeurIPS 2020</a:t>
            </a:r>
            <a:endParaRPr lang="en-US" sz="1100" dirty="0"/>
          </a:p>
        </p:txBody>
      </p:sp>
      <p:sp>
        <p:nvSpPr>
          <p:cNvPr id="6" name="Text 4"/>
          <p:cNvSpPr/>
          <p:nvPr/>
        </p:nvSpPr>
        <p:spPr>
          <a:xfrm>
            <a:off x="548640" y="1371600"/>
            <a:ext cx="4251960" cy="256032"/>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CẤU TRÚC FILE  </a:t>
            </a:r>
            <a:pPr indent="0" marL="0">
              <a:buNone/>
            </a:pPr>
            <a:r>
              <a:rPr lang="en-US" sz="1000" i="1" dirty="0">
                <a:solidFill>
                  <a:srgbClr val="000000"/>
                </a:solidFill>
                <a:latin typeface="Calibri" pitchFamily="34" charset="0"/>
                <a:ea typeface="Calibri" pitchFamily="34" charset="-122"/>
                <a:cs typeface="Calibri" pitchFamily="34" charset="-120"/>
              </a:rPr>
              <a:t>· mục 3.1 notebook</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51960" cy="1536192"/>
        </p:xfrm>
        <a:graphic>
          <a:graphicData uri="http://schemas.openxmlformats.org/drawingml/2006/table">
            <a:tbl>
              <a:tblPr/>
              <a:tblGrid>
                <a:gridCol w="2743200"/>
                <a:gridCol w="960120"/>
                <a:gridCol w="54864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Dòng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train_task_1_2.csv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15,867,850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question_metadata_task_1_2.csv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27,613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subject_metadata.csv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388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student_metadata_task_1_2.csv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118,971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answer_metadata_task_1_2.csv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19,834,820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8" name="Text 5"/>
          <p:cNvSpPr/>
          <p:nvPr/>
        </p:nvSpPr>
        <p:spPr>
          <a:xfrm>
            <a:off x="548640" y="3310128"/>
            <a:ext cx="4251960" cy="27432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images/: 948 file .jpg (đặt tên theo QuestionId, vd '580.jpg')</a:t>
            </a:r>
            <a:endParaRPr lang="en-US" sz="1000" dirty="0"/>
          </a:p>
        </p:txBody>
      </p:sp>
      <p:sp>
        <p:nvSpPr>
          <p:cNvPr id="9" name="Text 6"/>
          <p:cNvSpPr/>
          <p:nvPr/>
        </p:nvSpPr>
        <p:spPr>
          <a:xfrm>
            <a:off x="548640" y="3602736"/>
            <a:ext cx="4251960" cy="566928"/>
          </a:xfrm>
          <a:prstGeom prst="rect">
            <a:avLst/>
          </a:prstGeom>
          <a:noFill/>
          <a:ln/>
        </p:spPr>
        <p:txBody>
          <a:bodyPr wrap="square" lIns="0" tIns="0" rIns="0" bIns="0" rtlCol="0" anchor="ctr"/>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QuestionId→SubjectId (nhiều)→ParentId (leo lên tới gốc 'Maths'); UserId→hồ sơ học sinh; AnswerId→thời điểm trả lời + độ tự tin.</a:t>
            </a:r>
            <a:endParaRPr lang="en-US" sz="1000" dirty="0"/>
          </a:p>
        </p:txBody>
      </p:sp>
      <p:sp>
        <p:nvSpPr>
          <p:cNvPr id="10" name="Shape 7"/>
          <p:cNvSpPr/>
          <p:nvPr/>
        </p:nvSpPr>
        <p:spPr>
          <a:xfrm>
            <a:off x="548640" y="4279392"/>
            <a:ext cx="1356360" cy="946404"/>
          </a:xfrm>
          <a:prstGeom prst="roundRect">
            <a:avLst>
              <a:gd name="adj" fmla="val 4831"/>
            </a:avLst>
          </a:prstGeom>
          <a:solidFill>
            <a:srgbClr val="F5F7FC"/>
          </a:solidFill>
          <a:ln w="9525">
            <a:solidFill>
              <a:srgbClr val="E3E7F1"/>
            </a:solidFill>
            <a:prstDash val="solid"/>
          </a:ln>
        </p:spPr>
      </p:sp>
      <p:sp>
        <p:nvSpPr>
          <p:cNvPr id="11" name="Text 8"/>
          <p:cNvSpPr/>
          <p:nvPr/>
        </p:nvSpPr>
        <p:spPr>
          <a:xfrm>
            <a:off x="594360" y="4352544"/>
            <a:ext cx="1264920" cy="5205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15.87 Tr</a:t>
            </a:r>
            <a:endParaRPr lang="en-US" sz="1600" dirty="0"/>
          </a:p>
        </p:txBody>
      </p:sp>
      <p:sp>
        <p:nvSpPr>
          <p:cNvPr id="12" name="Text 9"/>
          <p:cNvSpPr/>
          <p:nvPr/>
        </p:nvSpPr>
        <p:spPr>
          <a:xfrm>
            <a:off x="594360" y="4847234"/>
            <a:ext cx="1264920" cy="378562"/>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Tương tác</a:t>
            </a:r>
            <a:endParaRPr lang="en-US" sz="1000" dirty="0"/>
          </a:p>
        </p:txBody>
      </p:sp>
      <p:sp>
        <p:nvSpPr>
          <p:cNvPr id="13" name="Shape 10"/>
          <p:cNvSpPr/>
          <p:nvPr/>
        </p:nvSpPr>
        <p:spPr>
          <a:xfrm>
            <a:off x="1996440" y="4279392"/>
            <a:ext cx="1356360" cy="946404"/>
          </a:xfrm>
          <a:prstGeom prst="roundRect">
            <a:avLst>
              <a:gd name="adj" fmla="val 4831"/>
            </a:avLst>
          </a:prstGeom>
          <a:solidFill>
            <a:srgbClr val="F5F7FC"/>
          </a:solidFill>
          <a:ln w="9525">
            <a:solidFill>
              <a:srgbClr val="E3E7F1"/>
            </a:solidFill>
            <a:prstDash val="solid"/>
          </a:ln>
        </p:spPr>
      </p:sp>
      <p:sp>
        <p:nvSpPr>
          <p:cNvPr id="14" name="Text 11"/>
          <p:cNvSpPr/>
          <p:nvPr/>
        </p:nvSpPr>
        <p:spPr>
          <a:xfrm>
            <a:off x="2042160" y="4352544"/>
            <a:ext cx="1264920" cy="5205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118,971</a:t>
            </a:r>
            <a:endParaRPr lang="en-US" sz="1600" dirty="0"/>
          </a:p>
        </p:txBody>
      </p:sp>
      <p:sp>
        <p:nvSpPr>
          <p:cNvPr id="15" name="Text 12"/>
          <p:cNvSpPr/>
          <p:nvPr/>
        </p:nvSpPr>
        <p:spPr>
          <a:xfrm>
            <a:off x="2042160" y="4847234"/>
            <a:ext cx="1264920" cy="378562"/>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Học sinh</a:t>
            </a:r>
            <a:endParaRPr lang="en-US" sz="1000" dirty="0"/>
          </a:p>
        </p:txBody>
      </p:sp>
      <p:sp>
        <p:nvSpPr>
          <p:cNvPr id="16" name="Shape 13"/>
          <p:cNvSpPr/>
          <p:nvPr/>
        </p:nvSpPr>
        <p:spPr>
          <a:xfrm>
            <a:off x="3444240" y="4279392"/>
            <a:ext cx="1356360" cy="946404"/>
          </a:xfrm>
          <a:prstGeom prst="roundRect">
            <a:avLst>
              <a:gd name="adj" fmla="val 4831"/>
            </a:avLst>
          </a:prstGeom>
          <a:solidFill>
            <a:srgbClr val="F5F7FC"/>
          </a:solidFill>
          <a:ln w="9525">
            <a:solidFill>
              <a:srgbClr val="E3E7F1"/>
            </a:solidFill>
            <a:prstDash val="solid"/>
          </a:ln>
        </p:spPr>
      </p:sp>
      <p:sp>
        <p:nvSpPr>
          <p:cNvPr id="17" name="Text 14"/>
          <p:cNvSpPr/>
          <p:nvPr/>
        </p:nvSpPr>
        <p:spPr>
          <a:xfrm>
            <a:off x="3489960" y="4352544"/>
            <a:ext cx="1264920" cy="5205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27,613</a:t>
            </a:r>
            <a:endParaRPr lang="en-US" sz="1600" dirty="0"/>
          </a:p>
        </p:txBody>
      </p:sp>
      <p:sp>
        <p:nvSpPr>
          <p:cNvPr id="18" name="Text 15"/>
          <p:cNvSpPr/>
          <p:nvPr/>
        </p:nvSpPr>
        <p:spPr>
          <a:xfrm>
            <a:off x="3489960" y="4847234"/>
            <a:ext cx="1264920" cy="378562"/>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Câu hỏi</a:t>
            </a:r>
            <a:endParaRPr lang="en-US" sz="1000" dirty="0"/>
          </a:p>
        </p:txBody>
      </p:sp>
      <p:sp>
        <p:nvSpPr>
          <p:cNvPr id="19" name="Shape 16"/>
          <p:cNvSpPr/>
          <p:nvPr/>
        </p:nvSpPr>
        <p:spPr>
          <a:xfrm>
            <a:off x="548640" y="5317236"/>
            <a:ext cx="1356360" cy="946404"/>
          </a:xfrm>
          <a:prstGeom prst="roundRect">
            <a:avLst>
              <a:gd name="adj" fmla="val 4831"/>
            </a:avLst>
          </a:prstGeom>
          <a:solidFill>
            <a:srgbClr val="F5F7FC"/>
          </a:solidFill>
          <a:ln w="9525">
            <a:solidFill>
              <a:srgbClr val="E3E7F1"/>
            </a:solidFill>
            <a:prstDash val="solid"/>
          </a:ln>
        </p:spPr>
      </p:sp>
      <p:sp>
        <p:nvSpPr>
          <p:cNvPr id="20" name="Text 17"/>
          <p:cNvSpPr/>
          <p:nvPr/>
        </p:nvSpPr>
        <p:spPr>
          <a:xfrm>
            <a:off x="594360" y="5390388"/>
            <a:ext cx="1264920" cy="5205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316</a:t>
            </a:r>
            <a:endParaRPr lang="en-US" sz="1600" dirty="0"/>
          </a:p>
        </p:txBody>
      </p:sp>
      <p:sp>
        <p:nvSpPr>
          <p:cNvPr id="21" name="Text 18"/>
          <p:cNvSpPr/>
          <p:nvPr/>
        </p:nvSpPr>
        <p:spPr>
          <a:xfrm>
            <a:off x="594360" y="5885078"/>
            <a:ext cx="1264920" cy="378562"/>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Leaf skill (KC)</a:t>
            </a:r>
            <a:endParaRPr lang="en-US" sz="1000" dirty="0"/>
          </a:p>
        </p:txBody>
      </p:sp>
      <p:sp>
        <p:nvSpPr>
          <p:cNvPr id="22" name="Shape 19"/>
          <p:cNvSpPr/>
          <p:nvPr/>
        </p:nvSpPr>
        <p:spPr>
          <a:xfrm>
            <a:off x="1996440" y="5317236"/>
            <a:ext cx="1356360" cy="946404"/>
          </a:xfrm>
          <a:prstGeom prst="roundRect">
            <a:avLst>
              <a:gd name="adj" fmla="val 4831"/>
            </a:avLst>
          </a:prstGeom>
          <a:solidFill>
            <a:srgbClr val="F5F7FC"/>
          </a:solidFill>
          <a:ln w="9525">
            <a:solidFill>
              <a:srgbClr val="E3E7F1"/>
            </a:solidFill>
            <a:prstDash val="solid"/>
          </a:ln>
        </p:spPr>
      </p:sp>
      <p:sp>
        <p:nvSpPr>
          <p:cNvPr id="23" name="Text 20"/>
          <p:cNvSpPr/>
          <p:nvPr/>
        </p:nvSpPr>
        <p:spPr>
          <a:xfrm>
            <a:off x="2042160" y="5390388"/>
            <a:ext cx="1264920" cy="5205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64.3%</a:t>
            </a:r>
            <a:endParaRPr lang="en-US" sz="1600" dirty="0"/>
          </a:p>
        </p:txBody>
      </p:sp>
      <p:sp>
        <p:nvSpPr>
          <p:cNvPr id="24" name="Text 21"/>
          <p:cNvSpPr/>
          <p:nvPr/>
        </p:nvSpPr>
        <p:spPr>
          <a:xfrm>
            <a:off x="2042160" y="5885078"/>
            <a:ext cx="1264920" cy="378562"/>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Tỉ lệ đúng chung</a:t>
            </a:r>
            <a:endParaRPr lang="en-US" sz="1000" dirty="0"/>
          </a:p>
        </p:txBody>
      </p:sp>
      <p:sp>
        <p:nvSpPr>
          <p:cNvPr id="25" name="Shape 22"/>
          <p:cNvSpPr/>
          <p:nvPr/>
        </p:nvSpPr>
        <p:spPr>
          <a:xfrm>
            <a:off x="3444240" y="5317236"/>
            <a:ext cx="1356360" cy="946404"/>
          </a:xfrm>
          <a:prstGeom prst="roundRect">
            <a:avLst>
              <a:gd name="adj" fmla="val 4831"/>
            </a:avLst>
          </a:prstGeom>
          <a:solidFill>
            <a:srgbClr val="F5F7FC"/>
          </a:solidFill>
          <a:ln w="9525">
            <a:solidFill>
              <a:srgbClr val="E3E7F1"/>
            </a:solidFill>
            <a:prstDash val="solid"/>
          </a:ln>
        </p:spPr>
      </p:sp>
      <p:sp>
        <p:nvSpPr>
          <p:cNvPr id="26" name="Text 23"/>
          <p:cNvSpPr/>
          <p:nvPr/>
        </p:nvSpPr>
        <p:spPr>
          <a:xfrm>
            <a:off x="3489960" y="5390388"/>
            <a:ext cx="1264920" cy="520522"/>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8.9%</a:t>
            </a:r>
            <a:endParaRPr lang="en-US" sz="1600" dirty="0"/>
          </a:p>
        </p:txBody>
      </p:sp>
      <p:sp>
        <p:nvSpPr>
          <p:cNvPr id="27" name="Text 24"/>
          <p:cNvSpPr/>
          <p:nvPr/>
        </p:nvSpPr>
        <p:spPr>
          <a:xfrm>
            <a:off x="3489960" y="5885078"/>
            <a:ext cx="1264920" cy="378562"/>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Câu hỏi &gt;1 leaf skill</a:t>
            </a:r>
            <a:endParaRPr lang="en-US" sz="1000" dirty="0"/>
          </a:p>
        </p:txBody>
      </p:sp>
      <p:sp>
        <p:nvSpPr>
          <p:cNvPr id="28" name="Shape 25"/>
          <p:cNvSpPr/>
          <p:nvPr/>
        </p:nvSpPr>
        <p:spPr>
          <a:xfrm>
            <a:off x="4910328" y="1298448"/>
            <a:ext cx="6803136" cy="4581144"/>
          </a:xfrm>
          <a:prstGeom prst="roundRect">
            <a:avLst>
              <a:gd name="adj" fmla="val 798"/>
            </a:avLst>
          </a:prstGeom>
          <a:solidFill>
            <a:srgbClr val="FFFFFF"/>
          </a:solidFill>
          <a:ln w="15875">
            <a:solidFill>
              <a:srgbClr val="008300"/>
            </a:solidFill>
            <a:prstDash val="solid"/>
          </a:ln>
        </p:spPr>
      </p:sp>
      <p:pic>
        <p:nvPicPr>
          <p:cNvPr id="29" name="Image 0" descr="/tmp/claude-1000/-home-admincsc-workspace-binh-openscience-kt-workspace/c4c4a90d-95e7-4615-8c88-d95bfdcdf616/scratchpad/pptx_assets/fig_36.png">    </p:cNvPr>
          <p:cNvPicPr>
            <a:picLocks noChangeAspect="1"/>
          </p:cNvPicPr>
          <p:nvPr/>
        </p:nvPicPr>
        <p:blipFill>
          <a:blip r:embed="rId1"/>
          <a:stretch>
            <a:fillRect/>
          </a:stretch>
        </p:blipFill>
        <p:spPr>
          <a:xfrm>
            <a:off x="4983480" y="1790700"/>
            <a:ext cx="6656832" cy="3596640"/>
          </a:xfrm>
          <a:prstGeom prst="rect">
            <a:avLst/>
          </a:prstGeom>
        </p:spPr>
      </p:pic>
      <p:sp>
        <p:nvSpPr>
          <p:cNvPr id="30" name="Text 26"/>
          <p:cNvSpPr/>
          <p:nvPr/>
        </p:nvSpPr>
        <p:spPr>
          <a:xfrm>
            <a:off x="4983480" y="5916168"/>
            <a:ext cx="6656832" cy="502920"/>
          </a:xfrm>
          <a:prstGeom prst="rect">
            <a:avLst/>
          </a:prstGeom>
          <a:noFill/>
          <a:ln/>
        </p:spPr>
        <p:txBody>
          <a:bodyPr wrap="square" lIns="0" tIns="0" rIns="0" bIns="0" rtlCol="0" anchor="ctr"/>
          <a:lstStyle/>
          <a:p>
            <a:pPr algn="l" indent="0" marL="0">
              <a:lnSpc>
                <a:spcPct val="110000"/>
              </a:lnSpc>
              <a:buNone/>
            </a:pPr>
            <a:r>
              <a:rPr lang="en-US" sz="1000" i="1" dirty="0">
                <a:solidFill>
                  <a:srgbClr val="000000"/>
                </a:solidFill>
                <a:latin typeface="Calibri" pitchFamily="34" charset="0"/>
                <a:ea typeface="Calibri" pitchFamily="34" charset="-122"/>
                <a:cs typeface="Calibri" pitchFamily="34" charset="-120"/>
              </a:rPr>
              <a:t>SubjectId liệt kê CẢ chuỗi tổ tiên (TB 4.17 mục/câu hỏi) — quy về leaf skill mới so sánh được với KC ở dataset khác (TB 1.11). Độ tự tin tự khai báo chỉ có ở 9.5% lượt trả lời.  ·  Nguồn hình: mục 3.2 "Phân tích &amp; trực quan hóa" – datasets_deep_dive.ipynb.</a:t>
            </a:r>
            <a:endParaRPr lang="en-US" sz="1000" dirty="0"/>
          </a:p>
        </p:txBody>
      </p:sp>
      <p:sp>
        <p:nvSpPr>
          <p:cNvPr id="31" name="Text 2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eedi · Eedi NeurIPS 2020</a:t>
            </a:r>
            <a:endParaRPr lang="en-US" sz="1000" dirty="0"/>
          </a:p>
        </p:txBody>
      </p:sp>
      <p:sp>
        <p:nvSpPr>
          <p:cNvPr id="32" name="Text 2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31</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85800" y="1417320"/>
            <a:ext cx="3657600" cy="2011680"/>
          </a:xfrm>
          <a:prstGeom prst="rect">
            <a:avLst/>
          </a:prstGeom>
          <a:noFill/>
          <a:ln/>
        </p:spPr>
        <p:txBody>
          <a:bodyPr wrap="square" lIns="0" tIns="0" rIns="0" bIns="0" rtlCol="0" anchor="ctr"/>
          <a:lstStyle/>
          <a:p>
            <a:pPr algn="l" indent="0" marL="0">
              <a:buNone/>
            </a:pPr>
            <a:r>
              <a:rPr lang="en-US" sz="13000" b="1" dirty="0">
                <a:solidFill>
                  <a:srgbClr val="FFFFFF">
                    <a:alpha val="18000"/>
                  </a:srgbClr>
                </a:solidFill>
                <a:latin typeface="Cambria" pitchFamily="34" charset="0"/>
                <a:ea typeface="Cambria" pitchFamily="34" charset="-122"/>
                <a:cs typeface="Cambria" pitchFamily="34" charset="-120"/>
              </a:rPr>
              <a:t>03</a:t>
            </a:r>
            <a:endParaRPr lang="en-US" sz="13000" dirty="0"/>
          </a:p>
        </p:txBody>
      </p:sp>
      <p:sp>
        <p:nvSpPr>
          <p:cNvPr id="3" name="Text 1"/>
          <p:cNvSpPr/>
          <p:nvPr/>
        </p:nvSpPr>
        <p:spPr>
          <a:xfrm>
            <a:off x="822960" y="3017520"/>
            <a:ext cx="100584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Junyi Academy</a:t>
            </a:r>
            <a:endParaRPr lang="en-US" sz="4000" dirty="0"/>
          </a:p>
        </p:txBody>
      </p:sp>
      <p:sp>
        <p:nvSpPr>
          <p:cNvPr id="4" name="Text 2"/>
          <p:cNvSpPr/>
          <p:nvPr/>
        </p:nvSpPr>
        <p:spPr>
          <a:xfrm>
            <a:off x="822960" y="3886200"/>
            <a:ext cx="9601200" cy="64008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Log luyện tập có cơ chế tự điều chỉnh độ khó (adaptive) — tín hiệu không xuất hiện ở family khác.</a:t>
            </a:r>
            <a:endParaRPr lang="en-US" sz="1500" dirty="0"/>
          </a:p>
        </p:txBody>
      </p:sp>
      <p:sp>
        <p:nvSpPr>
          <p:cNvPr id="5" name="Shape 3"/>
          <p:cNvSpPr/>
          <p:nvPr/>
        </p:nvSpPr>
        <p:spPr>
          <a:xfrm>
            <a:off x="822960" y="4663440"/>
            <a:ext cx="1051560" cy="438912"/>
          </a:xfrm>
          <a:prstGeom prst="roundRect">
            <a:avLst>
              <a:gd name="adj" fmla="val 18750"/>
            </a:avLst>
          </a:prstGeom>
          <a:solidFill>
            <a:srgbClr val="4A3AA7"/>
          </a:solidFill>
          <a:ln/>
        </p:spPr>
      </p:sp>
      <p:sp>
        <p:nvSpPr>
          <p:cNvPr id="6" name="Text 4"/>
          <p:cNvSpPr/>
          <p:nvPr/>
        </p:nvSpPr>
        <p:spPr>
          <a:xfrm>
            <a:off x="822960" y="4663440"/>
            <a:ext cx="1051560"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junyi</a:t>
            </a:r>
            <a:endParaRPr lang="en-US" sz="1300" dirty="0"/>
          </a:p>
        </p:txBody>
      </p:sp>
      <p:sp>
        <p:nvSpPr>
          <p:cNvPr id="7" name="Text 5"/>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Junyi Academy</a:t>
            </a:r>
            <a:endParaRPr lang="en-US" sz="1000" dirty="0"/>
          </a:p>
        </p:txBody>
      </p:sp>
      <p:sp>
        <p:nvSpPr>
          <p:cNvPr id="8" name="Text 6"/>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liên kết file · junyi  ·  Nguồn: mục 4.1 "Cấu trúc file / Liên kết"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Cấu trúc file</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Log_Problem.csv là trung tâm, 2 file metadata nối vào qua uuid (học sinh) và ucid (bài luyện tập).</a:t>
            </a:r>
            <a:endParaRPr lang="en-US" sz="1150" dirty="0"/>
          </a:p>
        </p:txBody>
      </p:sp>
      <p:sp>
        <p:nvSpPr>
          <p:cNvPr id="5" name="Shape 3"/>
          <p:cNvSpPr/>
          <p:nvPr/>
        </p:nvSpPr>
        <p:spPr>
          <a:xfrm>
            <a:off x="4453128" y="3108960"/>
            <a:ext cx="3291840" cy="868680"/>
          </a:xfrm>
          <a:prstGeom prst="roundRect">
            <a:avLst>
              <a:gd name="adj" fmla="val 7368"/>
            </a:avLst>
          </a:prstGeom>
          <a:solidFill>
            <a:srgbClr val="E9E7F4"/>
          </a:solidFill>
          <a:ln w="19050">
            <a:solidFill>
              <a:srgbClr val="4A3AA7"/>
            </a:solidFill>
            <a:prstDash val="solid"/>
          </a:ln>
        </p:spPr>
      </p:sp>
      <p:sp>
        <p:nvSpPr>
          <p:cNvPr id="6" name="Text 4"/>
          <p:cNvSpPr/>
          <p:nvPr/>
        </p:nvSpPr>
        <p:spPr>
          <a:xfrm>
            <a:off x="4544568" y="3108960"/>
            <a:ext cx="3108960" cy="86868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Log_Problem.csv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log luyện tập chính</a:t>
            </a:r>
            <a:endParaRPr lang="en-US" sz="1150" dirty="0"/>
          </a:p>
        </p:txBody>
      </p:sp>
      <p:sp>
        <p:nvSpPr>
          <p:cNvPr id="7" name="Shape 5"/>
          <p:cNvSpPr/>
          <p:nvPr/>
        </p:nvSpPr>
        <p:spPr>
          <a:xfrm>
            <a:off x="1097280" y="1691640"/>
            <a:ext cx="3474720" cy="822960"/>
          </a:xfrm>
          <a:prstGeom prst="roundRect">
            <a:avLst>
              <a:gd name="adj" fmla="val 7778"/>
            </a:avLst>
          </a:prstGeom>
          <a:solidFill>
            <a:srgbClr val="E9E7F4"/>
          </a:solidFill>
          <a:ln w="19050">
            <a:solidFill>
              <a:srgbClr val="4A3AA7"/>
            </a:solidFill>
            <a:prstDash val="solid"/>
          </a:ln>
        </p:spPr>
      </p:sp>
      <p:sp>
        <p:nvSpPr>
          <p:cNvPr id="8" name="Text 6"/>
          <p:cNvSpPr/>
          <p:nvPr/>
        </p:nvSpPr>
        <p:spPr>
          <a:xfrm>
            <a:off x="1188720" y="1691640"/>
            <a:ext cx="3291840" cy="82296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Info_UserData.csv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hồ sơ học sinh</a:t>
            </a:r>
            <a:endParaRPr lang="en-US" sz="1150" dirty="0"/>
          </a:p>
        </p:txBody>
      </p:sp>
      <p:sp>
        <p:nvSpPr>
          <p:cNvPr id="9" name="Shape 7"/>
          <p:cNvSpPr/>
          <p:nvPr/>
        </p:nvSpPr>
        <p:spPr>
          <a:xfrm>
            <a:off x="7589520" y="1691640"/>
            <a:ext cx="3474720" cy="822960"/>
          </a:xfrm>
          <a:prstGeom prst="roundRect">
            <a:avLst>
              <a:gd name="adj" fmla="val 7778"/>
            </a:avLst>
          </a:prstGeom>
          <a:solidFill>
            <a:srgbClr val="E9E7F4"/>
          </a:solidFill>
          <a:ln w="19050">
            <a:solidFill>
              <a:srgbClr val="4A3AA7"/>
            </a:solidFill>
            <a:prstDash val="solid"/>
          </a:ln>
        </p:spPr>
      </p:sp>
      <p:sp>
        <p:nvSpPr>
          <p:cNvPr id="10" name="Text 8"/>
          <p:cNvSpPr/>
          <p:nvPr/>
        </p:nvSpPr>
        <p:spPr>
          <a:xfrm>
            <a:off x="7680960" y="1691640"/>
            <a:ext cx="3291840" cy="82296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Info_Content.csv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metadata bài luyện tập</a:t>
            </a:r>
            <a:endParaRPr lang="en-US" sz="1150" dirty="0"/>
          </a:p>
        </p:txBody>
      </p:sp>
      <p:sp>
        <p:nvSpPr>
          <p:cNvPr id="11" name="Shape 9"/>
          <p:cNvSpPr/>
          <p:nvPr/>
        </p:nvSpPr>
        <p:spPr>
          <a:xfrm flipH="1" flipV="1">
            <a:off x="3767328" y="2514600"/>
            <a:ext cx="1347216" cy="594360"/>
          </a:xfrm>
          <a:prstGeom prst="line">
            <a:avLst/>
          </a:prstGeom>
          <a:noFill/>
          <a:ln w="19050">
            <a:solidFill>
              <a:srgbClr val="4A3AA7"/>
            </a:solidFill>
            <a:prstDash val="solid"/>
            <a:headEnd type="none"/>
            <a:tailEnd type="triangle"/>
          </a:ln>
        </p:spPr>
      </p:sp>
      <p:sp>
        <p:nvSpPr>
          <p:cNvPr id="12" name="Shape 10"/>
          <p:cNvSpPr/>
          <p:nvPr/>
        </p:nvSpPr>
        <p:spPr>
          <a:xfrm>
            <a:off x="3892296" y="2665476"/>
            <a:ext cx="1097280" cy="292608"/>
          </a:xfrm>
          <a:prstGeom prst="roundRect">
            <a:avLst>
              <a:gd name="adj" fmla="val 15625"/>
            </a:avLst>
          </a:prstGeom>
          <a:solidFill>
            <a:srgbClr val="FFFFFF"/>
          </a:solidFill>
          <a:ln w="6350">
            <a:solidFill>
              <a:srgbClr val="E3E7F1"/>
            </a:solidFill>
            <a:prstDash val="solid"/>
          </a:ln>
        </p:spPr>
      </p:sp>
      <p:sp>
        <p:nvSpPr>
          <p:cNvPr id="13" name="Text 11"/>
          <p:cNvSpPr/>
          <p:nvPr/>
        </p:nvSpPr>
        <p:spPr>
          <a:xfrm>
            <a:off x="3892296" y="2665476"/>
            <a:ext cx="109728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uuid</a:t>
            </a:r>
            <a:endParaRPr lang="en-US" sz="1000" dirty="0"/>
          </a:p>
        </p:txBody>
      </p:sp>
      <p:sp>
        <p:nvSpPr>
          <p:cNvPr id="14" name="Shape 12"/>
          <p:cNvSpPr/>
          <p:nvPr/>
        </p:nvSpPr>
        <p:spPr>
          <a:xfrm flipV="1">
            <a:off x="7072521" y="2514600"/>
            <a:ext cx="1332121" cy="594360"/>
          </a:xfrm>
          <a:prstGeom prst="line">
            <a:avLst/>
          </a:prstGeom>
          <a:noFill/>
          <a:ln w="19050">
            <a:solidFill>
              <a:srgbClr val="4A3AA7"/>
            </a:solidFill>
            <a:prstDash val="solid"/>
            <a:headEnd type="none"/>
            <a:tailEnd type="triangle"/>
          </a:ln>
        </p:spPr>
      </p:sp>
      <p:sp>
        <p:nvSpPr>
          <p:cNvPr id="15" name="Shape 13"/>
          <p:cNvSpPr/>
          <p:nvPr/>
        </p:nvSpPr>
        <p:spPr>
          <a:xfrm>
            <a:off x="7189942" y="2665476"/>
            <a:ext cx="1097280" cy="292608"/>
          </a:xfrm>
          <a:prstGeom prst="roundRect">
            <a:avLst>
              <a:gd name="adj" fmla="val 15625"/>
            </a:avLst>
          </a:prstGeom>
          <a:solidFill>
            <a:srgbClr val="FFFFFF"/>
          </a:solidFill>
          <a:ln w="6350">
            <a:solidFill>
              <a:srgbClr val="E3E7F1"/>
            </a:solidFill>
            <a:prstDash val="solid"/>
          </a:ln>
        </p:spPr>
      </p:sp>
      <p:sp>
        <p:nvSpPr>
          <p:cNvPr id="16" name="Text 14"/>
          <p:cNvSpPr/>
          <p:nvPr/>
        </p:nvSpPr>
        <p:spPr>
          <a:xfrm>
            <a:off x="7189942" y="2665476"/>
            <a:ext cx="109728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ucid</a:t>
            </a:r>
            <a:endParaRPr lang="en-US" sz="1000" dirty="0"/>
          </a:p>
        </p:txBody>
      </p:sp>
      <p:sp>
        <p:nvSpPr>
          <p:cNvPr id="17" name="Text 15"/>
          <p:cNvSpPr/>
          <p:nvPr/>
        </p:nvSpPr>
        <p:spPr>
          <a:xfrm>
            <a:off x="1097280" y="5989320"/>
            <a:ext cx="9966960" cy="457200"/>
          </a:xfrm>
          <a:prstGeom prst="rect">
            <a:avLst/>
          </a:prstGeom>
          <a:noFill/>
          <a:ln/>
        </p:spPr>
        <p:txBody>
          <a:bodyPr wrap="square" lIns="0" tIns="0" rIns="0" bIns="0" rtlCol="0" anchor="ctr"/>
          <a:lstStyle/>
          <a:p>
            <a:pPr algn="ctr" indent="0" marL="0">
              <a:buNone/>
            </a:pPr>
            <a:r>
              <a:rPr lang="en-US" sz="1000" i="1" dirty="0">
                <a:solidFill>
                  <a:srgbClr val="000000"/>
                </a:solidFill>
                <a:latin typeface="Calibri" pitchFamily="34" charset="0"/>
                <a:ea typeface="Calibri" pitchFamily="34" charset="-122"/>
                <a:cs typeface="Calibri" pitchFamily="34" charset="-120"/>
              </a:rPr>
              <a:t>Info_UserData.csv chưa có tín hiệu nào kiến trúc DPA-KT hiện tại cần (short_paper_final.pdf, Mục IV) - liên kết uuid vẫn tồn tại về mặt cấu trúc, chỉ chưa dùng đến.</a:t>
            </a:r>
            <a:endParaRPr lang="en-US" sz="1000" dirty="0"/>
          </a:p>
        </p:txBody>
      </p:sp>
      <p:sp>
        <p:nvSpPr>
          <p:cNvPr id="18" name="Text 1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sơ đồ liên kết file</a:t>
            </a:r>
            <a:endParaRPr lang="en-US" sz="1000" dirty="0"/>
          </a:p>
        </p:txBody>
      </p:sp>
      <p:sp>
        <p:nvSpPr>
          <p:cNvPr id="19" name="Text 1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33</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43000" cy="384048"/>
          </a:xfrm>
          <a:prstGeom prst="roundRect">
            <a:avLst>
              <a:gd name="adj" fmla="val 19048"/>
            </a:avLst>
          </a:prstGeom>
          <a:solidFill>
            <a:srgbClr val="4A3AA7"/>
          </a:solidFill>
          <a:ln/>
        </p:spPr>
      </p:sp>
      <p:sp>
        <p:nvSpPr>
          <p:cNvPr id="3" name="Text 1"/>
          <p:cNvSpPr/>
          <p:nvPr/>
        </p:nvSpPr>
        <p:spPr>
          <a:xfrm>
            <a:off x="548640" y="384048"/>
            <a:ext cx="1143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junyi</a:t>
            </a:r>
            <a:endParaRPr lang="en-US" sz="1300" dirty="0"/>
          </a:p>
        </p:txBody>
      </p:sp>
      <p:sp>
        <p:nvSpPr>
          <p:cNvPr id="4" name="Text 2"/>
          <p:cNvSpPr/>
          <p:nvPr/>
        </p:nvSpPr>
        <p:spPr>
          <a:xfrm>
            <a:off x="1920240" y="310896"/>
            <a:ext cx="539496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Log_Problem.csv (phần 1/2)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1/3 của Junyi Academy · 14 cột · 3020.8 MB · Nguồn: mục 4.1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201168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timestamp_TW</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điểm làm bài (giờ Đài Loan)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2019-05-26 21:00:00 UTC</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2019-05-01 21:15:00 UTC</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2019-05-25 11:30:00 UTC</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uuid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 (ẩn danh, đã băm)</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FLy+lviglNR5Y1l0Xiijnl6QHySBcpKHJLCtQ6ogm2Q=</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nShzEWP6fhcIm0VtzvFWrWeKZGyvY5QdBdgcFpmdGI0=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Hlb8EIiIDMBr3aYCxFS8kUCSWXIasEJ9+sx6D0qN1dE=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ucid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luyện tập/khái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KDOmuTrY/IJzDP4kIgIYCBiGyTymsJ8Iy4cDB35WGYg=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ZcwX8fZUrnZDOsvBOPux3Oaf1viIG83MNe5frh0jnQw=</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5ZJ5qSJYX6dsa9HODIJqoF60NnmdmYfFjBKCus7D7og=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graphicFrame>
        <p:nvGraphicFramePr>
          <p:cNvPr id="69"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201168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upid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tập cụ thể trong 1 exercise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Vbs92l4JmdiWkUEm/iahxnUTaac2oN1IlUtXB7JcfoE=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hkb4Gw5E1h59qypzQnhDyLTkkXOVgYt6HwaTw1FoToA=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Usk0M+wYc9nMF3rmxydgBma9Q3cqPDxn/zHPgcqNF7k=</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problem_number</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thứ tự bài trong exercise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exercise_problem_repeat_session</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Luyện tập giãn cách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graphicFrame>
        <p:nvGraphicFramePr>
          <p:cNvPr id="103"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201168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is_correct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True=đúng, False=sai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total_sec_taken</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Response-time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total_attempt_cnt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Log_Problem.csv (phần 1/2)</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34</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43000" cy="384048"/>
          </a:xfrm>
          <a:prstGeom prst="roundRect">
            <a:avLst>
              <a:gd name="adj" fmla="val 19048"/>
            </a:avLst>
          </a:prstGeom>
          <a:solidFill>
            <a:srgbClr val="4A3AA7"/>
          </a:solidFill>
          <a:ln/>
        </p:spPr>
      </p:sp>
      <p:sp>
        <p:nvSpPr>
          <p:cNvPr id="3" name="Text 1"/>
          <p:cNvSpPr/>
          <p:nvPr/>
        </p:nvSpPr>
        <p:spPr>
          <a:xfrm>
            <a:off x="548640" y="384048"/>
            <a:ext cx="1143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junyi</a:t>
            </a:r>
            <a:endParaRPr lang="en-US" sz="1300" dirty="0"/>
          </a:p>
        </p:txBody>
      </p:sp>
      <p:sp>
        <p:nvSpPr>
          <p:cNvPr id="4" name="Text 2"/>
          <p:cNvSpPr/>
          <p:nvPr/>
        </p:nvSpPr>
        <p:spPr>
          <a:xfrm>
            <a:off x="1920240" y="310896"/>
            <a:ext cx="539496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Log_Problem.csv (phần 2/2)</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1/3 của Junyi Academy · 14 cột · 3020.8 MB · Nguồn: mục 4.1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301752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used_hint_cnt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is_hint_used</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is_downgrade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Tín hiệu thích ứng độ khó</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is_upgrade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Tín hiệu thích ứng độ khó</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True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level</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Tín hiệu thích ứng độ khó</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Log_Problem.csv (phần 2/2)</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35</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43000" cy="384048"/>
          </a:xfrm>
          <a:prstGeom prst="roundRect">
            <a:avLst>
              <a:gd name="adj" fmla="val 19048"/>
            </a:avLst>
          </a:prstGeom>
          <a:solidFill>
            <a:srgbClr val="4A3AA7"/>
          </a:solidFill>
          <a:ln/>
        </p:spPr>
      </p:sp>
      <p:sp>
        <p:nvSpPr>
          <p:cNvPr id="3" name="Text 1"/>
          <p:cNvSpPr/>
          <p:nvPr/>
        </p:nvSpPr>
        <p:spPr>
          <a:xfrm>
            <a:off x="548640" y="384048"/>
            <a:ext cx="1143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junyi</a:t>
            </a:r>
            <a:endParaRPr lang="en-US" sz="1300" dirty="0"/>
          </a:p>
        </p:txBody>
      </p:sp>
      <p:sp>
        <p:nvSpPr>
          <p:cNvPr id="4" name="Text 2"/>
          <p:cNvSpPr/>
          <p:nvPr/>
        </p:nvSpPr>
        <p:spPr>
          <a:xfrm>
            <a:off x="1920240" y="310896"/>
            <a:ext cx="539496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Info_UserData.csv</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2/3 của Junyi Academy · 12 cột · 6.4 MB · Nguồn: mục 4.1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sp>
        <p:nvSpPr>
          <p:cNvPr id="12" name="Shape 10"/>
          <p:cNvSpPr/>
          <p:nvPr/>
        </p:nvSpPr>
        <p:spPr>
          <a:xfrm>
            <a:off x="548640" y="1133856"/>
            <a:ext cx="11091672" cy="365760"/>
          </a:xfrm>
          <a:prstGeom prst="roundRect">
            <a:avLst>
              <a:gd name="adj" fmla="val 10000"/>
            </a:avLst>
          </a:prstGeom>
          <a:solidFill>
            <a:srgbClr val="EEF0F7"/>
          </a:solidFill>
          <a:ln w="9525">
            <a:solidFill>
              <a:srgbClr val="E3E7F1"/>
            </a:solidFill>
            <a:prstDash val="solid"/>
          </a:ln>
        </p:spPr>
      </p:sp>
      <p:sp>
        <p:nvSpPr>
          <p:cNvPr id="13" name="Text 11"/>
          <p:cNvSpPr/>
          <p:nvPr/>
        </p:nvSpPr>
        <p:spPr>
          <a:xfrm>
            <a:off x="685800" y="1133856"/>
            <a:ext cx="10881360"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File này không cung cấp tín hiệu cần cho kiến trúc DPA-KT hiện tại (short_paper_final.pdf, Mục IV) - có thể là hướng mở rộng (đặc trưng nhân khẩu học) cho nghiên cứu sau này.</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5417820" cy="352044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uuid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 (ẩn danh, đã băm)</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Y2RcCdmUJAYPUAIDElo4nE9KrkLLFzUIRdexG+ipaZQ=</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lw/Rchfvl9q1UDaQRmeE6QJDJeXAK7nt56RvUvqxD/8=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ncVYyCw3osV77X9M+4NbI7LvBR5UiB4ix6Ca+baQArA=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gender</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giới tính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points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điểm tích lũy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18300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6468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4703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badges_cnt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huy hiệu đã đạt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first_login_date_TW</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ngày đăng nhập lần đầu</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2019-01-24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2019-01-24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2019-01-24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user_grade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khối lớp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73" name="Table 1"/>
          <p:cNvGraphicFramePr>
            <a:graphicFrameLocks noGrp="1"/>
          </p:cNvGraphicFramePr>
          <p:nvPr>
            <p:extLst>
              <p:ext uri="{D42A27DB-BD31-4B8C-83A1-F6EECF244321}">
                <p14:modId xmlns:p14="http://schemas.microsoft.com/office/powerpoint/2010/main" val="1579011935"/>
              </p:ext>
            </p:extLst>
          </p:nvPr>
        </p:nvGraphicFramePr>
        <p:xfrm>
          <a:off x="6222492" y="1627632"/>
          <a:ext cx="5417820" cy="352044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user_city</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thành phố</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ntpc</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tp</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has_teacher_cnt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giáo viên đang theo dõi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is_self_coach</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học sinh tự học, không giáo viên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False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has_student_cnt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học sinh đang được kèm (nếu là coach)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belongs_to_class_cnt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lớp học sinh tham gia</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has_class_cnt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lớp học sinh sở hữu/quản lý</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16" name="Text 12"/>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Info_UserData.csv</a:t>
            </a:r>
            <a:endParaRPr lang="en-US" sz="1000" dirty="0"/>
          </a:p>
        </p:txBody>
      </p:sp>
      <p:sp>
        <p:nvSpPr>
          <p:cNvPr id="17" name="Text 13"/>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36</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43000" cy="384048"/>
          </a:xfrm>
          <a:prstGeom prst="roundRect">
            <a:avLst>
              <a:gd name="adj" fmla="val 19048"/>
            </a:avLst>
          </a:prstGeom>
          <a:solidFill>
            <a:srgbClr val="4A3AA7"/>
          </a:solidFill>
          <a:ln/>
        </p:spPr>
      </p:sp>
      <p:sp>
        <p:nvSpPr>
          <p:cNvPr id="3" name="Text 1"/>
          <p:cNvSpPr/>
          <p:nvPr/>
        </p:nvSpPr>
        <p:spPr>
          <a:xfrm>
            <a:off x="548640" y="384048"/>
            <a:ext cx="1143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junyi</a:t>
            </a:r>
            <a:endParaRPr lang="en-US" sz="1300" dirty="0"/>
          </a:p>
        </p:txBody>
      </p:sp>
      <p:sp>
        <p:nvSpPr>
          <p:cNvPr id="4" name="Text 2"/>
          <p:cNvSpPr/>
          <p:nvPr/>
        </p:nvSpPr>
        <p:spPr>
          <a:xfrm>
            <a:off x="1920240" y="310896"/>
            <a:ext cx="539496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Info_Content.csv</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3/3 của Junyi Academy · 10 cột · 0.4 MB · Nguồn: mục 4.1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251460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ucid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bài luyện tập/khái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odIwFdIiecFwVUAEEV40K3MSuCSlIZkbq92Zp9tkZq8=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dfeeBaa8zDhWS6nu7zeXKwLyi4zqEajI3tJM9/fSBPM=</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C2AT0OBTUn+PRxEVd39enhW/DJtka1Tk90DUAR6yVdA=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content_pretty_name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hiển thị bài luyện tập</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【基礎】怎樣解題：數量關係</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【基礎】和差問題 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【基礎】雞兔問題 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content_kind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loại nội dung (Exercise...)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Exercise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Exercise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Exercise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difficulty</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mức độ khó (easy/normal/hard)</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easy</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easy</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easy</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graphicFrame>
        <p:nvGraphicFramePr>
          <p:cNvPr id="75"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251460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subject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Ngữ cảnh bổ sung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math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math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math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learning_stage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Ngữ cảnh bổ sung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elementary</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elementary</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elementary</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level1_id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cây kiến thức cấp 1</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aH0Dz0KdH9gio7rrcGRHvrmd9vcd/0WJbeEFB7qeUKA=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aH0Dz0KdH9gio7rrcGRHvrmd9vcd/0WJbeEFB7qeUKA=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aH0Dz0KdH9gio7rrcGRHvrmd9vcd/0WJbeEFB7qeUKA=</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level2_id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cây kiến thức cấp 2</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ICgke8JJv5eapCPwyj1aco8PEtoBkUbTZYIqxmYtqBk=</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ICgke8JJv5eapCPwyj1aco8PEtoBkUbTZYIqxmYtqBk=</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ICgke8JJv5eapCPwyj1aco8PEtoBkUbTZYIqxmYtqBk=</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graphicFrame>
        <p:nvGraphicFramePr>
          <p:cNvPr id="112"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150876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level3_id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cây kiến thức cấp 3</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bo3jsx1beVLEZ+2sckxdZNYnlLpVS7hb5lWU2baQ66k=</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bo3jsx1beVLEZ+2sckxdZNYnlLpVS7hb5lWU2baQ66k=</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bo3jsx1beVLEZ+2sckxdZNYnlLpVS7hb5lWU2baQ66k=</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level4_id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cây kiến thức cấp 4</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KPJMQebU0O24+NzlQ4udb2BXLlKV1Hte61+hV5Xb+oU=</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KPJMQebU0O24+NzlQ4udb2BXLlKV1Hte61+hV5Xb+oU=</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KPJMQebU0O24+NzlQ4udb2BXLlKV1Hte61+hV5Xb+oU=</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Info_Content.csv</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37</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43000" cy="384048"/>
          </a:xfrm>
          <a:prstGeom prst="roundRect">
            <a:avLst>
              <a:gd name="adj" fmla="val 19048"/>
            </a:avLst>
          </a:prstGeom>
          <a:solidFill>
            <a:srgbClr val="4A3AA7"/>
          </a:solidFill>
          <a:ln/>
        </p:spPr>
      </p:sp>
      <p:sp>
        <p:nvSpPr>
          <p:cNvPr id="3" name="Text 1"/>
          <p:cNvSpPr/>
          <p:nvPr/>
        </p:nvSpPr>
        <p:spPr>
          <a:xfrm>
            <a:off x="548640" y="384048"/>
            <a:ext cx="1143000"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junyi</a:t>
            </a:r>
            <a:endParaRPr lang="en-US" sz="1300" dirty="0"/>
          </a:p>
        </p:txBody>
      </p:sp>
      <p:sp>
        <p:nvSpPr>
          <p:cNvPr id="4" name="Text 2"/>
          <p:cNvSpPr/>
          <p:nvPr/>
        </p:nvSpPr>
        <p:spPr>
          <a:xfrm>
            <a:off x="1920240" y="310896"/>
            <a:ext cx="868680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Vì sao các cột này được chọn cho DPA-KT</a:t>
            </a:r>
            <a:endParaRPr lang="en-US" sz="1900" dirty="0"/>
          </a:p>
        </p:txBody>
      </p:sp>
      <p:sp>
        <p:nvSpPr>
          <p:cNvPr id="5" name="Text 3"/>
          <p:cNvSpPr/>
          <p:nvPr/>
        </p:nvSpPr>
        <p:spPr>
          <a:xfrm>
            <a:off x="548640" y="859536"/>
            <a:ext cx="108813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Junyi Academy  ·  Dựa trên kiến trúc short_paper_final.pdf, Mục IV</a:t>
            </a:r>
            <a:endParaRPr lang="en-US" sz="1050" dirty="0"/>
          </a:p>
        </p:txBody>
      </p:sp>
      <p:sp>
        <p:nvSpPr>
          <p:cNvPr id="6" name="Text 4"/>
          <p:cNvSpPr/>
          <p:nvPr/>
        </p:nvSpPr>
        <p:spPr>
          <a:xfrm>
            <a:off x="548640" y="1298448"/>
            <a:ext cx="4206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5 TRƯỜNG LÕI  ·  Module 1 + định nghĩa bài toán</a:t>
            </a:r>
            <a:endParaRPr lang="en-US" sz="1100" dirty="0"/>
          </a:p>
        </p:txBody>
      </p:sp>
      <p:sp>
        <p:nvSpPr>
          <p:cNvPr id="7" name="Text 5"/>
          <p:cNvSpPr/>
          <p:nvPr/>
        </p:nvSpPr>
        <p:spPr>
          <a:xfrm>
            <a:off x="548640" y="1609344"/>
            <a:ext cx="4206240" cy="10515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Mọi kiến trúc KT (kể cả DPA-KT) cần tối thiểu chuỗi tương tác S_T = {(q_t, r_t)} và tập KC C: input bắt buộc cho "interaction context" ở Module 1, và để đọc/ghi đúng KC trong mastery memory M ở Module 1 &amp; 3.</a:t>
            </a:r>
            <a:endParaRPr lang="en-US" sz="105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4206240" cy="2743200"/>
        </p:xfrm>
        <a:graphic>
          <a:graphicData uri="http://schemas.openxmlformats.org/drawingml/2006/table">
            <a:tbl>
              <a:tblPr/>
              <a:tblGrid>
                <a:gridCol w="1682496"/>
                <a:gridCol w="2523744"/>
              </a:tblGrid>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Học sinh (student)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uuid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Câu hỏi (q_t)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upid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Khái niệm (KC, tập 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ucid (metadata đầy đủ ở Info_Content.csv)</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Đúng/sai (r_t)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is_correct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Thời gian / thứ tự</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timestamp_TW (thời gian thực)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9" name="Text 6"/>
          <p:cNvSpPr/>
          <p:nvPr/>
        </p:nvSpPr>
        <p:spPr>
          <a:xfrm>
            <a:off x="548640" y="5586984"/>
            <a:ext cx="4206240" cy="365760"/>
          </a:xfrm>
          <a:prstGeom prst="rect">
            <a:avLst/>
          </a:prstGeom>
          <a:noFill/>
          <a:ln/>
        </p:spPr>
        <p:txBody>
          <a:bodyPr wrap="square" lIns="0" tIns="0" rIns="0" bIns="0" rtlCol="0" anchor="ctr"/>
          <a:lstStyle/>
          <a:p>
            <a:pPr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mục 4.1 &amp; 4.2 notebook (đúng các cột dùng để tính thống kê/vẽ biểu đồ).</a:t>
            </a:r>
            <a:endParaRPr lang="en-US" sz="1000" dirty="0"/>
          </a:p>
        </p:txBody>
      </p:sp>
      <p:sp>
        <p:nvSpPr>
          <p:cNvPr id="10" name="Text 7"/>
          <p:cNvSpPr/>
          <p:nvPr/>
        </p:nvSpPr>
        <p:spPr>
          <a:xfrm>
            <a:off x="5029200" y="1298448"/>
            <a:ext cx="6611112"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CỘT KHUYẾN NGHỊ THÊM  ·  nguyên lý/module tương ứng trong DPA-KT</a:t>
            </a:r>
            <a:endParaRPr lang="en-US" sz="1100" dirty="0"/>
          </a:p>
        </p:txBody>
      </p:sp>
      <p:sp>
        <p:nvSpPr>
          <p:cNvPr id="11" name="Shape 8"/>
          <p:cNvSpPr/>
          <p:nvPr/>
        </p:nvSpPr>
        <p:spPr>
          <a:xfrm>
            <a:off x="5029200" y="1627632"/>
            <a:ext cx="3232404" cy="1833372"/>
          </a:xfrm>
          <a:prstGeom prst="roundRect">
            <a:avLst>
              <a:gd name="adj" fmla="val 2494"/>
            </a:avLst>
          </a:prstGeom>
          <a:solidFill>
            <a:srgbClr val="FBE8B8"/>
          </a:solidFill>
          <a:ln w="9525">
            <a:solidFill>
              <a:srgbClr val="C9891A"/>
            </a:solidFill>
            <a:prstDash val="solid"/>
          </a:ln>
        </p:spPr>
      </p:sp>
      <p:sp>
        <p:nvSpPr>
          <p:cNvPr id="12" name="Text 9"/>
          <p:cNvSpPr/>
          <p:nvPr/>
        </p:nvSpPr>
        <p:spPr>
          <a:xfrm>
            <a:off x="5175504"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Response-time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Cơ sở cho operator temporal pooling ở Module 2 - pool đúng các tương tác GẦN NHẤT theo thời gian khi xây dựng pattern; cũng là tín hiệu bổ sung cho Module 1.</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total_sec_taken</a:t>
            </a:r>
            <a:endParaRPr lang="en-US" sz="1200" dirty="0"/>
          </a:p>
        </p:txBody>
      </p:sp>
      <p:sp>
        <p:nvSpPr>
          <p:cNvPr id="13" name="Shape 10"/>
          <p:cNvSpPr/>
          <p:nvPr/>
        </p:nvSpPr>
        <p:spPr>
          <a:xfrm>
            <a:off x="8407908" y="1627632"/>
            <a:ext cx="3232404" cy="1833372"/>
          </a:xfrm>
          <a:prstGeom prst="roundRect">
            <a:avLst>
              <a:gd name="adj" fmla="val 2494"/>
            </a:avLst>
          </a:prstGeom>
          <a:solidFill>
            <a:srgbClr val="FBE8B8"/>
          </a:solidFill>
          <a:ln w="9525">
            <a:solidFill>
              <a:srgbClr val="C9891A"/>
            </a:solidFill>
            <a:prstDash val="solid"/>
          </a:ln>
        </p:spPr>
      </p:sp>
      <p:sp>
        <p:nvSpPr>
          <p:cNvPr id="14" name="Text 11"/>
          <p:cNvSpPr/>
          <p:nvPr/>
        </p:nvSpPr>
        <p:spPr>
          <a:xfrm>
            <a:off x="8554212"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Guess/Slip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cho nguyên lý guessing and slipping ở Module 2: khi 1 pattern cùng KC/độ khó có phản hồi bất thường (đúng giữa chuỗi sai, hoặc ngược lại), pattern được điều chỉnh để hấp thụ khả năng đoán mò/lỡ tay.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total_attempt_cnt, used_hint_cnt, is_hint_used</a:t>
            </a:r>
            <a:endParaRPr lang="en-US" sz="1200" dirty="0"/>
          </a:p>
        </p:txBody>
      </p:sp>
      <p:sp>
        <p:nvSpPr>
          <p:cNvPr id="15" name="Shape 12"/>
          <p:cNvSpPr/>
          <p:nvPr/>
        </p:nvSpPr>
        <p:spPr>
          <a:xfrm>
            <a:off x="5029200" y="3607308"/>
            <a:ext cx="3232404" cy="1833372"/>
          </a:xfrm>
          <a:prstGeom prst="roundRect">
            <a:avLst>
              <a:gd name="adj" fmla="val 2494"/>
            </a:avLst>
          </a:prstGeom>
          <a:solidFill>
            <a:srgbClr val="FBE8B8"/>
          </a:solidFill>
          <a:ln w="9525">
            <a:solidFill>
              <a:srgbClr val="C9891A"/>
            </a:solidFill>
            <a:prstDash val="solid"/>
          </a:ln>
        </p:spPr>
      </p:sp>
      <p:sp>
        <p:nvSpPr>
          <p:cNvPr id="16" name="Text 13"/>
          <p:cNvSpPr/>
          <p:nvPr/>
        </p:nvSpPr>
        <p:spPr>
          <a:xfrm>
            <a:off x="5175504" y="3698748"/>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Tín hiệu thích ứng độ khó</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gián tiếp về mức thành thạo do hệ thống tự đánh giá - tín hiệu giám sát bổ sung tiềm năng cho Module 3 (Mastery State Tracking), dù chưa phải input chính thức trong 4 module hiện tại.</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is_downgrade, is_upgrade, level</a:t>
            </a:r>
            <a:endParaRPr lang="en-US" sz="1200" dirty="0"/>
          </a:p>
        </p:txBody>
      </p:sp>
      <p:sp>
        <p:nvSpPr>
          <p:cNvPr id="17" name="Shape 14"/>
          <p:cNvSpPr/>
          <p:nvPr/>
        </p:nvSpPr>
        <p:spPr>
          <a:xfrm>
            <a:off x="8407908" y="3607308"/>
            <a:ext cx="3232404" cy="1833372"/>
          </a:xfrm>
          <a:prstGeom prst="roundRect">
            <a:avLst>
              <a:gd name="adj" fmla="val 2494"/>
            </a:avLst>
          </a:prstGeom>
          <a:solidFill>
            <a:srgbClr val="FBE8B8"/>
          </a:solidFill>
          <a:ln w="9525">
            <a:solidFill>
              <a:srgbClr val="C9891A"/>
            </a:solidFill>
            <a:prstDash val="solid"/>
          </a:ln>
        </p:spPr>
      </p:sp>
      <p:sp>
        <p:nvSpPr>
          <p:cNvPr id="18" name="Text 15"/>
          <p:cNvSpPr/>
          <p:nvPr/>
        </p:nvSpPr>
        <p:spPr>
          <a:xfrm>
            <a:off x="8554212" y="3698748"/>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Luyện tập giãn cách</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Liên quan operator same-KC pooling ở Module 2 (pool mọi tương tác cùng 1 KC) - số lần luyện lại ảnh hưởng trực tiếp tới nội dung pattern loại này.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exercise_problem_repeat_session</a:t>
            </a:r>
            <a:endParaRPr lang="en-US" sz="1200" dirty="0"/>
          </a:p>
        </p:txBody>
      </p:sp>
      <p:sp>
        <p:nvSpPr>
          <p:cNvPr id="19" name="Shape 16"/>
          <p:cNvSpPr/>
          <p:nvPr/>
        </p:nvSpPr>
        <p:spPr>
          <a:xfrm>
            <a:off x="5029200" y="5586984"/>
            <a:ext cx="3232404" cy="1156716"/>
          </a:xfrm>
          <a:prstGeom prst="roundRect">
            <a:avLst>
              <a:gd name="adj" fmla="val 3953"/>
            </a:avLst>
          </a:prstGeom>
          <a:solidFill>
            <a:srgbClr val="FBE8B8"/>
          </a:solidFill>
          <a:ln w="9525">
            <a:solidFill>
              <a:srgbClr val="C9891A"/>
            </a:solidFill>
            <a:prstDash val="solid"/>
          </a:ln>
        </p:spPr>
      </p:sp>
      <p:sp>
        <p:nvSpPr>
          <p:cNvPr id="20" name="Text 17"/>
          <p:cNvSpPr/>
          <p:nvPr/>
        </p:nvSpPr>
        <p:spPr>
          <a:xfrm>
            <a:off x="5175504" y="5678424"/>
            <a:ext cx="2939796" cy="973836"/>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Ngữ cảnh bổ sung</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Metadata ngữ cảnh không map trực tiếp vào module nào hiện tại - hướng mở rộng tương lai, không phải input bắt buộc.</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subject, learning_stage</a:t>
            </a:r>
            <a:endParaRPr lang="en-US" sz="1200" dirty="0"/>
          </a:p>
        </p:txBody>
      </p:sp>
      <p:sp>
        <p:nvSpPr>
          <p:cNvPr id="21" name="Text 18"/>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vì sao chọn cột này</a:t>
            </a:r>
            <a:endParaRPr lang="en-US" sz="1000" dirty="0"/>
          </a:p>
        </p:txBody>
      </p:sp>
      <p:sp>
        <p:nvSpPr>
          <p:cNvPr id="22" name="Text 19"/>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KC · junyi  ·  Nguồn: mục 4.1 notebook</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Cây khái niệm (KC) có sẵn trong dữ liệu thô</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Cây phân cấp khái niệm (KC) này CÓ SẴN trong metadata thô, không suy ra từ thống kê. Ở mỗi cấp, ngoài khái niệm đang đi theo (viền đậm) còn hiển thị các khái niệm "anh em" thật cùng cấp, rồi tới câu hỏi/bài tập thật gắn với khái niệm cuối cùng.</a:t>
            </a:r>
            <a:endParaRPr lang="en-US" sz="1150" dirty="0"/>
          </a:p>
        </p:txBody>
      </p:sp>
      <p:sp>
        <p:nvSpPr>
          <p:cNvPr id="5" name="Shape 3"/>
          <p:cNvSpPr/>
          <p:nvPr/>
        </p:nvSpPr>
        <p:spPr>
          <a:xfrm flipV="1">
            <a:off x="1752461" y="2468279"/>
            <a:ext cx="1373436" cy="1159155"/>
          </a:xfrm>
          <a:prstGeom prst="line">
            <a:avLst/>
          </a:prstGeom>
          <a:noFill/>
          <a:ln w="15875">
            <a:solidFill>
              <a:srgbClr val="4A3AA7"/>
            </a:solidFill>
            <a:prstDash val="solid"/>
            <a:headEnd type="none"/>
            <a:tailEnd type="triangle"/>
          </a:ln>
        </p:spPr>
      </p:sp>
      <p:sp>
        <p:nvSpPr>
          <p:cNvPr id="6" name="Shape 4"/>
          <p:cNvSpPr/>
          <p:nvPr/>
        </p:nvSpPr>
        <p:spPr>
          <a:xfrm flipV="1">
            <a:off x="1825038" y="3412612"/>
            <a:ext cx="1250055" cy="351675"/>
          </a:xfrm>
          <a:prstGeom prst="line">
            <a:avLst/>
          </a:prstGeom>
          <a:noFill/>
          <a:ln w="15875">
            <a:solidFill>
              <a:srgbClr val="4A3AA7"/>
            </a:solidFill>
            <a:prstDash val="solid"/>
            <a:headEnd type="none"/>
            <a:tailEnd type="triangle"/>
          </a:ln>
        </p:spPr>
      </p:sp>
      <p:sp>
        <p:nvSpPr>
          <p:cNvPr id="7" name="Shape 5"/>
          <p:cNvSpPr/>
          <p:nvPr/>
        </p:nvSpPr>
        <p:spPr>
          <a:xfrm>
            <a:off x="1825038" y="3962393"/>
            <a:ext cx="1250055" cy="351675"/>
          </a:xfrm>
          <a:prstGeom prst="line">
            <a:avLst/>
          </a:prstGeom>
          <a:noFill/>
          <a:ln w="15875">
            <a:solidFill>
              <a:srgbClr val="4A3AA7"/>
            </a:solidFill>
            <a:prstDash val="solid"/>
            <a:headEnd type="none"/>
            <a:tailEnd type="triangle"/>
          </a:ln>
        </p:spPr>
      </p:sp>
      <p:sp>
        <p:nvSpPr>
          <p:cNvPr id="8" name="Shape 6"/>
          <p:cNvSpPr/>
          <p:nvPr/>
        </p:nvSpPr>
        <p:spPr>
          <a:xfrm>
            <a:off x="1752461" y="4099246"/>
            <a:ext cx="1373436" cy="1159155"/>
          </a:xfrm>
          <a:prstGeom prst="line">
            <a:avLst/>
          </a:prstGeom>
          <a:noFill/>
          <a:ln w="15875">
            <a:solidFill>
              <a:srgbClr val="4A3AA7"/>
            </a:solidFill>
            <a:prstDash val="solid"/>
            <a:headEnd type="none"/>
            <a:tailEnd type="triangle"/>
          </a:ln>
        </p:spPr>
      </p:sp>
      <p:sp>
        <p:nvSpPr>
          <p:cNvPr id="9" name="Shape 7"/>
          <p:cNvSpPr/>
          <p:nvPr/>
        </p:nvSpPr>
        <p:spPr>
          <a:xfrm>
            <a:off x="3577590" y="2303145"/>
            <a:ext cx="1336548" cy="914"/>
          </a:xfrm>
          <a:prstGeom prst="line">
            <a:avLst/>
          </a:prstGeom>
          <a:noFill/>
          <a:ln w="15875">
            <a:solidFill>
              <a:srgbClr val="4A3AA7"/>
            </a:solidFill>
            <a:prstDash val="solid"/>
            <a:headEnd type="none"/>
            <a:tailEnd type="triangle"/>
          </a:ln>
        </p:spPr>
      </p:sp>
      <p:sp>
        <p:nvSpPr>
          <p:cNvPr id="10" name="Shape 8"/>
          <p:cNvSpPr/>
          <p:nvPr/>
        </p:nvSpPr>
        <p:spPr>
          <a:xfrm>
            <a:off x="3544694" y="2428694"/>
            <a:ext cx="1402339" cy="789032"/>
          </a:xfrm>
          <a:prstGeom prst="line">
            <a:avLst/>
          </a:prstGeom>
          <a:noFill/>
          <a:ln w="15875">
            <a:solidFill>
              <a:srgbClr val="4A3AA7"/>
            </a:solidFill>
            <a:prstDash val="solid"/>
            <a:headEnd type="none"/>
            <a:tailEnd type="triangle"/>
          </a:ln>
        </p:spPr>
      </p:sp>
      <p:sp>
        <p:nvSpPr>
          <p:cNvPr id="11" name="Shape 9"/>
          <p:cNvSpPr/>
          <p:nvPr/>
        </p:nvSpPr>
        <p:spPr>
          <a:xfrm>
            <a:off x="3491630" y="2494529"/>
            <a:ext cx="1508467" cy="1697492"/>
          </a:xfrm>
          <a:prstGeom prst="line">
            <a:avLst/>
          </a:prstGeom>
          <a:noFill/>
          <a:ln w="15875">
            <a:solidFill>
              <a:srgbClr val="4A3AA7"/>
            </a:solidFill>
            <a:prstDash val="solid"/>
            <a:headEnd type="none"/>
            <a:tailEnd type="triangle"/>
          </a:ln>
        </p:spPr>
      </p:sp>
      <p:sp>
        <p:nvSpPr>
          <p:cNvPr id="12" name="Shape 10"/>
          <p:cNvSpPr/>
          <p:nvPr/>
        </p:nvSpPr>
        <p:spPr>
          <a:xfrm>
            <a:off x="3452057" y="2523423"/>
            <a:ext cx="1587614" cy="2679834"/>
          </a:xfrm>
          <a:prstGeom prst="line">
            <a:avLst/>
          </a:prstGeom>
          <a:noFill/>
          <a:ln w="15875">
            <a:solidFill>
              <a:srgbClr val="4A3AA7"/>
            </a:solidFill>
            <a:prstDash val="solid"/>
            <a:headEnd type="none"/>
            <a:tailEnd type="triangle"/>
          </a:ln>
        </p:spPr>
      </p:sp>
      <p:sp>
        <p:nvSpPr>
          <p:cNvPr id="13" name="Shape 11"/>
          <p:cNvSpPr/>
          <p:nvPr/>
        </p:nvSpPr>
        <p:spPr>
          <a:xfrm>
            <a:off x="5426202" y="2303145"/>
            <a:ext cx="1336548" cy="914"/>
          </a:xfrm>
          <a:prstGeom prst="line">
            <a:avLst/>
          </a:prstGeom>
          <a:noFill/>
          <a:ln w="15875">
            <a:solidFill>
              <a:srgbClr val="4A3AA7"/>
            </a:solidFill>
            <a:prstDash val="solid"/>
            <a:headEnd type="none"/>
            <a:tailEnd type="triangle"/>
          </a:ln>
        </p:spPr>
      </p:sp>
      <p:sp>
        <p:nvSpPr>
          <p:cNvPr id="14" name="Shape 12"/>
          <p:cNvSpPr/>
          <p:nvPr/>
        </p:nvSpPr>
        <p:spPr>
          <a:xfrm>
            <a:off x="5393306" y="2428694"/>
            <a:ext cx="1402339" cy="789032"/>
          </a:xfrm>
          <a:prstGeom prst="line">
            <a:avLst/>
          </a:prstGeom>
          <a:noFill/>
          <a:ln w="15875">
            <a:solidFill>
              <a:srgbClr val="4A3AA7"/>
            </a:solidFill>
            <a:prstDash val="solid"/>
            <a:headEnd type="none"/>
            <a:tailEnd type="triangle"/>
          </a:ln>
        </p:spPr>
      </p:sp>
      <p:sp>
        <p:nvSpPr>
          <p:cNvPr id="15" name="Shape 13"/>
          <p:cNvSpPr/>
          <p:nvPr/>
        </p:nvSpPr>
        <p:spPr>
          <a:xfrm>
            <a:off x="5340242" y="2494529"/>
            <a:ext cx="1508467" cy="1697492"/>
          </a:xfrm>
          <a:prstGeom prst="line">
            <a:avLst/>
          </a:prstGeom>
          <a:noFill/>
          <a:ln w="15875">
            <a:solidFill>
              <a:srgbClr val="4A3AA7"/>
            </a:solidFill>
            <a:prstDash val="solid"/>
            <a:headEnd type="none"/>
            <a:tailEnd type="triangle"/>
          </a:ln>
        </p:spPr>
      </p:sp>
      <p:sp>
        <p:nvSpPr>
          <p:cNvPr id="16" name="Shape 14"/>
          <p:cNvSpPr/>
          <p:nvPr/>
        </p:nvSpPr>
        <p:spPr>
          <a:xfrm>
            <a:off x="5300669" y="2523423"/>
            <a:ext cx="1587614" cy="2679834"/>
          </a:xfrm>
          <a:prstGeom prst="line">
            <a:avLst/>
          </a:prstGeom>
          <a:noFill/>
          <a:ln w="15875">
            <a:solidFill>
              <a:srgbClr val="4A3AA7"/>
            </a:solidFill>
            <a:prstDash val="solid"/>
            <a:headEnd type="none"/>
            <a:tailEnd type="triangle"/>
          </a:ln>
        </p:spPr>
      </p:sp>
      <p:sp>
        <p:nvSpPr>
          <p:cNvPr id="17" name="Shape 15"/>
          <p:cNvSpPr/>
          <p:nvPr/>
        </p:nvSpPr>
        <p:spPr>
          <a:xfrm>
            <a:off x="7274814" y="2303145"/>
            <a:ext cx="1336548" cy="914"/>
          </a:xfrm>
          <a:prstGeom prst="line">
            <a:avLst/>
          </a:prstGeom>
          <a:noFill/>
          <a:ln w="15875">
            <a:solidFill>
              <a:srgbClr val="4A3AA7"/>
            </a:solidFill>
            <a:prstDash val="solid"/>
            <a:headEnd type="none"/>
            <a:tailEnd type="triangle"/>
          </a:ln>
        </p:spPr>
      </p:sp>
      <p:sp>
        <p:nvSpPr>
          <p:cNvPr id="18" name="Shape 16"/>
          <p:cNvSpPr/>
          <p:nvPr/>
        </p:nvSpPr>
        <p:spPr>
          <a:xfrm>
            <a:off x="7241918" y="2428694"/>
            <a:ext cx="1402339" cy="789032"/>
          </a:xfrm>
          <a:prstGeom prst="line">
            <a:avLst/>
          </a:prstGeom>
          <a:noFill/>
          <a:ln w="15875">
            <a:solidFill>
              <a:srgbClr val="4A3AA7"/>
            </a:solidFill>
            <a:prstDash val="solid"/>
            <a:headEnd type="none"/>
            <a:tailEnd type="triangle"/>
          </a:ln>
        </p:spPr>
      </p:sp>
      <p:sp>
        <p:nvSpPr>
          <p:cNvPr id="19" name="Shape 17"/>
          <p:cNvSpPr/>
          <p:nvPr/>
        </p:nvSpPr>
        <p:spPr>
          <a:xfrm>
            <a:off x="7188854" y="2494529"/>
            <a:ext cx="1508467" cy="1697492"/>
          </a:xfrm>
          <a:prstGeom prst="line">
            <a:avLst/>
          </a:prstGeom>
          <a:noFill/>
          <a:ln w="15875">
            <a:solidFill>
              <a:srgbClr val="4A3AA7"/>
            </a:solidFill>
            <a:prstDash val="solid"/>
            <a:headEnd type="none"/>
            <a:tailEnd type="triangle"/>
          </a:ln>
        </p:spPr>
      </p:sp>
      <p:sp>
        <p:nvSpPr>
          <p:cNvPr id="20" name="Shape 18"/>
          <p:cNvSpPr/>
          <p:nvPr/>
        </p:nvSpPr>
        <p:spPr>
          <a:xfrm>
            <a:off x="7149281" y="2523423"/>
            <a:ext cx="1587614" cy="2679834"/>
          </a:xfrm>
          <a:prstGeom prst="line">
            <a:avLst/>
          </a:prstGeom>
          <a:noFill/>
          <a:ln w="15875">
            <a:solidFill>
              <a:srgbClr val="4A3AA7"/>
            </a:solidFill>
            <a:prstDash val="solid"/>
            <a:headEnd type="none"/>
            <a:tailEnd type="triangle"/>
          </a:ln>
        </p:spPr>
      </p:sp>
      <p:sp>
        <p:nvSpPr>
          <p:cNvPr id="21" name="Shape 19"/>
          <p:cNvSpPr/>
          <p:nvPr/>
        </p:nvSpPr>
        <p:spPr>
          <a:xfrm flipV="1">
            <a:off x="9122308" y="2149426"/>
            <a:ext cx="1384305" cy="129814"/>
          </a:xfrm>
          <a:prstGeom prst="line">
            <a:avLst/>
          </a:prstGeom>
          <a:noFill/>
          <a:ln w="12700">
            <a:solidFill>
              <a:srgbClr val="9CA3AF"/>
            </a:solidFill>
            <a:prstDash val="dash"/>
            <a:headEnd type="none"/>
            <a:tailEnd type="triangle"/>
          </a:ln>
        </p:spPr>
      </p:sp>
      <p:sp>
        <p:nvSpPr>
          <p:cNvPr id="22" name="Shape 20"/>
          <p:cNvSpPr/>
          <p:nvPr/>
        </p:nvSpPr>
        <p:spPr>
          <a:xfrm>
            <a:off x="9113858" y="2372482"/>
            <a:ext cx="1399695" cy="393772"/>
          </a:xfrm>
          <a:prstGeom prst="line">
            <a:avLst/>
          </a:prstGeom>
          <a:noFill/>
          <a:ln w="12700">
            <a:solidFill>
              <a:srgbClr val="9CA3AF"/>
            </a:solidFill>
            <a:prstDash val="dash"/>
            <a:headEnd type="none"/>
            <a:tailEnd type="triangle"/>
          </a:ln>
        </p:spPr>
      </p:sp>
      <p:sp>
        <p:nvSpPr>
          <p:cNvPr id="23" name="Shape 21"/>
          <p:cNvSpPr/>
          <p:nvPr/>
        </p:nvSpPr>
        <p:spPr>
          <a:xfrm>
            <a:off x="9081431" y="2443646"/>
            <a:ext cx="1458758" cy="957573"/>
          </a:xfrm>
          <a:prstGeom prst="line">
            <a:avLst/>
          </a:prstGeom>
          <a:noFill/>
          <a:ln w="12700">
            <a:solidFill>
              <a:srgbClr val="9CA3AF"/>
            </a:solidFill>
            <a:prstDash val="dash"/>
            <a:headEnd type="none"/>
            <a:tailEnd type="triangle"/>
          </a:ln>
        </p:spPr>
      </p:sp>
      <p:sp>
        <p:nvSpPr>
          <p:cNvPr id="24" name="Shape 22"/>
          <p:cNvSpPr/>
          <p:nvPr/>
        </p:nvSpPr>
        <p:spPr>
          <a:xfrm>
            <a:off x="9045604" y="2486975"/>
            <a:ext cx="1524015" cy="1572072"/>
          </a:xfrm>
          <a:prstGeom prst="line">
            <a:avLst/>
          </a:prstGeom>
          <a:noFill/>
          <a:ln w="12700">
            <a:solidFill>
              <a:srgbClr val="9CA3AF"/>
            </a:solidFill>
            <a:prstDash val="dash"/>
            <a:headEnd type="none"/>
            <a:tailEnd type="triangle"/>
          </a:ln>
        </p:spPr>
      </p:sp>
      <p:sp>
        <p:nvSpPr>
          <p:cNvPr id="25" name="Shape 23"/>
          <p:cNvSpPr/>
          <p:nvPr/>
        </p:nvSpPr>
        <p:spPr>
          <a:xfrm>
            <a:off x="9015744" y="2511819"/>
            <a:ext cx="1578404" cy="2220240"/>
          </a:xfrm>
          <a:prstGeom prst="line">
            <a:avLst/>
          </a:prstGeom>
          <a:noFill/>
          <a:ln w="12700">
            <a:solidFill>
              <a:srgbClr val="9CA3AF"/>
            </a:solidFill>
            <a:prstDash val="dash"/>
            <a:headEnd type="none"/>
            <a:tailEnd type="triangle"/>
          </a:ln>
        </p:spPr>
      </p:sp>
      <p:sp>
        <p:nvSpPr>
          <p:cNvPr id="26" name="Shape 24"/>
          <p:cNvSpPr/>
          <p:nvPr/>
        </p:nvSpPr>
        <p:spPr>
          <a:xfrm>
            <a:off x="8992704" y="2526415"/>
            <a:ext cx="1620368" cy="2887074"/>
          </a:xfrm>
          <a:prstGeom prst="line">
            <a:avLst/>
          </a:prstGeom>
          <a:noFill/>
          <a:ln w="12700">
            <a:solidFill>
              <a:srgbClr val="9CA3AF"/>
            </a:solidFill>
            <a:prstDash val="dash"/>
            <a:headEnd type="none"/>
            <a:tailEnd type="triangle"/>
          </a:ln>
        </p:spPr>
      </p:sp>
      <p:sp>
        <p:nvSpPr>
          <p:cNvPr id="27" name="Shape 25"/>
          <p:cNvSpPr/>
          <p:nvPr/>
        </p:nvSpPr>
        <p:spPr>
          <a:xfrm>
            <a:off x="1107186" y="3497580"/>
            <a:ext cx="731520" cy="731520"/>
          </a:xfrm>
          <a:prstGeom prst="ellipse">
            <a:avLst/>
          </a:prstGeom>
          <a:solidFill>
            <a:srgbClr val="DBD8ED"/>
          </a:solidFill>
          <a:ln w="31750">
            <a:solidFill>
              <a:srgbClr val="4A3AA7"/>
            </a:solidFill>
            <a:prstDash val="solid"/>
          </a:ln>
        </p:spPr>
      </p:sp>
      <p:sp>
        <p:nvSpPr>
          <p:cNvPr id="28" name="Shape 26"/>
          <p:cNvSpPr/>
          <p:nvPr/>
        </p:nvSpPr>
        <p:spPr>
          <a:xfrm>
            <a:off x="617220" y="4274820"/>
            <a:ext cx="1711452" cy="384048"/>
          </a:xfrm>
          <a:prstGeom prst="rect">
            <a:avLst/>
          </a:prstGeom>
          <a:solidFill>
            <a:srgbClr val="FFFFFF"/>
          </a:solidFill>
          <a:ln/>
        </p:spPr>
      </p:sp>
      <p:sp>
        <p:nvSpPr>
          <p:cNvPr id="29" name="Text 27"/>
          <p:cNvSpPr/>
          <p:nvPr/>
        </p:nvSpPr>
        <p:spPr>
          <a:xfrm>
            <a:off x="617220" y="4274820"/>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aH0Dz0KdH9gio7rrcGRHvrm…</a:t>
            </a:r>
            <a:endParaRPr lang="en-US" sz="1000" dirty="0"/>
          </a:p>
        </p:txBody>
      </p:sp>
      <p:sp>
        <p:nvSpPr>
          <p:cNvPr id="30" name="Shape 28"/>
          <p:cNvSpPr/>
          <p:nvPr/>
        </p:nvSpPr>
        <p:spPr>
          <a:xfrm>
            <a:off x="3065526" y="2047113"/>
            <a:ext cx="512064" cy="512064"/>
          </a:xfrm>
          <a:prstGeom prst="ellipse">
            <a:avLst/>
          </a:prstGeom>
          <a:solidFill>
            <a:srgbClr val="DBD8ED"/>
          </a:solidFill>
          <a:ln w="31750">
            <a:solidFill>
              <a:srgbClr val="4A3AA7"/>
            </a:solidFill>
            <a:prstDash val="solid"/>
          </a:ln>
        </p:spPr>
      </p:sp>
      <p:sp>
        <p:nvSpPr>
          <p:cNvPr id="31" name="Shape 29"/>
          <p:cNvSpPr/>
          <p:nvPr/>
        </p:nvSpPr>
        <p:spPr>
          <a:xfrm>
            <a:off x="2465832" y="2604897"/>
            <a:ext cx="1711452" cy="384048"/>
          </a:xfrm>
          <a:prstGeom prst="rect">
            <a:avLst/>
          </a:prstGeom>
          <a:solidFill>
            <a:srgbClr val="FFFFFF"/>
          </a:solidFill>
          <a:ln/>
        </p:spPr>
      </p:sp>
      <p:sp>
        <p:nvSpPr>
          <p:cNvPr id="32" name="Text 30"/>
          <p:cNvSpPr/>
          <p:nvPr/>
        </p:nvSpPr>
        <p:spPr>
          <a:xfrm>
            <a:off x="2465832"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7f73q332BKPBXaixasa4EkU…</a:t>
            </a:r>
            <a:endParaRPr lang="en-US" sz="1000" dirty="0"/>
          </a:p>
        </p:txBody>
      </p:sp>
      <p:sp>
        <p:nvSpPr>
          <p:cNvPr id="33" name="Shape 31"/>
          <p:cNvSpPr/>
          <p:nvPr/>
        </p:nvSpPr>
        <p:spPr>
          <a:xfrm>
            <a:off x="3065526" y="3087243"/>
            <a:ext cx="512064" cy="512064"/>
          </a:xfrm>
          <a:prstGeom prst="ellipse">
            <a:avLst/>
          </a:prstGeom>
          <a:solidFill>
            <a:srgbClr val="DBD8ED"/>
          </a:solidFill>
          <a:ln w="19050">
            <a:solidFill>
              <a:srgbClr val="4A3AA7"/>
            </a:solidFill>
            <a:prstDash val="solid"/>
          </a:ln>
        </p:spPr>
      </p:sp>
      <p:sp>
        <p:nvSpPr>
          <p:cNvPr id="34" name="Shape 32"/>
          <p:cNvSpPr/>
          <p:nvPr/>
        </p:nvSpPr>
        <p:spPr>
          <a:xfrm>
            <a:off x="2465832" y="3645027"/>
            <a:ext cx="1711452" cy="384048"/>
          </a:xfrm>
          <a:prstGeom prst="rect">
            <a:avLst/>
          </a:prstGeom>
          <a:solidFill>
            <a:srgbClr val="FFFFFF"/>
          </a:solidFill>
          <a:ln/>
        </p:spPr>
      </p:sp>
      <p:sp>
        <p:nvSpPr>
          <p:cNvPr id="35" name="Text 33"/>
          <p:cNvSpPr/>
          <p:nvPr/>
        </p:nvSpPr>
        <p:spPr>
          <a:xfrm>
            <a:off x="2465832"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2YwsqJH0U7Zguyun1OaStQs…</a:t>
            </a:r>
            <a:endParaRPr lang="en-US" sz="1000" dirty="0"/>
          </a:p>
        </p:txBody>
      </p:sp>
      <p:sp>
        <p:nvSpPr>
          <p:cNvPr id="36" name="Shape 34"/>
          <p:cNvSpPr/>
          <p:nvPr/>
        </p:nvSpPr>
        <p:spPr>
          <a:xfrm>
            <a:off x="3065526" y="4127373"/>
            <a:ext cx="512064" cy="512064"/>
          </a:xfrm>
          <a:prstGeom prst="ellipse">
            <a:avLst/>
          </a:prstGeom>
          <a:solidFill>
            <a:srgbClr val="DBD8ED"/>
          </a:solidFill>
          <a:ln w="19050">
            <a:solidFill>
              <a:srgbClr val="4A3AA7"/>
            </a:solidFill>
            <a:prstDash val="solid"/>
          </a:ln>
        </p:spPr>
      </p:sp>
      <p:sp>
        <p:nvSpPr>
          <p:cNvPr id="37" name="Shape 35"/>
          <p:cNvSpPr/>
          <p:nvPr/>
        </p:nvSpPr>
        <p:spPr>
          <a:xfrm>
            <a:off x="2465832" y="4685157"/>
            <a:ext cx="1711452" cy="384048"/>
          </a:xfrm>
          <a:prstGeom prst="rect">
            <a:avLst/>
          </a:prstGeom>
          <a:solidFill>
            <a:srgbClr val="FFFFFF"/>
          </a:solidFill>
          <a:ln/>
        </p:spPr>
      </p:sp>
      <p:sp>
        <p:nvSpPr>
          <p:cNvPr id="38" name="Text 36"/>
          <p:cNvSpPr/>
          <p:nvPr/>
        </p:nvSpPr>
        <p:spPr>
          <a:xfrm>
            <a:off x="2465832"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rzRcsBurW8jbUhivGAdZozP…</a:t>
            </a:r>
            <a:endParaRPr lang="en-US" sz="1000" dirty="0"/>
          </a:p>
        </p:txBody>
      </p:sp>
      <p:sp>
        <p:nvSpPr>
          <p:cNvPr id="39" name="Shape 37"/>
          <p:cNvSpPr/>
          <p:nvPr/>
        </p:nvSpPr>
        <p:spPr>
          <a:xfrm>
            <a:off x="3065526" y="5167503"/>
            <a:ext cx="512064" cy="512064"/>
          </a:xfrm>
          <a:prstGeom prst="ellipse">
            <a:avLst/>
          </a:prstGeom>
          <a:solidFill>
            <a:srgbClr val="DBD8ED"/>
          </a:solidFill>
          <a:ln w="19050">
            <a:solidFill>
              <a:srgbClr val="4A3AA7"/>
            </a:solidFill>
            <a:prstDash val="solid"/>
          </a:ln>
        </p:spPr>
      </p:sp>
      <p:sp>
        <p:nvSpPr>
          <p:cNvPr id="40" name="Shape 38"/>
          <p:cNvSpPr/>
          <p:nvPr/>
        </p:nvSpPr>
        <p:spPr>
          <a:xfrm>
            <a:off x="2465832" y="5725287"/>
            <a:ext cx="1711452" cy="384048"/>
          </a:xfrm>
          <a:prstGeom prst="rect">
            <a:avLst/>
          </a:prstGeom>
          <a:solidFill>
            <a:srgbClr val="FFFFFF"/>
          </a:solidFill>
          <a:ln/>
        </p:spPr>
      </p:sp>
      <p:sp>
        <p:nvSpPr>
          <p:cNvPr id="41" name="Text 39"/>
          <p:cNvSpPr/>
          <p:nvPr/>
        </p:nvSpPr>
        <p:spPr>
          <a:xfrm>
            <a:off x="2465832"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5Np4fxxPeBgmNpeEOcXqarZ…</a:t>
            </a:r>
            <a:endParaRPr lang="en-US" sz="1000" dirty="0"/>
          </a:p>
        </p:txBody>
      </p:sp>
      <p:sp>
        <p:nvSpPr>
          <p:cNvPr id="42" name="Shape 40"/>
          <p:cNvSpPr/>
          <p:nvPr/>
        </p:nvSpPr>
        <p:spPr>
          <a:xfrm>
            <a:off x="4914138" y="2047113"/>
            <a:ext cx="512064" cy="512064"/>
          </a:xfrm>
          <a:prstGeom prst="ellipse">
            <a:avLst/>
          </a:prstGeom>
          <a:solidFill>
            <a:srgbClr val="DBD8ED"/>
          </a:solidFill>
          <a:ln w="31750">
            <a:solidFill>
              <a:srgbClr val="4A3AA7"/>
            </a:solidFill>
            <a:prstDash val="solid"/>
          </a:ln>
        </p:spPr>
      </p:sp>
      <p:sp>
        <p:nvSpPr>
          <p:cNvPr id="43" name="Shape 41"/>
          <p:cNvSpPr/>
          <p:nvPr/>
        </p:nvSpPr>
        <p:spPr>
          <a:xfrm>
            <a:off x="4314444" y="2604897"/>
            <a:ext cx="1711452" cy="384048"/>
          </a:xfrm>
          <a:prstGeom prst="rect">
            <a:avLst/>
          </a:prstGeom>
          <a:solidFill>
            <a:srgbClr val="FFFFFF"/>
          </a:solidFill>
          <a:ln/>
        </p:spPr>
      </p:sp>
      <p:sp>
        <p:nvSpPr>
          <p:cNvPr id="44" name="Text 42"/>
          <p:cNvSpPr/>
          <p:nvPr/>
        </p:nvSpPr>
        <p:spPr>
          <a:xfrm>
            <a:off x="4314444"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scsWmkZsfmdmD2IzB24sQ1A…</a:t>
            </a:r>
            <a:endParaRPr lang="en-US" sz="1000" dirty="0"/>
          </a:p>
        </p:txBody>
      </p:sp>
      <p:sp>
        <p:nvSpPr>
          <p:cNvPr id="45" name="Shape 43"/>
          <p:cNvSpPr/>
          <p:nvPr/>
        </p:nvSpPr>
        <p:spPr>
          <a:xfrm>
            <a:off x="4914138" y="3087243"/>
            <a:ext cx="512064" cy="512064"/>
          </a:xfrm>
          <a:prstGeom prst="ellipse">
            <a:avLst/>
          </a:prstGeom>
          <a:solidFill>
            <a:srgbClr val="DBD8ED"/>
          </a:solidFill>
          <a:ln w="19050">
            <a:solidFill>
              <a:srgbClr val="4A3AA7"/>
            </a:solidFill>
            <a:prstDash val="solid"/>
          </a:ln>
        </p:spPr>
      </p:sp>
      <p:sp>
        <p:nvSpPr>
          <p:cNvPr id="46" name="Shape 44"/>
          <p:cNvSpPr/>
          <p:nvPr/>
        </p:nvSpPr>
        <p:spPr>
          <a:xfrm>
            <a:off x="4314444" y="3645027"/>
            <a:ext cx="1711452" cy="384048"/>
          </a:xfrm>
          <a:prstGeom prst="rect">
            <a:avLst/>
          </a:prstGeom>
          <a:solidFill>
            <a:srgbClr val="FFFFFF"/>
          </a:solidFill>
          <a:ln/>
        </p:spPr>
      </p:sp>
      <p:sp>
        <p:nvSpPr>
          <p:cNvPr id="47" name="Text 45"/>
          <p:cNvSpPr/>
          <p:nvPr/>
        </p:nvSpPr>
        <p:spPr>
          <a:xfrm>
            <a:off x="4314444"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3fgcSGTzD9uuOjoB5R7onIy…</a:t>
            </a:r>
            <a:endParaRPr lang="en-US" sz="1000" dirty="0"/>
          </a:p>
        </p:txBody>
      </p:sp>
      <p:sp>
        <p:nvSpPr>
          <p:cNvPr id="48" name="Shape 46"/>
          <p:cNvSpPr/>
          <p:nvPr/>
        </p:nvSpPr>
        <p:spPr>
          <a:xfrm>
            <a:off x="4914138" y="4127373"/>
            <a:ext cx="512064" cy="512064"/>
          </a:xfrm>
          <a:prstGeom prst="ellipse">
            <a:avLst/>
          </a:prstGeom>
          <a:solidFill>
            <a:srgbClr val="DBD8ED"/>
          </a:solidFill>
          <a:ln w="19050">
            <a:solidFill>
              <a:srgbClr val="4A3AA7"/>
            </a:solidFill>
            <a:prstDash val="solid"/>
          </a:ln>
        </p:spPr>
      </p:sp>
      <p:sp>
        <p:nvSpPr>
          <p:cNvPr id="49" name="Shape 47"/>
          <p:cNvSpPr/>
          <p:nvPr/>
        </p:nvSpPr>
        <p:spPr>
          <a:xfrm>
            <a:off x="4314444" y="4685157"/>
            <a:ext cx="1711452" cy="384048"/>
          </a:xfrm>
          <a:prstGeom prst="rect">
            <a:avLst/>
          </a:prstGeom>
          <a:solidFill>
            <a:srgbClr val="FFFFFF"/>
          </a:solidFill>
          <a:ln/>
        </p:spPr>
      </p:sp>
      <p:sp>
        <p:nvSpPr>
          <p:cNvPr id="50" name="Text 48"/>
          <p:cNvSpPr/>
          <p:nvPr/>
        </p:nvSpPr>
        <p:spPr>
          <a:xfrm>
            <a:off x="4314444"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a2w4FdOiBsy7t1fsstano3r…</a:t>
            </a:r>
            <a:endParaRPr lang="en-US" sz="1000" dirty="0"/>
          </a:p>
        </p:txBody>
      </p:sp>
      <p:sp>
        <p:nvSpPr>
          <p:cNvPr id="51" name="Shape 49"/>
          <p:cNvSpPr/>
          <p:nvPr/>
        </p:nvSpPr>
        <p:spPr>
          <a:xfrm>
            <a:off x="4914138" y="5167503"/>
            <a:ext cx="512064" cy="512064"/>
          </a:xfrm>
          <a:prstGeom prst="ellipse">
            <a:avLst/>
          </a:prstGeom>
          <a:solidFill>
            <a:srgbClr val="DBD8ED"/>
          </a:solidFill>
          <a:ln w="19050">
            <a:solidFill>
              <a:srgbClr val="4A3AA7"/>
            </a:solidFill>
            <a:prstDash val="solid"/>
          </a:ln>
        </p:spPr>
      </p:sp>
      <p:sp>
        <p:nvSpPr>
          <p:cNvPr id="52" name="Shape 50"/>
          <p:cNvSpPr/>
          <p:nvPr/>
        </p:nvSpPr>
        <p:spPr>
          <a:xfrm>
            <a:off x="4314444" y="5725287"/>
            <a:ext cx="1711452" cy="384048"/>
          </a:xfrm>
          <a:prstGeom prst="rect">
            <a:avLst/>
          </a:prstGeom>
          <a:solidFill>
            <a:srgbClr val="FFFFFF"/>
          </a:solidFill>
          <a:ln/>
        </p:spPr>
      </p:sp>
      <p:sp>
        <p:nvSpPr>
          <p:cNvPr id="53" name="Text 51"/>
          <p:cNvSpPr/>
          <p:nvPr/>
        </p:nvSpPr>
        <p:spPr>
          <a:xfrm>
            <a:off x="4314444"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31v13N8GN4hIUpg1IsMv4DV…</a:t>
            </a:r>
            <a:endParaRPr lang="en-US" sz="1000" dirty="0"/>
          </a:p>
        </p:txBody>
      </p:sp>
      <p:sp>
        <p:nvSpPr>
          <p:cNvPr id="54" name="Shape 52"/>
          <p:cNvSpPr/>
          <p:nvPr/>
        </p:nvSpPr>
        <p:spPr>
          <a:xfrm>
            <a:off x="6762750" y="2047113"/>
            <a:ext cx="512064" cy="512064"/>
          </a:xfrm>
          <a:prstGeom prst="ellipse">
            <a:avLst/>
          </a:prstGeom>
          <a:solidFill>
            <a:srgbClr val="DBD8ED"/>
          </a:solidFill>
          <a:ln w="31750">
            <a:solidFill>
              <a:srgbClr val="4A3AA7"/>
            </a:solidFill>
            <a:prstDash val="solid"/>
          </a:ln>
        </p:spPr>
      </p:sp>
      <p:sp>
        <p:nvSpPr>
          <p:cNvPr id="55" name="Shape 53"/>
          <p:cNvSpPr/>
          <p:nvPr/>
        </p:nvSpPr>
        <p:spPr>
          <a:xfrm>
            <a:off x="6163056" y="2604897"/>
            <a:ext cx="1711452" cy="384048"/>
          </a:xfrm>
          <a:prstGeom prst="rect">
            <a:avLst/>
          </a:prstGeom>
          <a:solidFill>
            <a:srgbClr val="FFFFFF"/>
          </a:solidFill>
          <a:ln/>
        </p:spPr>
      </p:sp>
      <p:sp>
        <p:nvSpPr>
          <p:cNvPr id="56" name="Text 54"/>
          <p:cNvSpPr/>
          <p:nvPr/>
        </p:nvSpPr>
        <p:spPr>
          <a:xfrm>
            <a:off x="6163056"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hq6uCe9NmtCc+0wlbGGIsxe…</a:t>
            </a:r>
            <a:endParaRPr lang="en-US" sz="1000" dirty="0"/>
          </a:p>
        </p:txBody>
      </p:sp>
      <p:sp>
        <p:nvSpPr>
          <p:cNvPr id="57" name="Shape 55"/>
          <p:cNvSpPr/>
          <p:nvPr/>
        </p:nvSpPr>
        <p:spPr>
          <a:xfrm>
            <a:off x="6762750" y="3087243"/>
            <a:ext cx="512064" cy="512064"/>
          </a:xfrm>
          <a:prstGeom prst="ellipse">
            <a:avLst/>
          </a:prstGeom>
          <a:solidFill>
            <a:srgbClr val="DBD8ED"/>
          </a:solidFill>
          <a:ln w="19050">
            <a:solidFill>
              <a:srgbClr val="4A3AA7"/>
            </a:solidFill>
            <a:prstDash val="solid"/>
          </a:ln>
        </p:spPr>
      </p:sp>
      <p:sp>
        <p:nvSpPr>
          <p:cNvPr id="58" name="Shape 56"/>
          <p:cNvSpPr/>
          <p:nvPr/>
        </p:nvSpPr>
        <p:spPr>
          <a:xfrm>
            <a:off x="6163056" y="3645027"/>
            <a:ext cx="1711452" cy="384048"/>
          </a:xfrm>
          <a:prstGeom prst="rect">
            <a:avLst/>
          </a:prstGeom>
          <a:solidFill>
            <a:srgbClr val="FFFFFF"/>
          </a:solidFill>
          <a:ln/>
        </p:spPr>
      </p:sp>
      <p:sp>
        <p:nvSpPr>
          <p:cNvPr id="59" name="Text 57"/>
          <p:cNvSpPr/>
          <p:nvPr/>
        </p:nvSpPr>
        <p:spPr>
          <a:xfrm>
            <a:off x="6163056"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J4b52SaGP1y17dY4j2kb8C4…</a:t>
            </a:r>
            <a:endParaRPr lang="en-US" sz="1000" dirty="0"/>
          </a:p>
        </p:txBody>
      </p:sp>
      <p:sp>
        <p:nvSpPr>
          <p:cNvPr id="60" name="Shape 58"/>
          <p:cNvSpPr/>
          <p:nvPr/>
        </p:nvSpPr>
        <p:spPr>
          <a:xfrm>
            <a:off x="6762750" y="4127373"/>
            <a:ext cx="512064" cy="512064"/>
          </a:xfrm>
          <a:prstGeom prst="ellipse">
            <a:avLst/>
          </a:prstGeom>
          <a:solidFill>
            <a:srgbClr val="DBD8ED"/>
          </a:solidFill>
          <a:ln w="19050">
            <a:solidFill>
              <a:srgbClr val="4A3AA7"/>
            </a:solidFill>
            <a:prstDash val="solid"/>
          </a:ln>
        </p:spPr>
      </p:sp>
      <p:sp>
        <p:nvSpPr>
          <p:cNvPr id="61" name="Shape 59"/>
          <p:cNvSpPr/>
          <p:nvPr/>
        </p:nvSpPr>
        <p:spPr>
          <a:xfrm>
            <a:off x="6163056" y="4685157"/>
            <a:ext cx="1711452" cy="384048"/>
          </a:xfrm>
          <a:prstGeom prst="rect">
            <a:avLst/>
          </a:prstGeom>
          <a:solidFill>
            <a:srgbClr val="FFFFFF"/>
          </a:solidFill>
          <a:ln/>
        </p:spPr>
      </p:sp>
      <p:sp>
        <p:nvSpPr>
          <p:cNvPr id="62" name="Text 60"/>
          <p:cNvSpPr/>
          <p:nvPr/>
        </p:nvSpPr>
        <p:spPr>
          <a:xfrm>
            <a:off x="6163056"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lYX6KfVh+HrIzb8gG63LrQ7…</a:t>
            </a:r>
            <a:endParaRPr lang="en-US" sz="1000" dirty="0"/>
          </a:p>
        </p:txBody>
      </p:sp>
      <p:sp>
        <p:nvSpPr>
          <p:cNvPr id="63" name="Shape 61"/>
          <p:cNvSpPr/>
          <p:nvPr/>
        </p:nvSpPr>
        <p:spPr>
          <a:xfrm>
            <a:off x="6762750" y="5167503"/>
            <a:ext cx="512064" cy="512064"/>
          </a:xfrm>
          <a:prstGeom prst="ellipse">
            <a:avLst/>
          </a:prstGeom>
          <a:solidFill>
            <a:srgbClr val="DBD8ED"/>
          </a:solidFill>
          <a:ln w="19050">
            <a:solidFill>
              <a:srgbClr val="4A3AA7"/>
            </a:solidFill>
            <a:prstDash val="solid"/>
          </a:ln>
        </p:spPr>
      </p:sp>
      <p:sp>
        <p:nvSpPr>
          <p:cNvPr id="64" name="Shape 62"/>
          <p:cNvSpPr/>
          <p:nvPr/>
        </p:nvSpPr>
        <p:spPr>
          <a:xfrm>
            <a:off x="6163056" y="5725287"/>
            <a:ext cx="1711452" cy="384048"/>
          </a:xfrm>
          <a:prstGeom prst="rect">
            <a:avLst/>
          </a:prstGeom>
          <a:solidFill>
            <a:srgbClr val="FFFFFF"/>
          </a:solidFill>
          <a:ln/>
        </p:spPr>
      </p:sp>
      <p:sp>
        <p:nvSpPr>
          <p:cNvPr id="65" name="Text 63"/>
          <p:cNvSpPr/>
          <p:nvPr/>
        </p:nvSpPr>
        <p:spPr>
          <a:xfrm>
            <a:off x="6163056"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QveDXHYtspe3tNggjIr6cNo…</a:t>
            </a:r>
            <a:endParaRPr lang="en-US" sz="1000" dirty="0"/>
          </a:p>
        </p:txBody>
      </p:sp>
      <p:sp>
        <p:nvSpPr>
          <p:cNvPr id="66" name="Shape 64"/>
          <p:cNvSpPr/>
          <p:nvPr/>
        </p:nvSpPr>
        <p:spPr>
          <a:xfrm>
            <a:off x="8611362" y="2047113"/>
            <a:ext cx="512064" cy="512064"/>
          </a:xfrm>
          <a:prstGeom prst="ellipse">
            <a:avLst/>
          </a:prstGeom>
          <a:solidFill>
            <a:srgbClr val="DBD8ED"/>
          </a:solidFill>
          <a:ln w="31750">
            <a:solidFill>
              <a:srgbClr val="4A3AA7"/>
            </a:solidFill>
            <a:prstDash val="solid"/>
          </a:ln>
        </p:spPr>
      </p:sp>
      <p:sp>
        <p:nvSpPr>
          <p:cNvPr id="67" name="Shape 65"/>
          <p:cNvSpPr/>
          <p:nvPr/>
        </p:nvSpPr>
        <p:spPr>
          <a:xfrm>
            <a:off x="8011668" y="2604897"/>
            <a:ext cx="1711452" cy="384048"/>
          </a:xfrm>
          <a:prstGeom prst="rect">
            <a:avLst/>
          </a:prstGeom>
          <a:solidFill>
            <a:srgbClr val="FFFFFF"/>
          </a:solidFill>
          <a:ln/>
        </p:spPr>
      </p:sp>
      <p:sp>
        <p:nvSpPr>
          <p:cNvPr id="68" name="Text 66"/>
          <p:cNvSpPr/>
          <p:nvPr/>
        </p:nvSpPr>
        <p:spPr>
          <a:xfrm>
            <a:off x="8011668"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【基礎】一億以內的數綜合習題</a:t>
            </a:r>
            <a:endParaRPr lang="en-US" sz="1000" dirty="0"/>
          </a:p>
        </p:txBody>
      </p:sp>
      <p:sp>
        <p:nvSpPr>
          <p:cNvPr id="69" name="Shape 67"/>
          <p:cNvSpPr/>
          <p:nvPr/>
        </p:nvSpPr>
        <p:spPr>
          <a:xfrm>
            <a:off x="8611362" y="3087243"/>
            <a:ext cx="512064" cy="512064"/>
          </a:xfrm>
          <a:prstGeom prst="ellipse">
            <a:avLst/>
          </a:prstGeom>
          <a:solidFill>
            <a:srgbClr val="DBD8ED"/>
          </a:solidFill>
          <a:ln w="19050">
            <a:solidFill>
              <a:srgbClr val="4A3AA7"/>
            </a:solidFill>
            <a:prstDash val="solid"/>
          </a:ln>
        </p:spPr>
      </p:sp>
      <p:sp>
        <p:nvSpPr>
          <p:cNvPr id="70" name="Shape 68"/>
          <p:cNvSpPr/>
          <p:nvPr/>
        </p:nvSpPr>
        <p:spPr>
          <a:xfrm>
            <a:off x="8011668" y="3645027"/>
            <a:ext cx="1711452" cy="384048"/>
          </a:xfrm>
          <a:prstGeom prst="rect">
            <a:avLst/>
          </a:prstGeom>
          <a:solidFill>
            <a:srgbClr val="FFFFFF"/>
          </a:solidFill>
          <a:ln/>
        </p:spPr>
      </p:sp>
      <p:sp>
        <p:nvSpPr>
          <p:cNvPr id="71" name="Text 69"/>
          <p:cNvSpPr/>
          <p:nvPr/>
        </p:nvSpPr>
        <p:spPr>
          <a:xfrm>
            <a:off x="8011668"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【基礎】大數的加減</a:t>
            </a:r>
            <a:endParaRPr lang="en-US" sz="1000" dirty="0"/>
          </a:p>
        </p:txBody>
      </p:sp>
      <p:sp>
        <p:nvSpPr>
          <p:cNvPr id="72" name="Shape 70"/>
          <p:cNvSpPr/>
          <p:nvPr/>
        </p:nvSpPr>
        <p:spPr>
          <a:xfrm>
            <a:off x="8611362" y="4127373"/>
            <a:ext cx="512064" cy="512064"/>
          </a:xfrm>
          <a:prstGeom prst="ellipse">
            <a:avLst/>
          </a:prstGeom>
          <a:solidFill>
            <a:srgbClr val="DBD8ED"/>
          </a:solidFill>
          <a:ln w="19050">
            <a:solidFill>
              <a:srgbClr val="4A3AA7"/>
            </a:solidFill>
            <a:prstDash val="solid"/>
          </a:ln>
        </p:spPr>
      </p:sp>
      <p:sp>
        <p:nvSpPr>
          <p:cNvPr id="73" name="Shape 71"/>
          <p:cNvSpPr/>
          <p:nvPr/>
        </p:nvSpPr>
        <p:spPr>
          <a:xfrm>
            <a:off x="8011668" y="4685157"/>
            <a:ext cx="1711452" cy="384048"/>
          </a:xfrm>
          <a:prstGeom prst="rect">
            <a:avLst/>
          </a:prstGeom>
          <a:solidFill>
            <a:srgbClr val="FFFFFF"/>
          </a:solidFill>
          <a:ln/>
        </p:spPr>
      </p:sp>
      <p:sp>
        <p:nvSpPr>
          <p:cNvPr id="74" name="Text 72"/>
          <p:cNvSpPr/>
          <p:nvPr/>
        </p:nvSpPr>
        <p:spPr>
          <a:xfrm>
            <a:off x="8011668"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【基礎】十萬以內的數的大小比較 1</a:t>
            </a:r>
            <a:endParaRPr lang="en-US" sz="1000" dirty="0"/>
          </a:p>
        </p:txBody>
      </p:sp>
      <p:sp>
        <p:nvSpPr>
          <p:cNvPr id="75" name="Shape 73"/>
          <p:cNvSpPr/>
          <p:nvPr/>
        </p:nvSpPr>
        <p:spPr>
          <a:xfrm>
            <a:off x="8611362" y="5167503"/>
            <a:ext cx="512064" cy="512064"/>
          </a:xfrm>
          <a:prstGeom prst="ellipse">
            <a:avLst/>
          </a:prstGeom>
          <a:solidFill>
            <a:srgbClr val="DBD8ED"/>
          </a:solidFill>
          <a:ln w="19050">
            <a:solidFill>
              <a:srgbClr val="4A3AA7"/>
            </a:solidFill>
            <a:prstDash val="solid"/>
          </a:ln>
        </p:spPr>
      </p:sp>
      <p:sp>
        <p:nvSpPr>
          <p:cNvPr id="76" name="Shape 74"/>
          <p:cNvSpPr/>
          <p:nvPr/>
        </p:nvSpPr>
        <p:spPr>
          <a:xfrm>
            <a:off x="8011668" y="5725287"/>
            <a:ext cx="1711452" cy="384048"/>
          </a:xfrm>
          <a:prstGeom prst="rect">
            <a:avLst/>
          </a:prstGeom>
          <a:solidFill>
            <a:srgbClr val="FFFFFF"/>
          </a:solidFill>
          <a:ln/>
        </p:spPr>
      </p:sp>
      <p:sp>
        <p:nvSpPr>
          <p:cNvPr id="77" name="Text 75"/>
          <p:cNvSpPr/>
          <p:nvPr/>
        </p:nvSpPr>
        <p:spPr>
          <a:xfrm>
            <a:off x="8011668"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【基礎】十萬以內的數</a:t>
            </a:r>
            <a:endParaRPr lang="en-US" sz="1000" dirty="0"/>
          </a:p>
        </p:txBody>
      </p:sp>
      <p:sp>
        <p:nvSpPr>
          <p:cNvPr id="78" name="Shape 76"/>
          <p:cNvSpPr/>
          <p:nvPr/>
        </p:nvSpPr>
        <p:spPr>
          <a:xfrm>
            <a:off x="10505694" y="1919478"/>
            <a:ext cx="420624" cy="420624"/>
          </a:xfrm>
          <a:prstGeom prst="ellipse">
            <a:avLst/>
          </a:prstGeom>
          <a:solidFill>
            <a:srgbClr val="E1E3E6"/>
          </a:solidFill>
          <a:ln w="19050">
            <a:solidFill>
              <a:srgbClr val="6B7280"/>
            </a:solidFill>
            <a:prstDash val="solid"/>
          </a:ln>
        </p:spPr>
      </p:sp>
      <p:sp>
        <p:nvSpPr>
          <p:cNvPr id="79" name="Shape 77"/>
          <p:cNvSpPr/>
          <p:nvPr/>
        </p:nvSpPr>
        <p:spPr>
          <a:xfrm>
            <a:off x="9860280" y="2385822"/>
            <a:ext cx="1711452" cy="384048"/>
          </a:xfrm>
          <a:prstGeom prst="rect">
            <a:avLst/>
          </a:prstGeom>
          <a:solidFill>
            <a:srgbClr val="FFFFFF"/>
          </a:solidFill>
          <a:ln/>
        </p:spPr>
      </p:sp>
      <p:sp>
        <p:nvSpPr>
          <p:cNvPr id="80" name="Text 78"/>
          <p:cNvSpPr/>
          <p:nvPr/>
        </p:nvSpPr>
        <p:spPr>
          <a:xfrm>
            <a:off x="9860280" y="238582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R7hh9vKvTe3wAiT…</a:t>
            </a:r>
            <a:endParaRPr lang="en-US" sz="1000" dirty="0"/>
          </a:p>
        </p:txBody>
      </p:sp>
      <p:sp>
        <p:nvSpPr>
          <p:cNvPr id="81" name="Shape 79"/>
          <p:cNvSpPr/>
          <p:nvPr/>
        </p:nvSpPr>
        <p:spPr>
          <a:xfrm>
            <a:off x="10505694" y="2612898"/>
            <a:ext cx="420624" cy="420624"/>
          </a:xfrm>
          <a:prstGeom prst="ellipse">
            <a:avLst/>
          </a:prstGeom>
          <a:solidFill>
            <a:srgbClr val="E1E3E6"/>
          </a:solidFill>
          <a:ln w="19050">
            <a:solidFill>
              <a:srgbClr val="6B7280"/>
            </a:solidFill>
            <a:prstDash val="solid"/>
          </a:ln>
        </p:spPr>
      </p:sp>
      <p:sp>
        <p:nvSpPr>
          <p:cNvPr id="82" name="Shape 80"/>
          <p:cNvSpPr/>
          <p:nvPr/>
        </p:nvSpPr>
        <p:spPr>
          <a:xfrm>
            <a:off x="9860280" y="3079242"/>
            <a:ext cx="1711452" cy="384048"/>
          </a:xfrm>
          <a:prstGeom prst="rect">
            <a:avLst/>
          </a:prstGeom>
          <a:solidFill>
            <a:srgbClr val="FFFFFF"/>
          </a:solidFill>
          <a:ln/>
        </p:spPr>
      </p:sp>
      <p:sp>
        <p:nvSpPr>
          <p:cNvPr id="83" name="Text 81"/>
          <p:cNvSpPr/>
          <p:nvPr/>
        </p:nvSpPr>
        <p:spPr>
          <a:xfrm>
            <a:off x="9860280" y="307924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mbSyCc27NAScr13…</a:t>
            </a:r>
            <a:endParaRPr lang="en-US" sz="1000" dirty="0"/>
          </a:p>
        </p:txBody>
      </p:sp>
      <p:sp>
        <p:nvSpPr>
          <p:cNvPr id="84" name="Shape 82"/>
          <p:cNvSpPr/>
          <p:nvPr/>
        </p:nvSpPr>
        <p:spPr>
          <a:xfrm>
            <a:off x="10505694" y="3306318"/>
            <a:ext cx="420624" cy="420624"/>
          </a:xfrm>
          <a:prstGeom prst="ellipse">
            <a:avLst/>
          </a:prstGeom>
          <a:solidFill>
            <a:srgbClr val="E1E3E6"/>
          </a:solidFill>
          <a:ln w="19050">
            <a:solidFill>
              <a:srgbClr val="6B7280"/>
            </a:solidFill>
            <a:prstDash val="solid"/>
          </a:ln>
        </p:spPr>
      </p:sp>
      <p:sp>
        <p:nvSpPr>
          <p:cNvPr id="85" name="Shape 83"/>
          <p:cNvSpPr/>
          <p:nvPr/>
        </p:nvSpPr>
        <p:spPr>
          <a:xfrm>
            <a:off x="9860280" y="3772662"/>
            <a:ext cx="1711452" cy="384048"/>
          </a:xfrm>
          <a:prstGeom prst="rect">
            <a:avLst/>
          </a:prstGeom>
          <a:solidFill>
            <a:srgbClr val="FFFFFF"/>
          </a:solidFill>
          <a:ln/>
        </p:spPr>
      </p:sp>
      <p:sp>
        <p:nvSpPr>
          <p:cNvPr id="86" name="Text 84"/>
          <p:cNvSpPr/>
          <p:nvPr/>
        </p:nvSpPr>
        <p:spPr>
          <a:xfrm>
            <a:off x="9860280" y="377266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u7rWNEF3WnGv/I1…</a:t>
            </a:r>
            <a:endParaRPr lang="en-US" sz="1000" dirty="0"/>
          </a:p>
        </p:txBody>
      </p:sp>
      <p:sp>
        <p:nvSpPr>
          <p:cNvPr id="87" name="Shape 85"/>
          <p:cNvSpPr/>
          <p:nvPr/>
        </p:nvSpPr>
        <p:spPr>
          <a:xfrm>
            <a:off x="10505694" y="3999738"/>
            <a:ext cx="420624" cy="420624"/>
          </a:xfrm>
          <a:prstGeom prst="ellipse">
            <a:avLst/>
          </a:prstGeom>
          <a:solidFill>
            <a:srgbClr val="E1E3E6"/>
          </a:solidFill>
          <a:ln w="19050">
            <a:solidFill>
              <a:srgbClr val="6B7280"/>
            </a:solidFill>
            <a:prstDash val="solid"/>
          </a:ln>
        </p:spPr>
      </p:sp>
      <p:sp>
        <p:nvSpPr>
          <p:cNvPr id="88" name="Shape 86"/>
          <p:cNvSpPr/>
          <p:nvPr/>
        </p:nvSpPr>
        <p:spPr>
          <a:xfrm>
            <a:off x="9860280" y="4466082"/>
            <a:ext cx="1711452" cy="384048"/>
          </a:xfrm>
          <a:prstGeom prst="rect">
            <a:avLst/>
          </a:prstGeom>
          <a:solidFill>
            <a:srgbClr val="FFFFFF"/>
          </a:solidFill>
          <a:ln/>
        </p:spPr>
      </p:sp>
      <p:sp>
        <p:nvSpPr>
          <p:cNvPr id="89" name="Text 87"/>
          <p:cNvSpPr/>
          <p:nvPr/>
        </p:nvSpPr>
        <p:spPr>
          <a:xfrm>
            <a:off x="9860280" y="446608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oLSNWlK4+0Vn/mR…</a:t>
            </a:r>
            <a:endParaRPr lang="en-US" sz="1000" dirty="0"/>
          </a:p>
        </p:txBody>
      </p:sp>
      <p:sp>
        <p:nvSpPr>
          <p:cNvPr id="90" name="Shape 88"/>
          <p:cNvSpPr/>
          <p:nvPr/>
        </p:nvSpPr>
        <p:spPr>
          <a:xfrm>
            <a:off x="10505694" y="4693158"/>
            <a:ext cx="420624" cy="420624"/>
          </a:xfrm>
          <a:prstGeom prst="ellipse">
            <a:avLst/>
          </a:prstGeom>
          <a:solidFill>
            <a:srgbClr val="E1E3E6"/>
          </a:solidFill>
          <a:ln w="19050">
            <a:solidFill>
              <a:srgbClr val="6B7280"/>
            </a:solidFill>
            <a:prstDash val="solid"/>
          </a:ln>
        </p:spPr>
      </p:sp>
      <p:sp>
        <p:nvSpPr>
          <p:cNvPr id="91" name="Shape 89"/>
          <p:cNvSpPr/>
          <p:nvPr/>
        </p:nvSpPr>
        <p:spPr>
          <a:xfrm>
            <a:off x="9860280" y="5159502"/>
            <a:ext cx="1711452" cy="384048"/>
          </a:xfrm>
          <a:prstGeom prst="rect">
            <a:avLst/>
          </a:prstGeom>
          <a:solidFill>
            <a:srgbClr val="FFFFFF"/>
          </a:solidFill>
          <a:ln/>
        </p:spPr>
      </p:sp>
      <p:sp>
        <p:nvSpPr>
          <p:cNvPr id="92" name="Text 90"/>
          <p:cNvSpPr/>
          <p:nvPr/>
        </p:nvSpPr>
        <p:spPr>
          <a:xfrm>
            <a:off x="9860280" y="515950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Aq6eYRENlHwGH3x…</a:t>
            </a:r>
            <a:endParaRPr lang="en-US" sz="1000" dirty="0"/>
          </a:p>
        </p:txBody>
      </p:sp>
      <p:sp>
        <p:nvSpPr>
          <p:cNvPr id="93" name="Shape 91"/>
          <p:cNvSpPr/>
          <p:nvPr/>
        </p:nvSpPr>
        <p:spPr>
          <a:xfrm>
            <a:off x="10505694" y="5386578"/>
            <a:ext cx="420624" cy="420624"/>
          </a:xfrm>
          <a:prstGeom prst="ellipse">
            <a:avLst/>
          </a:prstGeom>
          <a:solidFill>
            <a:srgbClr val="E1E3E6"/>
          </a:solidFill>
          <a:ln w="19050">
            <a:solidFill>
              <a:srgbClr val="6B7280"/>
            </a:solidFill>
            <a:prstDash val="solid"/>
          </a:ln>
        </p:spPr>
      </p:sp>
      <p:sp>
        <p:nvSpPr>
          <p:cNvPr id="94" name="Shape 92"/>
          <p:cNvSpPr/>
          <p:nvPr/>
        </p:nvSpPr>
        <p:spPr>
          <a:xfrm>
            <a:off x="9860280" y="5852922"/>
            <a:ext cx="1711452" cy="384048"/>
          </a:xfrm>
          <a:prstGeom prst="rect">
            <a:avLst/>
          </a:prstGeom>
          <a:solidFill>
            <a:srgbClr val="FFFFFF"/>
          </a:solidFill>
          <a:ln/>
        </p:spPr>
      </p:sp>
      <p:sp>
        <p:nvSpPr>
          <p:cNvPr id="95" name="Text 93"/>
          <p:cNvSpPr/>
          <p:nvPr/>
        </p:nvSpPr>
        <p:spPr>
          <a:xfrm>
            <a:off x="9860280" y="585292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DN7ZhmZGSNMx76i…</a:t>
            </a:r>
            <a:endParaRPr lang="en-US" sz="1000" dirty="0"/>
          </a:p>
        </p:txBody>
      </p:sp>
      <p:sp>
        <p:nvSpPr>
          <p:cNvPr id="96" name="Text 94"/>
          <p:cNvSpPr/>
          <p:nvPr/>
        </p:nvSpPr>
        <p:spPr>
          <a:xfrm>
            <a:off x="548640" y="6236208"/>
            <a:ext cx="11091672"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Nhánh đang đi theo (viền đậm): aH0Dz0KdH9gio7rrcGRHvrmd9vcd/0WJbeEFB7qeUKA= → 7f73q332BKPBXaixasa4EkUb+pF6VAsLxNIg4506JJs= → scsWmkZsfmdmD2IzB24sQ1Au1BOXYgQEx9zO3+4glq8= → hq6uCe9NmtCc+0wlbGGIsxegP2cqYAdFebGd+v4/o8Q= → 【基礎】一億以內的數綜合習題</a:t>
            </a:r>
            <a:endParaRPr lang="en-US" sz="1000" dirty="0"/>
          </a:p>
        </p:txBody>
      </p:sp>
      <p:sp>
        <p:nvSpPr>
          <p:cNvPr id="97" name="Text 95"/>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sơ đồ KC ↔ câu hỏi</a:t>
            </a:r>
            <a:endParaRPr lang="en-US" sz="1000" dirty="0"/>
          </a:p>
        </p:txBody>
      </p:sp>
      <p:sp>
        <p:nvSpPr>
          <p:cNvPr id="98" name="Text 96"/>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39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143000" cy="402336"/>
          </a:xfrm>
          <a:prstGeom prst="roundRect">
            <a:avLst>
              <a:gd name="adj" fmla="val 18182"/>
            </a:avLst>
          </a:prstGeom>
          <a:solidFill>
            <a:srgbClr val="4A3AA7"/>
          </a:solidFill>
          <a:ln/>
        </p:spPr>
      </p:sp>
      <p:sp>
        <p:nvSpPr>
          <p:cNvPr id="3" name="Text 1"/>
          <p:cNvSpPr/>
          <p:nvPr/>
        </p:nvSpPr>
        <p:spPr>
          <a:xfrm>
            <a:off x="548640" y="384048"/>
            <a:ext cx="1143000"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junyi</a:t>
            </a:r>
            <a:endParaRPr lang="en-US" sz="1400" dirty="0"/>
          </a:p>
        </p:txBody>
      </p:sp>
      <p:sp>
        <p:nvSpPr>
          <p:cNvPr id="4" name="Text 2"/>
          <p:cNvSpPr/>
          <p:nvPr/>
        </p:nvSpPr>
        <p:spPr>
          <a:xfrm>
            <a:off x="1920240" y="329184"/>
            <a:ext cx="7772400" cy="457200"/>
          </a:xfrm>
          <a:prstGeom prst="rect">
            <a:avLst/>
          </a:prstGeom>
          <a:noFill/>
          <a:ln/>
        </p:spPr>
        <p:txBody>
          <a:bodyPr wrap="square" lIns="0" tIns="0" rIns="0" bIns="0" rtlCol="0" anchor="ctr"/>
          <a:lstStyle/>
          <a:p>
            <a:pPr indent="0" marL="0">
              <a:buNone/>
            </a:pPr>
            <a:r>
              <a:rPr lang="en-US" sz="2200" b="1" dirty="0">
                <a:solidFill>
                  <a:srgbClr val="000000"/>
                </a:solidFill>
                <a:latin typeface="Cambria" pitchFamily="34" charset="0"/>
                <a:ea typeface="Cambria" pitchFamily="34" charset="-122"/>
                <a:cs typeface="Cambria" pitchFamily="34" charset="-120"/>
              </a:rPr>
              <a:t>Junyi Academy</a:t>
            </a:r>
            <a:endParaRPr lang="en-US" sz="2200" dirty="0"/>
          </a:p>
        </p:txBody>
      </p:sp>
      <p:sp>
        <p:nvSpPr>
          <p:cNvPr id="5" name="Text 3"/>
          <p:cNvSpPr/>
          <p:nvPr/>
        </p:nvSpPr>
        <p:spPr>
          <a:xfrm>
            <a:off x="548640" y="896112"/>
            <a:ext cx="7315200"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Junyi Academy</a:t>
            </a:r>
            <a:endParaRPr lang="en-US" sz="1100" dirty="0"/>
          </a:p>
        </p:txBody>
      </p:sp>
      <p:sp>
        <p:nvSpPr>
          <p:cNvPr id="6" name="Text 4"/>
          <p:cNvSpPr/>
          <p:nvPr/>
        </p:nvSpPr>
        <p:spPr>
          <a:xfrm>
            <a:off x="548640" y="1371600"/>
            <a:ext cx="4251960" cy="256032"/>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CẤU TRÚC FILE  </a:t>
            </a:r>
            <a:pPr indent="0" marL="0">
              <a:buNone/>
            </a:pPr>
            <a:r>
              <a:rPr lang="en-US" sz="1000" i="1" dirty="0">
                <a:solidFill>
                  <a:srgbClr val="000000"/>
                </a:solidFill>
                <a:latin typeface="Calibri" pitchFamily="34" charset="0"/>
                <a:ea typeface="Calibri" pitchFamily="34" charset="-122"/>
                <a:cs typeface="Calibri" pitchFamily="34" charset="-120"/>
              </a:rPr>
              <a:t>· mục 4.1 notebook</a:t>
            </a:r>
            <a:endParaRPr lang="en-US" sz="1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51960" cy="1024128"/>
        </p:xfrm>
        <a:graphic>
          <a:graphicData uri="http://schemas.openxmlformats.org/drawingml/2006/table">
            <a:tbl>
              <a:tblPr/>
              <a:tblGrid>
                <a:gridCol w="2743200"/>
                <a:gridCol w="960120"/>
                <a:gridCol w="54864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Dòng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Log_Problem.csv  (log chính)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16,217,311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Info_UserData.csv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72,758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Info_Content.csv</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1,330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8" name="Text 5"/>
          <p:cNvSpPr/>
          <p:nvPr/>
        </p:nvSpPr>
        <p:spPr>
          <a:xfrm>
            <a:off x="548640" y="2798064"/>
            <a:ext cx="4251960" cy="868680"/>
          </a:xfrm>
          <a:prstGeom prst="rect">
            <a:avLst/>
          </a:prstGeom>
          <a:noFill/>
          <a:ln/>
        </p:spPr>
        <p:txBody>
          <a:bodyPr wrap="square" lIns="0" tIns="0" rIns="0" bIns="0" rtlCol="0" anchor="ctr"/>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Log_Problem.uuid→Info_UserData.uuid (điểm, huy hiệu, khối lớp); Log_Problem.ucid→Info_Content.ucid (độ khó, cây kiến thức level1–4). upid (bài tập cụ thể) không có metadata riêng.</a:t>
            </a:r>
            <a:endParaRPr lang="en-US" sz="1000" dirty="0"/>
          </a:p>
        </p:txBody>
      </p:sp>
      <p:sp>
        <p:nvSpPr>
          <p:cNvPr id="9" name="Shape 6"/>
          <p:cNvSpPr/>
          <p:nvPr/>
        </p:nvSpPr>
        <p:spPr>
          <a:xfrm>
            <a:off x="548640" y="3776472"/>
            <a:ext cx="1356360" cy="1197864"/>
          </a:xfrm>
          <a:prstGeom prst="roundRect">
            <a:avLst>
              <a:gd name="adj" fmla="val 3817"/>
            </a:avLst>
          </a:prstGeom>
          <a:solidFill>
            <a:srgbClr val="F5F7FC"/>
          </a:solidFill>
          <a:ln w="9525">
            <a:solidFill>
              <a:srgbClr val="E3E7F1"/>
            </a:solidFill>
            <a:prstDash val="solid"/>
          </a:ln>
        </p:spPr>
      </p:sp>
      <p:sp>
        <p:nvSpPr>
          <p:cNvPr id="10" name="Text 7"/>
          <p:cNvSpPr/>
          <p:nvPr/>
        </p:nvSpPr>
        <p:spPr>
          <a:xfrm>
            <a:off x="594360" y="3849624"/>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16.22 Tr</a:t>
            </a:r>
            <a:endParaRPr lang="en-US" sz="1600" dirty="0"/>
          </a:p>
        </p:txBody>
      </p:sp>
      <p:sp>
        <p:nvSpPr>
          <p:cNvPr id="11" name="Text 8"/>
          <p:cNvSpPr/>
          <p:nvPr/>
        </p:nvSpPr>
        <p:spPr>
          <a:xfrm>
            <a:off x="594360" y="4495190"/>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Tương tác</a:t>
            </a:r>
            <a:endParaRPr lang="en-US" sz="1000" dirty="0"/>
          </a:p>
        </p:txBody>
      </p:sp>
      <p:sp>
        <p:nvSpPr>
          <p:cNvPr id="12" name="Shape 9"/>
          <p:cNvSpPr/>
          <p:nvPr/>
        </p:nvSpPr>
        <p:spPr>
          <a:xfrm>
            <a:off x="1996440" y="3776472"/>
            <a:ext cx="1356360" cy="1197864"/>
          </a:xfrm>
          <a:prstGeom prst="roundRect">
            <a:avLst>
              <a:gd name="adj" fmla="val 3817"/>
            </a:avLst>
          </a:prstGeom>
          <a:solidFill>
            <a:srgbClr val="F5F7FC"/>
          </a:solidFill>
          <a:ln w="9525">
            <a:solidFill>
              <a:srgbClr val="E3E7F1"/>
            </a:solidFill>
            <a:prstDash val="solid"/>
          </a:ln>
        </p:spPr>
      </p:sp>
      <p:sp>
        <p:nvSpPr>
          <p:cNvPr id="13" name="Text 10"/>
          <p:cNvSpPr/>
          <p:nvPr/>
        </p:nvSpPr>
        <p:spPr>
          <a:xfrm>
            <a:off x="2042160" y="3849624"/>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72,758</a:t>
            </a:r>
            <a:endParaRPr lang="en-US" sz="1600" dirty="0"/>
          </a:p>
        </p:txBody>
      </p:sp>
      <p:sp>
        <p:nvSpPr>
          <p:cNvPr id="14" name="Text 11"/>
          <p:cNvSpPr/>
          <p:nvPr/>
        </p:nvSpPr>
        <p:spPr>
          <a:xfrm>
            <a:off x="2042160" y="4495190"/>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Học sinh</a:t>
            </a:r>
            <a:endParaRPr lang="en-US" sz="1000" dirty="0"/>
          </a:p>
        </p:txBody>
      </p:sp>
      <p:sp>
        <p:nvSpPr>
          <p:cNvPr id="15" name="Shape 12"/>
          <p:cNvSpPr/>
          <p:nvPr/>
        </p:nvSpPr>
        <p:spPr>
          <a:xfrm>
            <a:off x="3444240" y="3776472"/>
            <a:ext cx="1356360" cy="1197864"/>
          </a:xfrm>
          <a:prstGeom prst="roundRect">
            <a:avLst>
              <a:gd name="adj" fmla="val 3817"/>
            </a:avLst>
          </a:prstGeom>
          <a:solidFill>
            <a:srgbClr val="F5F7FC"/>
          </a:solidFill>
          <a:ln w="9525">
            <a:solidFill>
              <a:srgbClr val="E3E7F1"/>
            </a:solidFill>
            <a:prstDash val="solid"/>
          </a:ln>
        </p:spPr>
      </p:sp>
      <p:sp>
        <p:nvSpPr>
          <p:cNvPr id="16" name="Text 13"/>
          <p:cNvSpPr/>
          <p:nvPr/>
        </p:nvSpPr>
        <p:spPr>
          <a:xfrm>
            <a:off x="3489960" y="3849624"/>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25,785</a:t>
            </a:r>
            <a:endParaRPr lang="en-US" sz="1600" dirty="0"/>
          </a:p>
        </p:txBody>
      </p:sp>
      <p:sp>
        <p:nvSpPr>
          <p:cNvPr id="17" name="Text 14"/>
          <p:cNvSpPr/>
          <p:nvPr/>
        </p:nvSpPr>
        <p:spPr>
          <a:xfrm>
            <a:off x="3489960" y="4495190"/>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Bài tập</a:t>
            </a:r>
            <a:endParaRPr lang="en-US" sz="1000" dirty="0"/>
          </a:p>
        </p:txBody>
      </p:sp>
      <p:sp>
        <p:nvSpPr>
          <p:cNvPr id="18" name="Shape 15"/>
          <p:cNvSpPr/>
          <p:nvPr/>
        </p:nvSpPr>
        <p:spPr>
          <a:xfrm>
            <a:off x="548640" y="5065776"/>
            <a:ext cx="1356360" cy="1197864"/>
          </a:xfrm>
          <a:prstGeom prst="roundRect">
            <a:avLst>
              <a:gd name="adj" fmla="val 3817"/>
            </a:avLst>
          </a:prstGeom>
          <a:solidFill>
            <a:srgbClr val="F5F7FC"/>
          </a:solidFill>
          <a:ln w="9525">
            <a:solidFill>
              <a:srgbClr val="E3E7F1"/>
            </a:solidFill>
            <a:prstDash val="solid"/>
          </a:ln>
        </p:spPr>
      </p:sp>
      <p:sp>
        <p:nvSpPr>
          <p:cNvPr id="19" name="Text 16"/>
          <p:cNvSpPr/>
          <p:nvPr/>
        </p:nvSpPr>
        <p:spPr>
          <a:xfrm>
            <a:off x="594360" y="5138928"/>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1,326</a:t>
            </a:r>
            <a:endParaRPr lang="en-US" sz="1600" dirty="0"/>
          </a:p>
        </p:txBody>
      </p:sp>
      <p:sp>
        <p:nvSpPr>
          <p:cNvPr id="20" name="Text 17"/>
          <p:cNvSpPr/>
          <p:nvPr/>
        </p:nvSpPr>
        <p:spPr>
          <a:xfrm>
            <a:off x="594360" y="5784494"/>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KC (ucid)</a:t>
            </a:r>
            <a:endParaRPr lang="en-US" sz="1000" dirty="0"/>
          </a:p>
        </p:txBody>
      </p:sp>
      <p:sp>
        <p:nvSpPr>
          <p:cNvPr id="21" name="Shape 18"/>
          <p:cNvSpPr/>
          <p:nvPr/>
        </p:nvSpPr>
        <p:spPr>
          <a:xfrm>
            <a:off x="1996440" y="5065776"/>
            <a:ext cx="1356360" cy="1197864"/>
          </a:xfrm>
          <a:prstGeom prst="roundRect">
            <a:avLst>
              <a:gd name="adj" fmla="val 3817"/>
            </a:avLst>
          </a:prstGeom>
          <a:solidFill>
            <a:srgbClr val="F5F7FC"/>
          </a:solidFill>
          <a:ln w="9525">
            <a:solidFill>
              <a:srgbClr val="E3E7F1"/>
            </a:solidFill>
            <a:prstDash val="solid"/>
          </a:ln>
        </p:spPr>
      </p:sp>
      <p:sp>
        <p:nvSpPr>
          <p:cNvPr id="22" name="Text 19"/>
          <p:cNvSpPr/>
          <p:nvPr/>
        </p:nvSpPr>
        <p:spPr>
          <a:xfrm>
            <a:off x="2042160" y="5138928"/>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70.4%</a:t>
            </a:r>
            <a:endParaRPr lang="en-US" sz="1600" dirty="0"/>
          </a:p>
        </p:txBody>
      </p:sp>
      <p:sp>
        <p:nvSpPr>
          <p:cNvPr id="23" name="Text 20"/>
          <p:cNvSpPr/>
          <p:nvPr/>
        </p:nvSpPr>
        <p:spPr>
          <a:xfrm>
            <a:off x="2042160" y="5784494"/>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Tỉ lệ đúng chung</a:t>
            </a:r>
            <a:endParaRPr lang="en-US" sz="1000" dirty="0"/>
          </a:p>
        </p:txBody>
      </p:sp>
      <p:sp>
        <p:nvSpPr>
          <p:cNvPr id="24" name="Shape 21"/>
          <p:cNvSpPr/>
          <p:nvPr/>
        </p:nvSpPr>
        <p:spPr>
          <a:xfrm>
            <a:off x="3444240" y="5065776"/>
            <a:ext cx="1356360" cy="1197864"/>
          </a:xfrm>
          <a:prstGeom prst="roundRect">
            <a:avLst>
              <a:gd name="adj" fmla="val 3817"/>
            </a:avLst>
          </a:prstGeom>
          <a:solidFill>
            <a:srgbClr val="F5F7FC"/>
          </a:solidFill>
          <a:ln w="9525">
            <a:solidFill>
              <a:srgbClr val="E3E7F1"/>
            </a:solidFill>
            <a:prstDash val="solid"/>
          </a:ln>
        </p:spPr>
      </p:sp>
      <p:sp>
        <p:nvSpPr>
          <p:cNvPr id="25" name="Text 22"/>
          <p:cNvSpPr/>
          <p:nvPr/>
        </p:nvSpPr>
        <p:spPr>
          <a:xfrm>
            <a:off x="3489960" y="5138928"/>
            <a:ext cx="1264920" cy="658825"/>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22.8%</a:t>
            </a:r>
            <a:endParaRPr lang="en-US" sz="1600" dirty="0"/>
          </a:p>
        </p:txBody>
      </p:sp>
      <p:sp>
        <p:nvSpPr>
          <p:cNvPr id="26" name="Text 23"/>
          <p:cNvSpPr/>
          <p:nvPr/>
        </p:nvSpPr>
        <p:spPr>
          <a:xfrm>
            <a:off x="3489960" y="5784494"/>
            <a:ext cx="1264920" cy="479146"/>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Có xin hint</a:t>
            </a:r>
            <a:endParaRPr lang="en-US" sz="1000" dirty="0"/>
          </a:p>
        </p:txBody>
      </p:sp>
      <p:sp>
        <p:nvSpPr>
          <p:cNvPr id="27" name="Shape 24"/>
          <p:cNvSpPr/>
          <p:nvPr/>
        </p:nvSpPr>
        <p:spPr>
          <a:xfrm>
            <a:off x="4910328" y="1298448"/>
            <a:ext cx="6803136" cy="4581144"/>
          </a:xfrm>
          <a:prstGeom prst="roundRect">
            <a:avLst>
              <a:gd name="adj" fmla="val 798"/>
            </a:avLst>
          </a:prstGeom>
          <a:solidFill>
            <a:srgbClr val="FFFFFF"/>
          </a:solidFill>
          <a:ln w="15875">
            <a:solidFill>
              <a:srgbClr val="4A3AA7"/>
            </a:solidFill>
            <a:prstDash val="solid"/>
          </a:ln>
        </p:spPr>
      </p:sp>
      <p:pic>
        <p:nvPicPr>
          <p:cNvPr id="28" name="Image 0" descr="/tmp/claude-1000/-home-admincsc-workspace-binh-openscience-kt-workspace/c4c4a90d-95e7-4615-8c88-d95bfdcdf616/scratchpad/pptx_assets/fig_46.png">    </p:cNvPr>
          <p:cNvPicPr>
            <a:picLocks noChangeAspect="1"/>
          </p:cNvPicPr>
          <p:nvPr/>
        </p:nvPicPr>
        <p:blipFill>
          <a:blip r:embed="rId1"/>
          <a:stretch>
            <a:fillRect/>
          </a:stretch>
        </p:blipFill>
        <p:spPr>
          <a:xfrm>
            <a:off x="5310236" y="1371600"/>
            <a:ext cx="6003320" cy="4434840"/>
          </a:xfrm>
          <a:prstGeom prst="rect">
            <a:avLst/>
          </a:prstGeom>
        </p:spPr>
      </p:pic>
      <p:sp>
        <p:nvSpPr>
          <p:cNvPr id="29" name="Text 25"/>
          <p:cNvSpPr/>
          <p:nvPr/>
        </p:nvSpPr>
        <p:spPr>
          <a:xfrm>
            <a:off x="4983480" y="5916168"/>
            <a:ext cx="6656832" cy="502920"/>
          </a:xfrm>
          <a:prstGeom prst="rect">
            <a:avLst/>
          </a:prstGeom>
          <a:noFill/>
          <a:ln/>
        </p:spPr>
        <p:txBody>
          <a:bodyPr wrap="square" lIns="0" tIns="0" rIns="0" bIns="0" rtlCol="0" anchor="ctr"/>
          <a:lstStyle/>
          <a:p>
            <a:pPr algn="l" indent="0" marL="0">
              <a:lnSpc>
                <a:spcPct val="110000"/>
              </a:lnSpc>
              <a:buNone/>
            </a:pPr>
            <a:r>
              <a:rPr lang="en-US" sz="1000" i="1" dirty="0">
                <a:solidFill>
                  <a:srgbClr val="000000"/>
                </a:solidFill>
                <a:latin typeface="Calibri" pitchFamily="34" charset="0"/>
                <a:ea typeface="Calibri" pitchFamily="34" charset="-122"/>
                <a:cs typeface="Calibri" pitchFamily="34" charset="-120"/>
              </a:rPr>
              <a:t>Cờ thích ứng độ khó là dữ liệu độc quyền của Junyi: hạ độ khó (downgrade) 1.3% / tăng độ khó (upgrade) 98.7% thời gian — hệ thống liên tục đẩy học sinh lên mức khó hơn khi đủ năng lực.  ·  Nguồn hình: mục 4.2 "Phân tích &amp; trực quan hóa" – datasets_deep_dive.ipynb.</a:t>
            </a:r>
            <a:endParaRPr lang="en-US" sz="1000" dirty="0"/>
          </a:p>
        </p:txBody>
      </p:sp>
      <p:sp>
        <p:nvSpPr>
          <p:cNvPr id="30" name="Text 2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junyi · Junyi Academy</a:t>
            </a:r>
            <a:endParaRPr lang="en-US" sz="1000" dirty="0"/>
          </a:p>
        </p:txBody>
      </p:sp>
      <p:sp>
        <p:nvSpPr>
          <p:cNvPr id="31" name="Text 2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40</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85800" y="1417320"/>
            <a:ext cx="3657600" cy="2011680"/>
          </a:xfrm>
          <a:prstGeom prst="rect">
            <a:avLst/>
          </a:prstGeom>
          <a:noFill/>
          <a:ln/>
        </p:spPr>
        <p:txBody>
          <a:bodyPr wrap="square" lIns="0" tIns="0" rIns="0" bIns="0" rtlCol="0" anchor="ctr"/>
          <a:lstStyle/>
          <a:p>
            <a:pPr algn="l" indent="0" marL="0">
              <a:buNone/>
            </a:pPr>
            <a:r>
              <a:rPr lang="en-US" sz="13000" b="1" dirty="0">
                <a:solidFill>
                  <a:srgbClr val="FFFFFF">
                    <a:alpha val="18000"/>
                  </a:srgbClr>
                </a:solidFill>
                <a:latin typeface="Cambria" pitchFamily="34" charset="0"/>
                <a:ea typeface="Cambria" pitchFamily="34" charset="-122"/>
                <a:cs typeface="Cambria" pitchFamily="34" charset="-120"/>
              </a:rPr>
              <a:t>04</a:t>
            </a:r>
            <a:endParaRPr lang="en-US" sz="13000" dirty="0"/>
          </a:p>
        </p:txBody>
      </p:sp>
      <p:sp>
        <p:nvSpPr>
          <p:cNvPr id="3" name="Text 1"/>
          <p:cNvSpPr/>
          <p:nvPr/>
        </p:nvSpPr>
        <p:spPr>
          <a:xfrm>
            <a:off x="822960" y="3017520"/>
            <a:ext cx="100584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PSLC KDD Cup 2010</a:t>
            </a:r>
            <a:endParaRPr lang="en-US" sz="4000" dirty="0"/>
          </a:p>
        </p:txBody>
      </p:sp>
      <p:sp>
        <p:nvSpPr>
          <p:cNvPr id="4" name="Text 2"/>
          <p:cNvSpPr/>
          <p:nvPr/>
        </p:nvSpPr>
        <p:spPr>
          <a:xfrm>
            <a:off x="822960" y="3886200"/>
            <a:ext cx="9601200" cy="64008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Dữ liệu ở cấp bước (step), không phải problem — algebra05 và bridge06 là 2 config riêng biệt.</a:t>
            </a:r>
            <a:endParaRPr lang="en-US" sz="1500" dirty="0"/>
          </a:p>
        </p:txBody>
      </p:sp>
      <p:sp>
        <p:nvSpPr>
          <p:cNvPr id="5" name="Shape 3"/>
          <p:cNvSpPr/>
          <p:nvPr/>
        </p:nvSpPr>
        <p:spPr>
          <a:xfrm>
            <a:off x="822960" y="4663440"/>
            <a:ext cx="1490472" cy="438912"/>
          </a:xfrm>
          <a:prstGeom prst="roundRect">
            <a:avLst>
              <a:gd name="adj" fmla="val 18750"/>
            </a:avLst>
          </a:prstGeom>
          <a:solidFill>
            <a:srgbClr val="1BAF7A"/>
          </a:solidFill>
          <a:ln/>
        </p:spPr>
      </p:sp>
      <p:sp>
        <p:nvSpPr>
          <p:cNvPr id="6" name="Text 4"/>
          <p:cNvSpPr/>
          <p:nvPr/>
        </p:nvSpPr>
        <p:spPr>
          <a:xfrm>
            <a:off x="822960" y="4663440"/>
            <a:ext cx="1490472" cy="438912"/>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algebra05</a:t>
            </a:r>
            <a:endParaRPr lang="en-US" sz="1300" dirty="0"/>
          </a:p>
        </p:txBody>
      </p:sp>
      <p:sp>
        <p:nvSpPr>
          <p:cNvPr id="7" name="Shape 5"/>
          <p:cNvSpPr/>
          <p:nvPr/>
        </p:nvSpPr>
        <p:spPr>
          <a:xfrm>
            <a:off x="2496312" y="4663440"/>
            <a:ext cx="1380744" cy="438912"/>
          </a:xfrm>
          <a:prstGeom prst="roundRect">
            <a:avLst>
              <a:gd name="adj" fmla="val 18750"/>
            </a:avLst>
          </a:prstGeom>
          <a:solidFill>
            <a:srgbClr val="EDA100"/>
          </a:solidFill>
          <a:ln/>
        </p:spPr>
      </p:sp>
      <p:sp>
        <p:nvSpPr>
          <p:cNvPr id="8" name="Text 6"/>
          <p:cNvSpPr/>
          <p:nvPr/>
        </p:nvSpPr>
        <p:spPr>
          <a:xfrm>
            <a:off x="2496312" y="4663440"/>
            <a:ext cx="1380744" cy="438912"/>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bridge06</a:t>
            </a:r>
            <a:endParaRPr lang="en-US" sz="1300" dirty="0"/>
          </a:p>
        </p:txBody>
      </p:sp>
      <p:sp>
        <p:nvSpPr>
          <p:cNvPr id="9" name="Text 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PSLC KDD Cup 2010</a:t>
            </a:r>
            <a:endParaRPr lang="en-US" sz="1000" dirty="0"/>
          </a:p>
        </p:txBody>
      </p:sp>
      <p:sp>
        <p:nvSpPr>
          <p:cNvPr id="10" name="Text 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41</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liên kết file · algebra05  ·  Nguồn: mục 5.1 "Cấu trúc file / Liên kết"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Cấu trúc file</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PSLC KDD Cup 2010 chỉ có 1 file duy nhất trong phân tích này</a:t>
            </a:r>
            <a:endParaRPr lang="en-US" sz="1150" dirty="0"/>
          </a:p>
        </p:txBody>
      </p:sp>
      <p:sp>
        <p:nvSpPr>
          <p:cNvPr id="5" name="Shape 3"/>
          <p:cNvSpPr/>
          <p:nvPr/>
        </p:nvSpPr>
        <p:spPr>
          <a:xfrm>
            <a:off x="4453128" y="2926080"/>
            <a:ext cx="3291840" cy="1005840"/>
          </a:xfrm>
          <a:prstGeom prst="roundRect">
            <a:avLst>
              <a:gd name="adj" fmla="val 6364"/>
            </a:avLst>
          </a:prstGeom>
          <a:solidFill>
            <a:srgbClr val="E4F5EF"/>
          </a:solidFill>
          <a:ln w="19050">
            <a:solidFill>
              <a:srgbClr val="1BAF7A"/>
            </a:solidFill>
            <a:prstDash val="solid"/>
          </a:ln>
        </p:spPr>
      </p:sp>
      <p:sp>
        <p:nvSpPr>
          <p:cNvPr id="6" name="Text 4"/>
          <p:cNvSpPr/>
          <p:nvPr/>
        </p:nvSpPr>
        <p:spPr>
          <a:xfrm>
            <a:off x="4544568" y="2926080"/>
            <a:ext cx="3108960" cy="100584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algebra_2005_2006_train.txt</a:t>
            </a:r>
            <a:endParaRPr lang="en-US" sz="1150" dirty="0"/>
          </a:p>
        </p:txBody>
      </p:sp>
      <p:sp>
        <p:nvSpPr>
          <p:cNvPr id="7" name="Text 5"/>
          <p:cNvSpPr/>
          <p:nvPr/>
        </p:nvSpPr>
        <p:spPr>
          <a:xfrm>
            <a:off x="3081528" y="4297680"/>
            <a:ext cx="6035040" cy="548640"/>
          </a:xfrm>
          <a:prstGeom prst="rect">
            <a:avLst/>
          </a:prstGeom>
          <a:noFill/>
          <a:ln/>
        </p:spPr>
        <p:txBody>
          <a:bodyPr wrap="square" lIns="0" tIns="0" rIns="0" bIns="0" rtlCol="0" anchor="ctr"/>
          <a:lstStyle/>
          <a:p>
            <a:pPr algn="ctr" indent="0" marL="0">
              <a:buNone/>
            </a:pPr>
            <a:r>
              <a:rPr lang="en-US" sz="1050" i="1" dirty="0">
                <a:solidFill>
                  <a:srgbClr val="000000"/>
                </a:solidFill>
                <a:latin typeface="Calibri" pitchFamily="34" charset="0"/>
                <a:ea typeface="Calibri" pitchFamily="34" charset="-122"/>
                <a:cs typeface="Calibri" pitchFamily="34" charset="-120"/>
              </a:rPr>
              <a:t>Không có quan hệ liên-file để thể hiện — toàn bộ dữ liệu (log tương tác + nhãn) nằm trong 1 file duy nhất, không cần join với file khác.</a:t>
            </a:r>
            <a:endParaRPr lang="en-US" sz="1050" dirty="0"/>
          </a:p>
        </p:txBody>
      </p:sp>
      <p:sp>
        <p:nvSpPr>
          <p:cNvPr id="8" name="Text 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sơ đồ liên kết file</a:t>
            </a:r>
            <a:endParaRPr lang="en-US" sz="1000" dirty="0"/>
          </a:p>
        </p:txBody>
      </p:sp>
      <p:sp>
        <p:nvSpPr>
          <p:cNvPr id="9" name="Text 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42</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55064" cy="384048"/>
          </a:xfrm>
          <a:prstGeom prst="roundRect">
            <a:avLst>
              <a:gd name="adj" fmla="val 19048"/>
            </a:avLst>
          </a:prstGeom>
          <a:solidFill>
            <a:srgbClr val="1BAF7A"/>
          </a:solidFill>
          <a:ln/>
        </p:spPr>
      </p:sp>
      <p:sp>
        <p:nvSpPr>
          <p:cNvPr id="3" name="Text 1"/>
          <p:cNvSpPr/>
          <p:nvPr/>
        </p:nvSpPr>
        <p:spPr>
          <a:xfrm>
            <a:off x="548640" y="384048"/>
            <a:ext cx="1655064"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algebra05</a:t>
            </a:r>
            <a:endParaRPr lang="en-US" sz="1300" dirty="0"/>
          </a:p>
        </p:txBody>
      </p:sp>
      <p:sp>
        <p:nvSpPr>
          <p:cNvPr id="4" name="Text 2"/>
          <p:cNvSpPr/>
          <p:nvPr/>
        </p:nvSpPr>
        <p:spPr>
          <a:xfrm>
            <a:off x="2432304" y="310896"/>
            <a:ext cx="488289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algebra_2005_2006_train.txt (phần 1/4)</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PSLC KDD Cup 2010 · 19 cột · 226.7 MB · Nguồn: mục 5.1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3526536" cy="301752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Row</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thứ tự dòng (khóa nối với _test/_master)</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Anon Student 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 (ẩn danh)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0BrbPbwCMz</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0BrbPbwCMz</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0BrbPbwCMz</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 Hierarchy</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Knowledge Graph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Unit ES_04, Section ES_04-1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Unit ES_04, Section ES_04-1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Unit ES_04, Section ES_04-1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 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bài toán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EG4-FIXED</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EG4-FIXED</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EG40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 View</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lần thứ mấy học sinh xem lại bài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graphicFrame>
        <p:nvGraphicFramePr>
          <p:cNvPr id="87" name="Table 1"/>
          <p:cNvGraphicFramePr>
            <a:graphicFrameLocks noGrp="1"/>
          </p:cNvGraphicFramePr>
          <p:nvPr>
            <p:extLst>
              <p:ext uri="{D42A27DB-BD31-4B8C-83A1-F6EECF244321}">
                <p14:modId xmlns:p14="http://schemas.microsoft.com/office/powerpoint/2010/main" val="1579011935"/>
              </p:ext>
            </p:extLst>
          </p:nvPr>
        </p:nvGraphicFramePr>
        <p:xfrm>
          <a:off x="4331208" y="1298448"/>
          <a:ext cx="3526536" cy="301752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Step 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bước giải (đơn vị KT nhỏ nhất)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3(x+2) = 15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x+2 = 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2-8y = -4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Step Start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bắt đầu bước giải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12:24:35.0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12:25:15.0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12:25:36.0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First Transaction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lượt thử đầu</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12:24:49.0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12:25:31.0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12:25:43.0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 Transaction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trả lời đúng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12:25:15.0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12:25:31.0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12:26:12.0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Step End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kết thúc bước giải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12:25:15.0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12:25:31.0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2005-09-09 12:26:12.0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130" name="Table 2"/>
          <p:cNvGraphicFramePr>
            <a:graphicFrameLocks noGrp="1"/>
          </p:cNvGraphicFramePr>
          <p:nvPr>
            <p:extLst>
              <p:ext uri="{D42A27DB-BD31-4B8C-83A1-F6EECF244321}">
                <p14:modId xmlns:p14="http://schemas.microsoft.com/office/powerpoint/2010/main" val="1579011935"/>
              </p:ext>
            </p:extLst>
          </p:nvPr>
        </p:nvGraphicFramePr>
        <p:xfrm>
          <a:off x="8113776" y="1298448"/>
          <a:ext cx="3526536" cy="3017520"/>
        </p:xfrm>
        <a:graphic>
          <a:graphicData uri="http://schemas.openxmlformats.org/drawingml/2006/table">
            <a:tbl>
              <a:tblPr/>
              <a:tblGrid>
                <a:gridCol w="1974860"/>
                <a:gridCol w="517343"/>
                <a:gridCol w="517343"/>
                <a:gridCol w="516990"/>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Step Duration (sec)</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Response-time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 Step Duration (sec)</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nếu đúng ngay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Error Step Duration (sec)</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nếu có làm 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40.0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 First Attempt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1=đúng ngay lần đầu (CFA)</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Incorrects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5"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algebra_2005_2006_train.txt (phần 1/4)</a:t>
            </a:r>
            <a:endParaRPr lang="en-US" sz="1000" dirty="0"/>
          </a:p>
        </p:txBody>
      </p:sp>
      <p:sp>
        <p:nvSpPr>
          <p:cNvPr id="16"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55064" cy="384048"/>
          </a:xfrm>
          <a:prstGeom prst="roundRect">
            <a:avLst>
              <a:gd name="adj" fmla="val 19048"/>
            </a:avLst>
          </a:prstGeom>
          <a:solidFill>
            <a:srgbClr val="1BAF7A"/>
          </a:solidFill>
          <a:ln/>
        </p:spPr>
      </p:sp>
      <p:sp>
        <p:nvSpPr>
          <p:cNvPr id="3" name="Text 1"/>
          <p:cNvSpPr/>
          <p:nvPr/>
        </p:nvSpPr>
        <p:spPr>
          <a:xfrm>
            <a:off x="548640" y="384048"/>
            <a:ext cx="1655064"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algebra05</a:t>
            </a:r>
            <a:endParaRPr lang="en-US" sz="1300" dirty="0"/>
          </a:p>
        </p:txBody>
      </p:sp>
      <p:sp>
        <p:nvSpPr>
          <p:cNvPr id="4" name="Text 2"/>
          <p:cNvSpPr/>
          <p:nvPr/>
        </p:nvSpPr>
        <p:spPr>
          <a:xfrm>
            <a:off x="2432304" y="310896"/>
            <a:ext cx="488289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algebra_2005_2006_train.txt (phần 2/4)</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PSLC KDD Cup 2010 · 19 cột · 226.7 MB · Nguồn: mục 5.1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150876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Hints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algebra_2005_2006_train.txt (phần 2/4)</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44</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55064" cy="384048"/>
          </a:xfrm>
          <a:prstGeom prst="roundRect">
            <a:avLst>
              <a:gd name="adj" fmla="val 19048"/>
            </a:avLst>
          </a:prstGeom>
          <a:solidFill>
            <a:srgbClr val="1BAF7A"/>
          </a:solidFill>
          <a:ln/>
        </p:spPr>
      </p:sp>
      <p:sp>
        <p:nvSpPr>
          <p:cNvPr id="3" name="Text 1"/>
          <p:cNvSpPr/>
          <p:nvPr/>
        </p:nvSpPr>
        <p:spPr>
          <a:xfrm>
            <a:off x="548640" y="384048"/>
            <a:ext cx="1655064"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algebra05</a:t>
            </a:r>
            <a:endParaRPr lang="en-US" sz="1300" dirty="0"/>
          </a:p>
        </p:txBody>
      </p:sp>
      <p:sp>
        <p:nvSpPr>
          <p:cNvPr id="4" name="Text 2"/>
          <p:cNvSpPr/>
          <p:nvPr/>
        </p:nvSpPr>
        <p:spPr>
          <a:xfrm>
            <a:off x="2432304" y="310896"/>
            <a:ext cx="488289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algebra_2005_2006_train.txt (phần 3/4)</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PSLC KDD Cup 2010 · 19 cột · 226.7 MB · Nguồn: mục 5.1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100584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KC(Default)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kỹ năng (KC), nhiều KC nối bằng ~~</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[SkillRule: Eliminate Parens; {CLT nested; CLT nested, parens; Distribute Mult right; Distribute Mult left; (+/-x +/-a)/b=c, mult; (+/-x +/-a)*b=c, div; [var expr]/[const expr] = [const expr], multiply; Distribute Division left; Distribute Division right; Distribute both mult left; Distribute both mult right; Distribute both divide left; Distribute both divide right; Distribute subex}]</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[SkillRule: Remove constant; {ax+b=c, positive; ax+b=c, negative; x+a=b, positive; x+a=b, negative; [var expr]+[const expr]=[const expr], positive; [var expr]+[const expr]=[const expr], negative; [var expr]+[const expr]=[const expr], all; Combine constants to right; Combine constants to left; a-x=b, positive; a/x+b=c, positive; a/x+b=c, negative}]~~[SkillRule: Isolate positive; x+a=b, positive]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[SkillRule: Remove constant; {ax+b=c, positive; ax+b=c, negative; x+a=b, positive; x+a=b, negative; [var expr]+[const expr]=[const expr], positive; [var expr]+[const expr]=[const expr], negative; [var expr]+[const expr]=[const expr], all; Combine constants to right; Combine constants to left; a-x=b, positive; a/x+b=c, positive; a/x+b=c, negative}]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algebra_2005_2006_train.txt (phần 3/4)</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45</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55064" cy="384048"/>
          </a:xfrm>
          <a:prstGeom prst="roundRect">
            <a:avLst>
              <a:gd name="adj" fmla="val 19048"/>
            </a:avLst>
          </a:prstGeom>
          <a:solidFill>
            <a:srgbClr val="1BAF7A"/>
          </a:solidFill>
          <a:ln/>
        </p:spPr>
      </p:sp>
      <p:sp>
        <p:nvSpPr>
          <p:cNvPr id="3" name="Text 1"/>
          <p:cNvSpPr/>
          <p:nvPr/>
        </p:nvSpPr>
        <p:spPr>
          <a:xfrm>
            <a:off x="548640" y="384048"/>
            <a:ext cx="1655064"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algebra05</a:t>
            </a:r>
            <a:endParaRPr lang="en-US" sz="1300" dirty="0"/>
          </a:p>
        </p:txBody>
      </p:sp>
      <p:sp>
        <p:nvSpPr>
          <p:cNvPr id="4" name="Text 2"/>
          <p:cNvSpPr/>
          <p:nvPr/>
        </p:nvSpPr>
        <p:spPr>
          <a:xfrm>
            <a:off x="2432304" y="310896"/>
            <a:ext cx="4882896"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algebra_2005_2006_train.txt (phần 4/4)</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PSLC KDD Cup 2010 · 19 cột · 226.7 MB · Nguồn: mục 5.1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100584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Opportunity(Default)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lượt thứ mấy học sinh gặp KC này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algebra_2005_2006_train.txt (phần 4/4)</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46</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55064" cy="384048"/>
          </a:xfrm>
          <a:prstGeom prst="roundRect">
            <a:avLst>
              <a:gd name="adj" fmla="val 19048"/>
            </a:avLst>
          </a:prstGeom>
          <a:solidFill>
            <a:srgbClr val="1BAF7A"/>
          </a:solidFill>
          <a:ln/>
        </p:spPr>
      </p:sp>
      <p:sp>
        <p:nvSpPr>
          <p:cNvPr id="3" name="Text 1"/>
          <p:cNvSpPr/>
          <p:nvPr/>
        </p:nvSpPr>
        <p:spPr>
          <a:xfrm>
            <a:off x="548640" y="384048"/>
            <a:ext cx="1655064"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algebra05</a:t>
            </a:r>
            <a:endParaRPr lang="en-US" sz="1300" dirty="0"/>
          </a:p>
        </p:txBody>
      </p:sp>
      <p:sp>
        <p:nvSpPr>
          <p:cNvPr id="4" name="Text 2"/>
          <p:cNvSpPr/>
          <p:nvPr/>
        </p:nvSpPr>
        <p:spPr>
          <a:xfrm>
            <a:off x="2432304" y="310896"/>
            <a:ext cx="868680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Vì sao các cột này được chọn cho DPA-KT</a:t>
            </a:r>
            <a:endParaRPr lang="en-US" sz="1900" dirty="0"/>
          </a:p>
        </p:txBody>
      </p:sp>
      <p:sp>
        <p:nvSpPr>
          <p:cNvPr id="5" name="Text 3"/>
          <p:cNvSpPr/>
          <p:nvPr/>
        </p:nvSpPr>
        <p:spPr>
          <a:xfrm>
            <a:off x="548640" y="859536"/>
            <a:ext cx="108813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PSLC KDD Cup 2010  ·  Dựa trên kiến trúc short_paper_final.pdf, Mục IV</a:t>
            </a:r>
            <a:endParaRPr lang="en-US" sz="1050" dirty="0"/>
          </a:p>
        </p:txBody>
      </p:sp>
      <p:sp>
        <p:nvSpPr>
          <p:cNvPr id="6" name="Text 4"/>
          <p:cNvSpPr/>
          <p:nvPr/>
        </p:nvSpPr>
        <p:spPr>
          <a:xfrm>
            <a:off x="548640" y="1298448"/>
            <a:ext cx="4206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5 TRƯỜNG LÕI  ·  Module 1 + định nghĩa bài toán</a:t>
            </a:r>
            <a:endParaRPr lang="en-US" sz="1100" dirty="0"/>
          </a:p>
        </p:txBody>
      </p:sp>
      <p:sp>
        <p:nvSpPr>
          <p:cNvPr id="7" name="Text 5"/>
          <p:cNvSpPr/>
          <p:nvPr/>
        </p:nvSpPr>
        <p:spPr>
          <a:xfrm>
            <a:off x="548640" y="1609344"/>
            <a:ext cx="4206240" cy="10515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Mọi kiến trúc KT (kể cả DPA-KT) cần tối thiểu chuỗi tương tác S_T = {(q_t, r_t)} và tập KC C: input bắt buộc cho "interaction context" ở Module 1, và để đọc/ghi đúng KC trong mastery memory M ở Module 1 &amp; 3.</a:t>
            </a:r>
            <a:endParaRPr lang="en-US" sz="10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4206240" cy="2743200"/>
        </p:xfrm>
        <a:graphic>
          <a:graphicData uri="http://schemas.openxmlformats.org/drawingml/2006/table">
            <a:tbl>
              <a:tblPr/>
              <a:tblGrid>
                <a:gridCol w="1682496"/>
                <a:gridCol w="2523744"/>
              </a:tblGrid>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Học sinh (student)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Anon Student 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Câu hỏi (q_t)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 Name + Step Name (đơn vị step)</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Khái niệm (KC, tập 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KC(Default)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Đúng/sai (r_t)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 First Attempt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Thời gian / thứ tự</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Row (mốc thứ tự dòng)</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9" name="Text 6"/>
          <p:cNvSpPr/>
          <p:nvPr/>
        </p:nvSpPr>
        <p:spPr>
          <a:xfrm>
            <a:off x="548640" y="5586984"/>
            <a:ext cx="4206240" cy="365760"/>
          </a:xfrm>
          <a:prstGeom prst="rect">
            <a:avLst/>
          </a:prstGeom>
          <a:noFill/>
          <a:ln/>
        </p:spPr>
        <p:txBody>
          <a:bodyPr wrap="square" lIns="0" tIns="0" rIns="0" bIns="0" rtlCol="0" anchor="ctr"/>
          <a:lstStyle/>
          <a:p>
            <a:pPr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mục 5.1 &amp; 5.2 notebook (đúng các cột dùng để tính thống kê/vẽ biểu đồ).</a:t>
            </a:r>
            <a:endParaRPr lang="en-US" sz="1000" dirty="0"/>
          </a:p>
        </p:txBody>
      </p:sp>
      <p:sp>
        <p:nvSpPr>
          <p:cNvPr id="10" name="Text 7"/>
          <p:cNvSpPr/>
          <p:nvPr/>
        </p:nvSpPr>
        <p:spPr>
          <a:xfrm>
            <a:off x="5029200" y="1298448"/>
            <a:ext cx="6611112"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CỘT KHUYẾN NGHỊ THÊM  ·  nguyên lý/module tương ứng trong DPA-KT</a:t>
            </a:r>
            <a:endParaRPr lang="en-US" sz="1100" dirty="0"/>
          </a:p>
        </p:txBody>
      </p:sp>
      <p:sp>
        <p:nvSpPr>
          <p:cNvPr id="11" name="Shape 8"/>
          <p:cNvSpPr/>
          <p:nvPr/>
        </p:nvSpPr>
        <p:spPr>
          <a:xfrm>
            <a:off x="5029200" y="1627632"/>
            <a:ext cx="3232404" cy="1833372"/>
          </a:xfrm>
          <a:prstGeom prst="roundRect">
            <a:avLst>
              <a:gd name="adj" fmla="val 2494"/>
            </a:avLst>
          </a:prstGeom>
          <a:solidFill>
            <a:srgbClr val="FBE8B8"/>
          </a:solidFill>
          <a:ln w="9525">
            <a:solidFill>
              <a:srgbClr val="C9891A"/>
            </a:solidFill>
            <a:prstDash val="solid"/>
          </a:ln>
        </p:spPr>
      </p:sp>
      <p:sp>
        <p:nvSpPr>
          <p:cNvPr id="12" name="Text 9"/>
          <p:cNvSpPr/>
          <p:nvPr/>
        </p:nvSpPr>
        <p:spPr>
          <a:xfrm>
            <a:off x="5175504"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Guess/Slip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cho nguyên lý guessing and slipping ở Module 2: khi 1 pattern cùng KC/độ khó có phản hồi bất thường (đúng giữa chuỗi sai, hoặc ngược lại), pattern được điều chỉnh để hấp thụ khả năng đoán mò/lỡ tay.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Hints, Incorrects, Corrects</a:t>
            </a:r>
            <a:endParaRPr lang="en-US" sz="1200" dirty="0"/>
          </a:p>
        </p:txBody>
      </p:sp>
      <p:sp>
        <p:nvSpPr>
          <p:cNvPr id="13" name="Shape 10"/>
          <p:cNvSpPr/>
          <p:nvPr/>
        </p:nvSpPr>
        <p:spPr>
          <a:xfrm>
            <a:off x="8407908" y="1627632"/>
            <a:ext cx="3232404" cy="1833372"/>
          </a:xfrm>
          <a:prstGeom prst="roundRect">
            <a:avLst>
              <a:gd name="adj" fmla="val 2494"/>
            </a:avLst>
          </a:prstGeom>
          <a:solidFill>
            <a:srgbClr val="FBE8B8"/>
          </a:solidFill>
          <a:ln w="9525">
            <a:solidFill>
              <a:srgbClr val="C9891A"/>
            </a:solidFill>
            <a:prstDash val="solid"/>
          </a:ln>
        </p:spPr>
      </p:sp>
      <p:sp>
        <p:nvSpPr>
          <p:cNvPr id="14" name="Text 11"/>
          <p:cNvSpPr/>
          <p:nvPr/>
        </p:nvSpPr>
        <p:spPr>
          <a:xfrm>
            <a:off x="8554212"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Response-time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Cơ sở cho operator temporal pooling ở Module 2 - pool đúng các tương tác GẦN NHẤT theo thời gian khi xây dựng pattern; cũng là tín hiệu bổ sung cho Module 1.</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Step Duration (sec)</a:t>
            </a:r>
            <a:endParaRPr lang="en-US" sz="1200" dirty="0"/>
          </a:p>
        </p:txBody>
      </p:sp>
      <p:sp>
        <p:nvSpPr>
          <p:cNvPr id="15" name="Shape 12"/>
          <p:cNvSpPr/>
          <p:nvPr/>
        </p:nvSpPr>
        <p:spPr>
          <a:xfrm>
            <a:off x="5029200" y="3607308"/>
            <a:ext cx="3232404" cy="1664208"/>
          </a:xfrm>
          <a:prstGeom prst="roundRect">
            <a:avLst>
              <a:gd name="adj" fmla="val 2747"/>
            </a:avLst>
          </a:prstGeom>
          <a:solidFill>
            <a:srgbClr val="FBE8B8"/>
          </a:solidFill>
          <a:ln w="9525">
            <a:solidFill>
              <a:srgbClr val="C9891A"/>
            </a:solidFill>
            <a:prstDash val="solid"/>
          </a:ln>
        </p:spPr>
      </p:sp>
      <p:sp>
        <p:nvSpPr>
          <p:cNvPr id="16" name="Text 13"/>
          <p:cNvSpPr/>
          <p:nvPr/>
        </p:nvSpPr>
        <p:spPr>
          <a:xfrm>
            <a:off x="5175504" y="3698748"/>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Knowledge Graph (KC)</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Input cho đồ thị tri thức G: Module 1 dùng G đọc mastery memory theo đúng cấu trúc KC; Module 2 dùng G cho nguyên lý KC-relation consistency - điều chỉnh pattern theo quan hệ giữa các KC (VD prerequisite).</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Problem Hierarchy</a:t>
            </a:r>
            <a:endParaRPr lang="en-US" sz="1200" dirty="0"/>
          </a:p>
        </p:txBody>
      </p:sp>
      <p:sp>
        <p:nvSpPr>
          <p:cNvPr id="17" name="Text 14"/>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vì sao chọn cột này</a:t>
            </a:r>
            <a:endParaRPr lang="en-US" sz="1000" dirty="0"/>
          </a:p>
        </p:txBody>
      </p:sp>
      <p:sp>
        <p:nvSpPr>
          <p:cNvPr id="18" name="Text 15"/>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47</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KC · algebra05  ·  Nguồn: mục 5.1 notebook</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Mạng quan hệ giữa KC và câu hỏi (dữ liệu thực)</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Dữ liệu thô không có sẵn cây phân cấp KC - mạng dưới đây lấy trực tiếp từ dữ liệu thật: nhiều KC (chấm màu) mỗi KC nối tới nhiều câu hỏi thật đã dùng đúng khái niệm đó (chấm xám); câu hỏi viền đậm là câu hỏi thật cần nhiều KC cùng lúc.</a:t>
            </a:r>
            <a:endParaRPr lang="en-US" sz="1150" dirty="0"/>
          </a:p>
        </p:txBody>
      </p:sp>
      <p:sp>
        <p:nvSpPr>
          <p:cNvPr id="5" name="Shape 3"/>
          <p:cNvSpPr/>
          <p:nvPr/>
        </p:nvSpPr>
        <p:spPr>
          <a:xfrm flipV="1">
            <a:off x="1874350" y="2136236"/>
            <a:ext cx="4457984" cy="157239"/>
          </a:xfrm>
          <a:prstGeom prst="line">
            <a:avLst/>
          </a:prstGeom>
          <a:noFill/>
          <a:ln w="12700">
            <a:solidFill>
              <a:srgbClr val="9CA3AF"/>
            </a:solidFill>
            <a:prstDash val="solid"/>
            <a:headEnd type="none"/>
            <a:tailEnd type="triangle"/>
          </a:ln>
        </p:spPr>
      </p:sp>
      <p:sp>
        <p:nvSpPr>
          <p:cNvPr id="6" name="Shape 4"/>
          <p:cNvSpPr/>
          <p:nvPr/>
        </p:nvSpPr>
        <p:spPr>
          <a:xfrm flipV="1">
            <a:off x="1866523" y="2173627"/>
            <a:ext cx="4471029" cy="1103894"/>
          </a:xfrm>
          <a:prstGeom prst="line">
            <a:avLst/>
          </a:prstGeom>
          <a:noFill/>
          <a:ln w="12700">
            <a:solidFill>
              <a:srgbClr val="9CA3AF"/>
            </a:solidFill>
            <a:prstDash val="solid"/>
            <a:headEnd type="none"/>
            <a:tailEnd type="triangle"/>
          </a:ln>
        </p:spPr>
      </p:sp>
      <p:sp>
        <p:nvSpPr>
          <p:cNvPr id="7" name="Shape 5"/>
          <p:cNvSpPr/>
          <p:nvPr/>
        </p:nvSpPr>
        <p:spPr>
          <a:xfrm flipV="1">
            <a:off x="1849556" y="2206014"/>
            <a:ext cx="4499306" cy="2063054"/>
          </a:xfrm>
          <a:prstGeom prst="line">
            <a:avLst/>
          </a:prstGeom>
          <a:noFill/>
          <a:ln w="12700">
            <a:solidFill>
              <a:srgbClr val="9CA3AF"/>
            </a:solidFill>
            <a:prstDash val="solid"/>
            <a:headEnd type="none"/>
            <a:tailEnd type="triangle"/>
          </a:ln>
        </p:spPr>
      </p:sp>
      <p:sp>
        <p:nvSpPr>
          <p:cNvPr id="8" name="Shape 6"/>
          <p:cNvSpPr/>
          <p:nvPr/>
        </p:nvSpPr>
        <p:spPr>
          <a:xfrm flipV="1">
            <a:off x="1828080" y="2231600"/>
            <a:ext cx="4535099" cy="3039220"/>
          </a:xfrm>
          <a:prstGeom prst="line">
            <a:avLst/>
          </a:prstGeom>
          <a:noFill/>
          <a:ln w="12700">
            <a:solidFill>
              <a:srgbClr val="9CA3AF"/>
            </a:solidFill>
            <a:prstDash val="solid"/>
            <a:headEnd type="none"/>
            <a:tailEnd type="triangle"/>
          </a:ln>
        </p:spPr>
      </p:sp>
      <p:sp>
        <p:nvSpPr>
          <p:cNvPr id="9" name="Shape 7"/>
          <p:cNvSpPr/>
          <p:nvPr/>
        </p:nvSpPr>
        <p:spPr>
          <a:xfrm>
            <a:off x="1872997" y="2332011"/>
            <a:ext cx="4460238" cy="471955"/>
          </a:xfrm>
          <a:prstGeom prst="line">
            <a:avLst/>
          </a:prstGeom>
          <a:noFill/>
          <a:ln w="12700">
            <a:solidFill>
              <a:srgbClr val="9CA3AF"/>
            </a:solidFill>
            <a:prstDash val="solid"/>
            <a:headEnd type="none"/>
            <a:tailEnd type="triangle"/>
          </a:ln>
        </p:spPr>
      </p:sp>
      <p:sp>
        <p:nvSpPr>
          <p:cNvPr id="10" name="Shape 8"/>
          <p:cNvSpPr/>
          <p:nvPr/>
        </p:nvSpPr>
        <p:spPr>
          <a:xfrm>
            <a:off x="1866523" y="2368900"/>
            <a:ext cx="4471029" cy="1103894"/>
          </a:xfrm>
          <a:prstGeom prst="line">
            <a:avLst/>
          </a:prstGeom>
          <a:noFill/>
          <a:ln w="12700">
            <a:solidFill>
              <a:srgbClr val="9CA3AF"/>
            </a:solidFill>
            <a:prstDash val="solid"/>
            <a:headEnd type="none"/>
            <a:tailEnd type="triangle"/>
          </a:ln>
        </p:spPr>
      </p:sp>
      <p:sp>
        <p:nvSpPr>
          <p:cNvPr id="11" name="Shape 9"/>
          <p:cNvSpPr/>
          <p:nvPr/>
        </p:nvSpPr>
        <p:spPr>
          <a:xfrm>
            <a:off x="1855946" y="2402370"/>
            <a:ext cx="4488657" cy="1741529"/>
          </a:xfrm>
          <a:prstGeom prst="line">
            <a:avLst/>
          </a:prstGeom>
          <a:noFill/>
          <a:ln w="12700">
            <a:solidFill>
              <a:srgbClr val="9CA3AF"/>
            </a:solidFill>
            <a:prstDash val="solid"/>
            <a:headEnd type="none"/>
            <a:tailEnd type="triangle"/>
          </a:ln>
        </p:spPr>
      </p:sp>
      <p:sp>
        <p:nvSpPr>
          <p:cNvPr id="12" name="Shape 10"/>
          <p:cNvSpPr/>
          <p:nvPr/>
        </p:nvSpPr>
        <p:spPr>
          <a:xfrm>
            <a:off x="1861662" y="3426274"/>
            <a:ext cx="4479129" cy="1421863"/>
          </a:xfrm>
          <a:prstGeom prst="line">
            <a:avLst/>
          </a:prstGeom>
          <a:noFill/>
          <a:ln w="12700">
            <a:solidFill>
              <a:srgbClr val="9CA3AF"/>
            </a:solidFill>
            <a:prstDash val="solid"/>
            <a:headEnd type="none"/>
            <a:tailEnd type="triangle"/>
          </a:ln>
        </p:spPr>
      </p:sp>
      <p:sp>
        <p:nvSpPr>
          <p:cNvPr id="13" name="Shape 11"/>
          <p:cNvSpPr/>
          <p:nvPr/>
        </p:nvSpPr>
        <p:spPr>
          <a:xfrm>
            <a:off x="1849556" y="3457612"/>
            <a:ext cx="4499306" cy="2063054"/>
          </a:xfrm>
          <a:prstGeom prst="line">
            <a:avLst/>
          </a:prstGeom>
          <a:noFill/>
          <a:ln w="12700">
            <a:solidFill>
              <a:srgbClr val="9CA3AF"/>
            </a:solidFill>
            <a:prstDash val="solid"/>
            <a:headEnd type="none"/>
            <a:tailEnd type="triangle"/>
          </a:ln>
        </p:spPr>
      </p:sp>
      <p:sp>
        <p:nvSpPr>
          <p:cNvPr id="14" name="Shape 12"/>
          <p:cNvSpPr/>
          <p:nvPr/>
        </p:nvSpPr>
        <p:spPr>
          <a:xfrm flipV="1">
            <a:off x="1871602" y="2156396"/>
            <a:ext cx="7800124" cy="1146971"/>
          </a:xfrm>
          <a:prstGeom prst="line">
            <a:avLst/>
          </a:prstGeom>
          <a:noFill/>
          <a:ln w="12700">
            <a:solidFill>
              <a:srgbClr val="9CA3AF"/>
            </a:solidFill>
            <a:prstDash val="solid"/>
            <a:headEnd type="none"/>
            <a:tailEnd type="triangle"/>
          </a:ln>
        </p:spPr>
      </p:sp>
      <p:sp>
        <p:nvSpPr>
          <p:cNvPr id="15" name="Shape 13"/>
          <p:cNvSpPr/>
          <p:nvPr/>
        </p:nvSpPr>
        <p:spPr>
          <a:xfrm flipV="1">
            <a:off x="1869745" y="2857183"/>
            <a:ext cx="7803218" cy="1475262"/>
          </a:xfrm>
          <a:prstGeom prst="line">
            <a:avLst/>
          </a:prstGeom>
          <a:noFill/>
          <a:ln w="12700">
            <a:solidFill>
              <a:srgbClr val="9CA3AF"/>
            </a:solidFill>
            <a:prstDash val="solid"/>
            <a:headEnd type="none"/>
            <a:tailEnd type="triangle"/>
          </a:ln>
        </p:spPr>
      </p:sp>
      <p:sp>
        <p:nvSpPr>
          <p:cNvPr id="16" name="Shape 14"/>
          <p:cNvSpPr/>
          <p:nvPr/>
        </p:nvSpPr>
        <p:spPr>
          <a:xfrm flipV="1">
            <a:off x="1861662" y="2878543"/>
            <a:ext cx="4479129" cy="1421863"/>
          </a:xfrm>
          <a:prstGeom prst="line">
            <a:avLst/>
          </a:prstGeom>
          <a:noFill/>
          <a:ln w="12700">
            <a:solidFill>
              <a:srgbClr val="9CA3AF"/>
            </a:solidFill>
            <a:prstDash val="solid"/>
            <a:headEnd type="none"/>
            <a:tailEnd type="triangle"/>
          </a:ln>
        </p:spPr>
      </p:sp>
      <p:sp>
        <p:nvSpPr>
          <p:cNvPr id="17" name="Shape 15"/>
          <p:cNvSpPr/>
          <p:nvPr/>
        </p:nvSpPr>
        <p:spPr>
          <a:xfrm flipV="1">
            <a:off x="1873019" y="3535733"/>
            <a:ext cx="7797761" cy="819017"/>
          </a:xfrm>
          <a:prstGeom prst="line">
            <a:avLst/>
          </a:prstGeom>
          <a:noFill/>
          <a:ln w="12700">
            <a:solidFill>
              <a:srgbClr val="9CA3AF"/>
            </a:solidFill>
            <a:prstDash val="solid"/>
            <a:headEnd type="none"/>
            <a:tailEnd type="triangle"/>
          </a:ln>
        </p:spPr>
      </p:sp>
      <p:sp>
        <p:nvSpPr>
          <p:cNvPr id="18" name="Shape 16"/>
          <p:cNvSpPr/>
          <p:nvPr/>
        </p:nvSpPr>
        <p:spPr>
          <a:xfrm flipV="1">
            <a:off x="1871602" y="4236656"/>
            <a:ext cx="7800124" cy="1146971"/>
          </a:xfrm>
          <a:prstGeom prst="line">
            <a:avLst/>
          </a:prstGeom>
          <a:noFill/>
          <a:ln w="12700">
            <a:solidFill>
              <a:srgbClr val="9CA3AF"/>
            </a:solidFill>
            <a:prstDash val="solid"/>
            <a:headEnd type="none"/>
            <a:tailEnd type="triangle"/>
          </a:ln>
        </p:spPr>
      </p:sp>
      <p:sp>
        <p:nvSpPr>
          <p:cNvPr id="19" name="Shape 17"/>
          <p:cNvSpPr/>
          <p:nvPr/>
        </p:nvSpPr>
        <p:spPr>
          <a:xfrm flipV="1">
            <a:off x="1873977" y="4914972"/>
            <a:ext cx="7796165" cy="491310"/>
          </a:xfrm>
          <a:prstGeom prst="line">
            <a:avLst/>
          </a:prstGeom>
          <a:noFill/>
          <a:ln w="12700">
            <a:solidFill>
              <a:srgbClr val="9CA3AF"/>
            </a:solidFill>
            <a:prstDash val="solid"/>
            <a:headEnd type="none"/>
            <a:tailEnd type="triangle"/>
          </a:ln>
        </p:spPr>
      </p:sp>
      <p:sp>
        <p:nvSpPr>
          <p:cNvPr id="20" name="Shape 18"/>
          <p:cNvSpPr/>
          <p:nvPr/>
        </p:nvSpPr>
        <p:spPr>
          <a:xfrm>
            <a:off x="1874459" y="5429296"/>
            <a:ext cx="7795361" cy="163753"/>
          </a:xfrm>
          <a:prstGeom prst="line">
            <a:avLst/>
          </a:prstGeom>
          <a:noFill/>
          <a:ln w="12700">
            <a:solidFill>
              <a:srgbClr val="9CA3AF"/>
            </a:solidFill>
            <a:prstDash val="solid"/>
            <a:headEnd type="none"/>
            <a:tailEnd type="triangle"/>
          </a:ln>
        </p:spPr>
      </p:sp>
      <p:sp>
        <p:nvSpPr>
          <p:cNvPr id="21" name="Shape 19"/>
          <p:cNvSpPr/>
          <p:nvPr/>
        </p:nvSpPr>
        <p:spPr>
          <a:xfrm>
            <a:off x="1325880" y="2028825"/>
            <a:ext cx="548640" cy="548640"/>
          </a:xfrm>
          <a:prstGeom prst="ellipse">
            <a:avLst/>
          </a:prstGeom>
          <a:solidFill>
            <a:srgbClr val="D1EFE4"/>
          </a:solidFill>
          <a:ln w="19050">
            <a:solidFill>
              <a:srgbClr val="1BAF7A"/>
            </a:solidFill>
            <a:prstDash val="solid"/>
          </a:ln>
        </p:spPr>
      </p:sp>
      <p:sp>
        <p:nvSpPr>
          <p:cNvPr id="22" name="Shape 20"/>
          <p:cNvSpPr/>
          <p:nvPr/>
        </p:nvSpPr>
        <p:spPr>
          <a:xfrm>
            <a:off x="1984248" y="2111121"/>
            <a:ext cx="2514600" cy="384048"/>
          </a:xfrm>
          <a:prstGeom prst="rect">
            <a:avLst/>
          </a:prstGeom>
          <a:solidFill>
            <a:srgbClr val="FFFFFF"/>
          </a:solidFill>
          <a:ln/>
        </p:spPr>
      </p:sp>
      <p:sp>
        <p:nvSpPr>
          <p:cNvPr id="23" name="Text 21"/>
          <p:cNvSpPr/>
          <p:nvPr/>
        </p:nvSpPr>
        <p:spPr>
          <a:xfrm>
            <a:off x="1984248" y="211112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distribute-sp</a:t>
            </a:r>
            <a:endParaRPr lang="en-US" sz="1050" dirty="0"/>
          </a:p>
        </p:txBody>
      </p:sp>
      <p:sp>
        <p:nvSpPr>
          <p:cNvPr id="24" name="Shape 22"/>
          <p:cNvSpPr/>
          <p:nvPr/>
        </p:nvSpPr>
        <p:spPr>
          <a:xfrm>
            <a:off x="1325880" y="3068955"/>
            <a:ext cx="548640" cy="548640"/>
          </a:xfrm>
          <a:prstGeom prst="ellipse">
            <a:avLst/>
          </a:prstGeom>
          <a:solidFill>
            <a:srgbClr val="D1EFE4"/>
          </a:solidFill>
          <a:ln w="19050">
            <a:solidFill>
              <a:srgbClr val="1BAF7A"/>
            </a:solidFill>
            <a:prstDash val="solid"/>
          </a:ln>
        </p:spPr>
      </p:sp>
      <p:sp>
        <p:nvSpPr>
          <p:cNvPr id="25" name="Shape 23"/>
          <p:cNvSpPr/>
          <p:nvPr/>
        </p:nvSpPr>
        <p:spPr>
          <a:xfrm>
            <a:off x="1984248" y="3151251"/>
            <a:ext cx="2514600" cy="384048"/>
          </a:xfrm>
          <a:prstGeom prst="rect">
            <a:avLst/>
          </a:prstGeom>
          <a:solidFill>
            <a:srgbClr val="FFFFFF"/>
          </a:solidFill>
          <a:ln/>
        </p:spPr>
      </p:sp>
      <p:sp>
        <p:nvSpPr>
          <p:cNvPr id="26" name="Text 24"/>
          <p:cNvSpPr/>
          <p:nvPr/>
        </p:nvSpPr>
        <p:spPr>
          <a:xfrm>
            <a:off x="1984248" y="315125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simplify-fractions-sp</a:t>
            </a:r>
            <a:endParaRPr lang="en-US" sz="1050" dirty="0"/>
          </a:p>
        </p:txBody>
      </p:sp>
      <p:sp>
        <p:nvSpPr>
          <p:cNvPr id="27" name="Shape 25"/>
          <p:cNvSpPr/>
          <p:nvPr/>
        </p:nvSpPr>
        <p:spPr>
          <a:xfrm>
            <a:off x="1325880" y="4109085"/>
            <a:ext cx="548640" cy="548640"/>
          </a:xfrm>
          <a:prstGeom prst="ellipse">
            <a:avLst/>
          </a:prstGeom>
          <a:solidFill>
            <a:srgbClr val="D1EFE4"/>
          </a:solidFill>
          <a:ln w="19050">
            <a:solidFill>
              <a:srgbClr val="1BAF7A"/>
            </a:solidFill>
            <a:prstDash val="solid"/>
          </a:ln>
        </p:spPr>
      </p:sp>
      <p:sp>
        <p:nvSpPr>
          <p:cNvPr id="28" name="Shape 26"/>
          <p:cNvSpPr/>
          <p:nvPr/>
        </p:nvSpPr>
        <p:spPr>
          <a:xfrm>
            <a:off x="1984248" y="4191381"/>
            <a:ext cx="2514600" cy="384048"/>
          </a:xfrm>
          <a:prstGeom prst="rect">
            <a:avLst/>
          </a:prstGeom>
          <a:solidFill>
            <a:srgbClr val="FFFFFF"/>
          </a:solidFill>
          <a:ln/>
        </p:spPr>
      </p:sp>
      <p:sp>
        <p:nvSpPr>
          <p:cNvPr id="29" name="Text 27"/>
          <p:cNvSpPr/>
          <p:nvPr/>
        </p:nvSpPr>
        <p:spPr>
          <a:xfrm>
            <a:off x="1984248" y="419138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combine-like-terms-sp</a:t>
            </a:r>
            <a:endParaRPr lang="en-US" sz="1050" dirty="0"/>
          </a:p>
        </p:txBody>
      </p:sp>
      <p:sp>
        <p:nvSpPr>
          <p:cNvPr id="30" name="Shape 28"/>
          <p:cNvSpPr/>
          <p:nvPr/>
        </p:nvSpPr>
        <p:spPr>
          <a:xfrm>
            <a:off x="1325880" y="5149215"/>
            <a:ext cx="548640" cy="548640"/>
          </a:xfrm>
          <a:prstGeom prst="ellipse">
            <a:avLst/>
          </a:prstGeom>
          <a:solidFill>
            <a:srgbClr val="D1EFE4"/>
          </a:solidFill>
          <a:ln w="19050">
            <a:solidFill>
              <a:srgbClr val="1BAF7A"/>
            </a:solidFill>
            <a:prstDash val="solid"/>
          </a:ln>
        </p:spPr>
      </p:sp>
      <p:sp>
        <p:nvSpPr>
          <p:cNvPr id="31" name="Shape 29"/>
          <p:cNvSpPr/>
          <p:nvPr/>
        </p:nvSpPr>
        <p:spPr>
          <a:xfrm>
            <a:off x="1984248" y="5231511"/>
            <a:ext cx="2514600" cy="384048"/>
          </a:xfrm>
          <a:prstGeom prst="rect">
            <a:avLst/>
          </a:prstGeom>
          <a:solidFill>
            <a:srgbClr val="FFFFFF"/>
          </a:solidFill>
          <a:ln/>
        </p:spPr>
      </p:sp>
      <p:sp>
        <p:nvSpPr>
          <p:cNvPr id="32" name="Text 30"/>
          <p:cNvSpPr/>
          <p:nvPr/>
        </p:nvSpPr>
        <p:spPr>
          <a:xfrm>
            <a:off x="1984248" y="523151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perform-mult-sp</a:t>
            </a:r>
            <a:endParaRPr lang="en-US" sz="1050" dirty="0"/>
          </a:p>
        </p:txBody>
      </p:sp>
      <p:sp>
        <p:nvSpPr>
          <p:cNvPr id="33" name="Shape 31"/>
          <p:cNvSpPr/>
          <p:nvPr/>
        </p:nvSpPr>
        <p:spPr>
          <a:xfrm>
            <a:off x="6332220" y="1946910"/>
            <a:ext cx="365760" cy="365760"/>
          </a:xfrm>
          <a:prstGeom prst="ellipse">
            <a:avLst/>
          </a:prstGeom>
          <a:solidFill>
            <a:srgbClr val="E1E3E6"/>
          </a:solidFill>
          <a:ln w="31750">
            <a:solidFill>
              <a:srgbClr val="6B7280"/>
            </a:solidFill>
            <a:prstDash val="solid"/>
          </a:ln>
        </p:spPr>
      </p:sp>
      <p:sp>
        <p:nvSpPr>
          <p:cNvPr id="34" name="Shape 32"/>
          <p:cNvSpPr/>
          <p:nvPr/>
        </p:nvSpPr>
        <p:spPr>
          <a:xfrm>
            <a:off x="4914900" y="2358390"/>
            <a:ext cx="3200400" cy="384048"/>
          </a:xfrm>
          <a:prstGeom prst="rect">
            <a:avLst/>
          </a:prstGeom>
          <a:solidFill>
            <a:srgbClr val="FFFFFF"/>
          </a:solidFill>
          <a:ln/>
        </p:spPr>
      </p:sp>
      <p:sp>
        <p:nvSpPr>
          <p:cNvPr id="35" name="Text 33"/>
          <p:cNvSpPr/>
          <p:nvPr/>
        </p:nvSpPr>
        <p:spPr>
          <a:xfrm>
            <a:off x="4914900" y="2358390"/>
            <a:ext cx="3200400"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LIT57A / FinalAnswer</a:t>
            </a:r>
            <a:endParaRPr lang="en-US" sz="1000" dirty="0"/>
          </a:p>
        </p:txBody>
      </p:sp>
      <p:sp>
        <p:nvSpPr>
          <p:cNvPr id="36" name="Shape 34"/>
          <p:cNvSpPr/>
          <p:nvPr/>
        </p:nvSpPr>
        <p:spPr>
          <a:xfrm>
            <a:off x="6332220" y="2640330"/>
            <a:ext cx="365760" cy="365760"/>
          </a:xfrm>
          <a:prstGeom prst="ellipse">
            <a:avLst/>
          </a:prstGeom>
          <a:solidFill>
            <a:srgbClr val="E1E3E6"/>
          </a:solidFill>
          <a:ln w="19050">
            <a:solidFill>
              <a:srgbClr val="6B7280"/>
            </a:solidFill>
            <a:prstDash val="solid"/>
          </a:ln>
        </p:spPr>
      </p:sp>
      <p:sp>
        <p:nvSpPr>
          <p:cNvPr id="37" name="Shape 35"/>
          <p:cNvSpPr/>
          <p:nvPr/>
        </p:nvSpPr>
        <p:spPr>
          <a:xfrm>
            <a:off x="4914900" y="3051810"/>
            <a:ext cx="3200400" cy="384048"/>
          </a:xfrm>
          <a:prstGeom prst="rect">
            <a:avLst/>
          </a:prstGeom>
          <a:solidFill>
            <a:srgbClr val="FFFFFF"/>
          </a:solidFill>
          <a:ln/>
        </p:spPr>
      </p:sp>
      <p:sp>
        <p:nvSpPr>
          <p:cNvPr id="38" name="Text 36"/>
          <p:cNvSpPr/>
          <p:nvPr/>
        </p:nvSpPr>
        <p:spPr>
          <a:xfrm>
            <a:off x="4914900" y="305181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EG56 / FinalAnswer</a:t>
            </a:r>
            <a:endParaRPr lang="en-US" sz="1000" dirty="0"/>
          </a:p>
        </p:txBody>
      </p:sp>
      <p:sp>
        <p:nvSpPr>
          <p:cNvPr id="39" name="Shape 37"/>
          <p:cNvSpPr/>
          <p:nvPr/>
        </p:nvSpPr>
        <p:spPr>
          <a:xfrm>
            <a:off x="6332220" y="3333750"/>
            <a:ext cx="365760" cy="365760"/>
          </a:xfrm>
          <a:prstGeom prst="ellipse">
            <a:avLst/>
          </a:prstGeom>
          <a:solidFill>
            <a:srgbClr val="E1E3E6"/>
          </a:solidFill>
          <a:ln w="19050">
            <a:solidFill>
              <a:srgbClr val="6B7280"/>
            </a:solidFill>
            <a:prstDash val="solid"/>
          </a:ln>
        </p:spPr>
      </p:sp>
      <p:sp>
        <p:nvSpPr>
          <p:cNvPr id="40" name="Shape 38"/>
          <p:cNvSpPr/>
          <p:nvPr/>
        </p:nvSpPr>
        <p:spPr>
          <a:xfrm>
            <a:off x="4914900" y="3745230"/>
            <a:ext cx="3200400" cy="384048"/>
          </a:xfrm>
          <a:prstGeom prst="rect">
            <a:avLst/>
          </a:prstGeom>
          <a:solidFill>
            <a:srgbClr val="FFFFFF"/>
          </a:solidFill>
          <a:ln/>
        </p:spPr>
      </p:sp>
      <p:sp>
        <p:nvSpPr>
          <p:cNvPr id="41" name="Text 39"/>
          <p:cNvSpPr/>
          <p:nvPr/>
        </p:nvSpPr>
        <p:spPr>
          <a:xfrm>
            <a:off x="4914900" y="374523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EG55 / FinalAnswer</a:t>
            </a:r>
            <a:endParaRPr lang="en-US" sz="1000" dirty="0"/>
          </a:p>
        </p:txBody>
      </p:sp>
      <p:sp>
        <p:nvSpPr>
          <p:cNvPr id="42" name="Shape 40"/>
          <p:cNvSpPr/>
          <p:nvPr/>
        </p:nvSpPr>
        <p:spPr>
          <a:xfrm>
            <a:off x="6332220" y="4027170"/>
            <a:ext cx="365760" cy="365760"/>
          </a:xfrm>
          <a:prstGeom prst="ellipse">
            <a:avLst/>
          </a:prstGeom>
          <a:solidFill>
            <a:srgbClr val="E1E3E6"/>
          </a:solidFill>
          <a:ln w="19050">
            <a:solidFill>
              <a:srgbClr val="6B7280"/>
            </a:solidFill>
            <a:prstDash val="solid"/>
          </a:ln>
        </p:spPr>
      </p:sp>
      <p:sp>
        <p:nvSpPr>
          <p:cNvPr id="43" name="Shape 41"/>
          <p:cNvSpPr/>
          <p:nvPr/>
        </p:nvSpPr>
        <p:spPr>
          <a:xfrm>
            <a:off x="4914900" y="4438650"/>
            <a:ext cx="3200400" cy="384048"/>
          </a:xfrm>
          <a:prstGeom prst="rect">
            <a:avLst/>
          </a:prstGeom>
          <a:solidFill>
            <a:srgbClr val="FFFFFF"/>
          </a:solidFill>
          <a:ln/>
        </p:spPr>
      </p:sp>
      <p:sp>
        <p:nvSpPr>
          <p:cNvPr id="44" name="Text 42"/>
          <p:cNvSpPr/>
          <p:nvPr/>
        </p:nvSpPr>
        <p:spPr>
          <a:xfrm>
            <a:off x="4914900" y="443865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EG55A / FinalAnswer</a:t>
            </a:r>
            <a:endParaRPr lang="en-US" sz="1000" dirty="0"/>
          </a:p>
        </p:txBody>
      </p:sp>
      <p:sp>
        <p:nvSpPr>
          <p:cNvPr id="45" name="Shape 43"/>
          <p:cNvSpPr/>
          <p:nvPr/>
        </p:nvSpPr>
        <p:spPr>
          <a:xfrm>
            <a:off x="6332220" y="4720590"/>
            <a:ext cx="365760" cy="365760"/>
          </a:xfrm>
          <a:prstGeom prst="ellipse">
            <a:avLst/>
          </a:prstGeom>
          <a:solidFill>
            <a:srgbClr val="E1E3E6"/>
          </a:solidFill>
          <a:ln w="19050">
            <a:solidFill>
              <a:srgbClr val="6B7280"/>
            </a:solidFill>
            <a:prstDash val="solid"/>
          </a:ln>
        </p:spPr>
      </p:sp>
      <p:sp>
        <p:nvSpPr>
          <p:cNvPr id="46" name="Shape 44"/>
          <p:cNvSpPr/>
          <p:nvPr/>
        </p:nvSpPr>
        <p:spPr>
          <a:xfrm>
            <a:off x="4914900" y="5132070"/>
            <a:ext cx="3200400" cy="384048"/>
          </a:xfrm>
          <a:prstGeom prst="rect">
            <a:avLst/>
          </a:prstGeom>
          <a:solidFill>
            <a:srgbClr val="FFFFFF"/>
          </a:solidFill>
          <a:ln/>
        </p:spPr>
      </p:sp>
      <p:sp>
        <p:nvSpPr>
          <p:cNvPr id="47" name="Text 45"/>
          <p:cNvSpPr/>
          <p:nvPr/>
        </p:nvSpPr>
        <p:spPr>
          <a:xfrm>
            <a:off x="4914900" y="513207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EG-EQS04-FIXED / FinalAns…</a:t>
            </a:r>
            <a:endParaRPr lang="en-US" sz="1000" dirty="0"/>
          </a:p>
        </p:txBody>
      </p:sp>
      <p:sp>
        <p:nvSpPr>
          <p:cNvPr id="48" name="Shape 46"/>
          <p:cNvSpPr/>
          <p:nvPr/>
        </p:nvSpPr>
        <p:spPr>
          <a:xfrm>
            <a:off x="6332220" y="5414010"/>
            <a:ext cx="365760" cy="365760"/>
          </a:xfrm>
          <a:prstGeom prst="ellipse">
            <a:avLst/>
          </a:prstGeom>
          <a:solidFill>
            <a:srgbClr val="E1E3E6"/>
          </a:solidFill>
          <a:ln w="19050">
            <a:solidFill>
              <a:srgbClr val="6B7280"/>
            </a:solidFill>
            <a:prstDash val="solid"/>
          </a:ln>
        </p:spPr>
      </p:sp>
      <p:sp>
        <p:nvSpPr>
          <p:cNvPr id="49" name="Shape 47"/>
          <p:cNvSpPr/>
          <p:nvPr/>
        </p:nvSpPr>
        <p:spPr>
          <a:xfrm>
            <a:off x="4914900" y="5825490"/>
            <a:ext cx="3200400" cy="384048"/>
          </a:xfrm>
          <a:prstGeom prst="rect">
            <a:avLst/>
          </a:prstGeom>
          <a:solidFill>
            <a:srgbClr val="FFFFFF"/>
          </a:solidFill>
          <a:ln/>
        </p:spPr>
      </p:sp>
      <p:sp>
        <p:nvSpPr>
          <p:cNvPr id="50" name="Text 48"/>
          <p:cNvSpPr/>
          <p:nvPr/>
        </p:nvSpPr>
        <p:spPr>
          <a:xfrm>
            <a:off x="4914900" y="582549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EG-EQS06 / FinalAnswer</a:t>
            </a:r>
            <a:endParaRPr lang="en-US" sz="1000" dirty="0"/>
          </a:p>
        </p:txBody>
      </p:sp>
      <p:sp>
        <p:nvSpPr>
          <p:cNvPr id="51" name="Shape 49"/>
          <p:cNvSpPr/>
          <p:nvPr/>
        </p:nvSpPr>
        <p:spPr>
          <a:xfrm>
            <a:off x="9669780" y="1946910"/>
            <a:ext cx="365760" cy="365760"/>
          </a:xfrm>
          <a:prstGeom prst="ellipse">
            <a:avLst/>
          </a:prstGeom>
          <a:solidFill>
            <a:srgbClr val="E1E3E6"/>
          </a:solidFill>
          <a:ln w="19050">
            <a:solidFill>
              <a:srgbClr val="6B7280"/>
            </a:solidFill>
            <a:prstDash val="solid"/>
          </a:ln>
        </p:spPr>
      </p:sp>
      <p:sp>
        <p:nvSpPr>
          <p:cNvPr id="52" name="Shape 50"/>
          <p:cNvSpPr/>
          <p:nvPr/>
        </p:nvSpPr>
        <p:spPr>
          <a:xfrm>
            <a:off x="8252460" y="2358390"/>
            <a:ext cx="3200400" cy="384048"/>
          </a:xfrm>
          <a:prstGeom prst="rect">
            <a:avLst/>
          </a:prstGeom>
          <a:solidFill>
            <a:srgbClr val="FFFFFF"/>
          </a:solidFill>
          <a:ln/>
        </p:spPr>
      </p:sp>
      <p:sp>
        <p:nvSpPr>
          <p:cNvPr id="53" name="Text 51"/>
          <p:cNvSpPr/>
          <p:nvPr/>
        </p:nvSpPr>
        <p:spPr>
          <a:xfrm>
            <a:off x="8252460" y="235839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EG-EQS04 / FinalAnswer</a:t>
            </a:r>
            <a:endParaRPr lang="en-US" sz="1000" dirty="0"/>
          </a:p>
        </p:txBody>
      </p:sp>
      <p:sp>
        <p:nvSpPr>
          <p:cNvPr id="54" name="Shape 52"/>
          <p:cNvSpPr/>
          <p:nvPr/>
        </p:nvSpPr>
        <p:spPr>
          <a:xfrm>
            <a:off x="9669780" y="2640330"/>
            <a:ext cx="365760" cy="365760"/>
          </a:xfrm>
          <a:prstGeom prst="ellipse">
            <a:avLst/>
          </a:prstGeom>
          <a:solidFill>
            <a:srgbClr val="E1E3E6"/>
          </a:solidFill>
          <a:ln w="19050">
            <a:solidFill>
              <a:srgbClr val="6B7280"/>
            </a:solidFill>
            <a:prstDash val="solid"/>
          </a:ln>
        </p:spPr>
      </p:sp>
      <p:sp>
        <p:nvSpPr>
          <p:cNvPr id="55" name="Shape 53"/>
          <p:cNvSpPr/>
          <p:nvPr/>
        </p:nvSpPr>
        <p:spPr>
          <a:xfrm>
            <a:off x="8252460" y="3051810"/>
            <a:ext cx="3200400" cy="384048"/>
          </a:xfrm>
          <a:prstGeom prst="rect">
            <a:avLst/>
          </a:prstGeom>
          <a:solidFill>
            <a:srgbClr val="FFFFFF"/>
          </a:solidFill>
          <a:ln/>
        </p:spPr>
      </p:sp>
      <p:sp>
        <p:nvSpPr>
          <p:cNvPr id="56" name="Text 54"/>
          <p:cNvSpPr/>
          <p:nvPr/>
        </p:nvSpPr>
        <p:spPr>
          <a:xfrm>
            <a:off x="8252460" y="305181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EG40 / FinalAnswer</a:t>
            </a:r>
            <a:endParaRPr lang="en-US" sz="1000" dirty="0"/>
          </a:p>
        </p:txBody>
      </p:sp>
      <p:sp>
        <p:nvSpPr>
          <p:cNvPr id="57" name="Shape 55"/>
          <p:cNvSpPr/>
          <p:nvPr/>
        </p:nvSpPr>
        <p:spPr>
          <a:xfrm>
            <a:off x="9669780" y="3333750"/>
            <a:ext cx="365760" cy="365760"/>
          </a:xfrm>
          <a:prstGeom prst="ellipse">
            <a:avLst/>
          </a:prstGeom>
          <a:solidFill>
            <a:srgbClr val="E1E3E6"/>
          </a:solidFill>
          <a:ln w="19050">
            <a:solidFill>
              <a:srgbClr val="6B7280"/>
            </a:solidFill>
            <a:prstDash val="solid"/>
          </a:ln>
        </p:spPr>
      </p:sp>
      <p:sp>
        <p:nvSpPr>
          <p:cNvPr id="58" name="Shape 56"/>
          <p:cNvSpPr/>
          <p:nvPr/>
        </p:nvSpPr>
        <p:spPr>
          <a:xfrm>
            <a:off x="8252460" y="3745230"/>
            <a:ext cx="3200400" cy="384048"/>
          </a:xfrm>
          <a:prstGeom prst="rect">
            <a:avLst/>
          </a:prstGeom>
          <a:solidFill>
            <a:srgbClr val="FFFFFF"/>
          </a:solidFill>
          <a:ln/>
        </p:spPr>
      </p:sp>
      <p:sp>
        <p:nvSpPr>
          <p:cNvPr id="59" name="Text 57"/>
          <p:cNvSpPr/>
          <p:nvPr/>
        </p:nvSpPr>
        <p:spPr>
          <a:xfrm>
            <a:off x="8252460" y="374523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EG22 / FinalAnswer</a:t>
            </a:r>
            <a:endParaRPr lang="en-US" sz="1000" dirty="0"/>
          </a:p>
        </p:txBody>
      </p:sp>
      <p:sp>
        <p:nvSpPr>
          <p:cNvPr id="60" name="Shape 58"/>
          <p:cNvSpPr/>
          <p:nvPr/>
        </p:nvSpPr>
        <p:spPr>
          <a:xfrm>
            <a:off x="9669780" y="4027170"/>
            <a:ext cx="365760" cy="365760"/>
          </a:xfrm>
          <a:prstGeom prst="ellipse">
            <a:avLst/>
          </a:prstGeom>
          <a:solidFill>
            <a:srgbClr val="E1E3E6"/>
          </a:solidFill>
          <a:ln w="19050">
            <a:solidFill>
              <a:srgbClr val="6B7280"/>
            </a:solidFill>
            <a:prstDash val="solid"/>
          </a:ln>
        </p:spPr>
      </p:sp>
      <p:sp>
        <p:nvSpPr>
          <p:cNvPr id="61" name="Shape 59"/>
          <p:cNvSpPr/>
          <p:nvPr/>
        </p:nvSpPr>
        <p:spPr>
          <a:xfrm>
            <a:off x="8252460" y="4438650"/>
            <a:ext cx="3200400" cy="384048"/>
          </a:xfrm>
          <a:prstGeom prst="rect">
            <a:avLst/>
          </a:prstGeom>
          <a:solidFill>
            <a:srgbClr val="FFFFFF"/>
          </a:solidFill>
          <a:ln/>
        </p:spPr>
      </p:sp>
      <p:sp>
        <p:nvSpPr>
          <p:cNvPr id="62" name="Text 60"/>
          <p:cNvSpPr/>
          <p:nvPr/>
        </p:nvSpPr>
        <p:spPr>
          <a:xfrm>
            <a:off x="8252460" y="443865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EG-EPS04-FIXED / FinalAns…</a:t>
            </a:r>
            <a:endParaRPr lang="en-US" sz="1000" dirty="0"/>
          </a:p>
        </p:txBody>
      </p:sp>
      <p:sp>
        <p:nvSpPr>
          <p:cNvPr id="63" name="Shape 61"/>
          <p:cNvSpPr/>
          <p:nvPr/>
        </p:nvSpPr>
        <p:spPr>
          <a:xfrm>
            <a:off x="9669780" y="4720590"/>
            <a:ext cx="365760" cy="365760"/>
          </a:xfrm>
          <a:prstGeom prst="ellipse">
            <a:avLst/>
          </a:prstGeom>
          <a:solidFill>
            <a:srgbClr val="E1E3E6"/>
          </a:solidFill>
          <a:ln w="19050">
            <a:solidFill>
              <a:srgbClr val="6B7280"/>
            </a:solidFill>
            <a:prstDash val="solid"/>
          </a:ln>
        </p:spPr>
      </p:sp>
      <p:sp>
        <p:nvSpPr>
          <p:cNvPr id="64" name="Shape 62"/>
          <p:cNvSpPr/>
          <p:nvPr/>
        </p:nvSpPr>
        <p:spPr>
          <a:xfrm>
            <a:off x="8252460" y="5132070"/>
            <a:ext cx="3200400" cy="384048"/>
          </a:xfrm>
          <a:prstGeom prst="rect">
            <a:avLst/>
          </a:prstGeom>
          <a:solidFill>
            <a:srgbClr val="FFFFFF"/>
          </a:solidFill>
          <a:ln/>
        </p:spPr>
      </p:sp>
      <p:sp>
        <p:nvSpPr>
          <p:cNvPr id="65" name="Text 63"/>
          <p:cNvSpPr/>
          <p:nvPr/>
        </p:nvSpPr>
        <p:spPr>
          <a:xfrm>
            <a:off x="8252460" y="513207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EG-EPS06 / FinalAnswer</a:t>
            </a:r>
            <a:endParaRPr lang="en-US" sz="1000" dirty="0"/>
          </a:p>
        </p:txBody>
      </p:sp>
      <p:sp>
        <p:nvSpPr>
          <p:cNvPr id="66" name="Shape 64"/>
          <p:cNvSpPr/>
          <p:nvPr/>
        </p:nvSpPr>
        <p:spPr>
          <a:xfrm>
            <a:off x="9669780" y="5414010"/>
            <a:ext cx="365760" cy="365760"/>
          </a:xfrm>
          <a:prstGeom prst="ellipse">
            <a:avLst/>
          </a:prstGeom>
          <a:solidFill>
            <a:srgbClr val="E1E3E6"/>
          </a:solidFill>
          <a:ln w="19050">
            <a:solidFill>
              <a:srgbClr val="6B7280"/>
            </a:solidFill>
            <a:prstDash val="solid"/>
          </a:ln>
        </p:spPr>
      </p:sp>
      <p:sp>
        <p:nvSpPr>
          <p:cNvPr id="67" name="Shape 65"/>
          <p:cNvSpPr/>
          <p:nvPr/>
        </p:nvSpPr>
        <p:spPr>
          <a:xfrm>
            <a:off x="8252460" y="5825490"/>
            <a:ext cx="3200400" cy="384048"/>
          </a:xfrm>
          <a:prstGeom prst="rect">
            <a:avLst/>
          </a:prstGeom>
          <a:solidFill>
            <a:srgbClr val="FFFFFF"/>
          </a:solidFill>
          <a:ln/>
        </p:spPr>
      </p:sp>
      <p:sp>
        <p:nvSpPr>
          <p:cNvPr id="68" name="Text 66"/>
          <p:cNvSpPr/>
          <p:nvPr/>
        </p:nvSpPr>
        <p:spPr>
          <a:xfrm>
            <a:off x="8252460" y="5825490"/>
            <a:ext cx="320040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EG-EPS05 / FinalAnswer</a:t>
            </a:r>
            <a:endParaRPr lang="en-US" sz="1000" dirty="0"/>
          </a:p>
        </p:txBody>
      </p:sp>
      <p:sp>
        <p:nvSpPr>
          <p:cNvPr id="69" name="Text 67"/>
          <p:cNvSpPr/>
          <p:nvPr/>
        </p:nvSpPr>
        <p:spPr>
          <a:xfrm>
            <a:off x="548640" y="6236208"/>
            <a:ext cx="11091672"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chấm màu = KC (khái niệm)   ● chấm xám = câu hỏi/bài tập   viền đậm = câu hỏi thật cần nhiều KC cùng lúc (multi-KC)</a:t>
            </a:r>
            <a:endParaRPr lang="en-US" sz="1000" dirty="0"/>
          </a:p>
        </p:txBody>
      </p:sp>
      <p:sp>
        <p:nvSpPr>
          <p:cNvPr id="70" name="Text 68"/>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sơ đồ KC ↔ câu hỏi</a:t>
            </a:r>
            <a:endParaRPr lang="en-US" sz="1000" dirty="0"/>
          </a:p>
        </p:txBody>
      </p:sp>
      <p:sp>
        <p:nvSpPr>
          <p:cNvPr id="71" name="Text 69"/>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48</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655064" cy="402336"/>
          </a:xfrm>
          <a:prstGeom prst="roundRect">
            <a:avLst>
              <a:gd name="adj" fmla="val 18182"/>
            </a:avLst>
          </a:prstGeom>
          <a:solidFill>
            <a:srgbClr val="1BAF7A"/>
          </a:solidFill>
          <a:ln/>
        </p:spPr>
      </p:sp>
      <p:sp>
        <p:nvSpPr>
          <p:cNvPr id="3" name="Text 1"/>
          <p:cNvSpPr/>
          <p:nvPr/>
        </p:nvSpPr>
        <p:spPr>
          <a:xfrm>
            <a:off x="548640" y="384048"/>
            <a:ext cx="1655064" cy="402336"/>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algebra05</a:t>
            </a:r>
            <a:endParaRPr lang="en-US" sz="1400" dirty="0"/>
          </a:p>
        </p:txBody>
      </p:sp>
      <p:sp>
        <p:nvSpPr>
          <p:cNvPr id="4" name="Text 2"/>
          <p:cNvSpPr/>
          <p:nvPr/>
        </p:nvSpPr>
        <p:spPr>
          <a:xfrm>
            <a:off x="2432304" y="329184"/>
            <a:ext cx="7772400" cy="457200"/>
          </a:xfrm>
          <a:prstGeom prst="rect">
            <a:avLst/>
          </a:prstGeom>
          <a:noFill/>
          <a:ln/>
        </p:spPr>
        <p:txBody>
          <a:bodyPr wrap="square" lIns="0" tIns="0" rIns="0" bIns="0" rtlCol="0" anchor="ctr"/>
          <a:lstStyle/>
          <a:p>
            <a:pPr indent="0" marL="0">
              <a:buNone/>
            </a:pPr>
            <a:r>
              <a:rPr lang="en-US" sz="2200" b="1" dirty="0">
                <a:solidFill>
                  <a:srgbClr val="000000"/>
                </a:solidFill>
                <a:latin typeface="Cambria" pitchFamily="34" charset="0"/>
                <a:ea typeface="Cambria" pitchFamily="34" charset="-122"/>
                <a:cs typeface="Cambria" pitchFamily="34" charset="-120"/>
              </a:rPr>
              <a:t>Algebra 2005-2006</a:t>
            </a:r>
            <a:endParaRPr lang="en-US" sz="2200" dirty="0"/>
          </a:p>
        </p:txBody>
      </p:sp>
      <p:sp>
        <p:nvSpPr>
          <p:cNvPr id="5" name="Text 3"/>
          <p:cNvSpPr/>
          <p:nvPr/>
        </p:nvSpPr>
        <p:spPr>
          <a:xfrm>
            <a:off x="548640" y="896112"/>
            <a:ext cx="7315200"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PSLC KDD Cup 2010</a:t>
            </a:r>
            <a:endParaRPr lang="en-US" sz="1100" dirty="0"/>
          </a:p>
        </p:txBody>
      </p:sp>
      <p:sp>
        <p:nvSpPr>
          <p:cNvPr id="6" name="Text 4"/>
          <p:cNvSpPr/>
          <p:nvPr/>
        </p:nvSpPr>
        <p:spPr>
          <a:xfrm>
            <a:off x="548640" y="1371600"/>
            <a:ext cx="4251960" cy="256032"/>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CẤU TRÚC FILE  </a:t>
            </a:r>
            <a:pPr indent="0" marL="0">
              <a:buNone/>
            </a:pPr>
            <a:r>
              <a:rPr lang="en-US" sz="1000" i="1" dirty="0">
                <a:solidFill>
                  <a:srgbClr val="000000"/>
                </a:solidFill>
                <a:latin typeface="Calibri" pitchFamily="34" charset="0"/>
                <a:ea typeface="Calibri" pitchFamily="34" charset="-122"/>
                <a:cs typeface="Calibri" pitchFamily="34" charset="-120"/>
              </a:rPr>
              <a:t>· mục 5.1 notebook</a:t>
            </a:r>
            <a:endParaRPr lang="en-US" sz="1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51960" cy="512064"/>
        </p:xfrm>
        <a:graphic>
          <a:graphicData uri="http://schemas.openxmlformats.org/drawingml/2006/table">
            <a:tbl>
              <a:tblPr/>
              <a:tblGrid>
                <a:gridCol w="2948940"/>
                <a:gridCol w="754380"/>
                <a:gridCol w="54864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Dòng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algebra_2005_2006_train.txt  (dùng phân tích)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809,694</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8" name="Text 5"/>
          <p:cNvSpPr/>
          <p:nvPr/>
        </p:nvSpPr>
        <p:spPr>
          <a:xfrm>
            <a:off x="548640" y="2286000"/>
            <a:ext cx="4251960" cy="27432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_test.txt / _master.txt (3,968 dòng, ẩn/có đáp án) + .txt (form nộp bài mẫu) — không dùng ở đây.</a:t>
            </a:r>
            <a:endParaRPr lang="en-US" sz="1000" dirty="0"/>
          </a:p>
        </p:txBody>
      </p:sp>
      <p:sp>
        <p:nvSpPr>
          <p:cNvPr id="9" name="Text 6"/>
          <p:cNvSpPr/>
          <p:nvPr/>
        </p:nvSpPr>
        <p:spPr>
          <a:xfrm>
            <a:off x="548640" y="2578608"/>
            <a:ext cx="4251960" cy="566928"/>
          </a:xfrm>
          <a:prstGeom prst="rect">
            <a:avLst/>
          </a:prstGeom>
          <a:noFill/>
          <a:ln/>
        </p:spPr>
        <p:txBody>
          <a:bodyPr wrap="square" lIns="0" tIns="0" rIns="0" bIns="0" rtlCol="0" anchor="ctr"/>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KC(Default) nối nhiều KC bằng '~~'. Problem Hierarchy dạng 'Unit X, Section Y' thể hiện cấu trúc chương trình học (32 đơn vị).</a:t>
            </a:r>
            <a:endParaRPr lang="en-US" sz="1000" dirty="0"/>
          </a:p>
        </p:txBody>
      </p:sp>
      <p:sp>
        <p:nvSpPr>
          <p:cNvPr id="10" name="Shape 7"/>
          <p:cNvSpPr/>
          <p:nvPr/>
        </p:nvSpPr>
        <p:spPr>
          <a:xfrm>
            <a:off x="548640" y="3255264"/>
            <a:ext cx="1356360" cy="1458468"/>
          </a:xfrm>
          <a:prstGeom prst="roundRect">
            <a:avLst>
              <a:gd name="adj" fmla="val 3371"/>
            </a:avLst>
          </a:prstGeom>
          <a:solidFill>
            <a:srgbClr val="F5F7FC"/>
          </a:solidFill>
          <a:ln w="9525">
            <a:solidFill>
              <a:srgbClr val="E3E7F1"/>
            </a:solidFill>
            <a:prstDash val="solid"/>
          </a:ln>
        </p:spPr>
      </p:sp>
      <p:sp>
        <p:nvSpPr>
          <p:cNvPr id="11" name="Text 8"/>
          <p:cNvSpPr/>
          <p:nvPr/>
        </p:nvSpPr>
        <p:spPr>
          <a:xfrm>
            <a:off x="594360" y="3328416"/>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607,025</a:t>
            </a:r>
            <a:endParaRPr lang="en-US" sz="1600" dirty="0"/>
          </a:p>
        </p:txBody>
      </p:sp>
      <p:sp>
        <p:nvSpPr>
          <p:cNvPr id="12" name="Text 9"/>
          <p:cNvSpPr/>
          <p:nvPr/>
        </p:nvSpPr>
        <p:spPr>
          <a:xfrm>
            <a:off x="594360" y="4130345"/>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Step</a:t>
            </a:r>
            <a:endParaRPr lang="en-US" sz="1000" dirty="0"/>
          </a:p>
        </p:txBody>
      </p:sp>
      <p:sp>
        <p:nvSpPr>
          <p:cNvPr id="13" name="Shape 10"/>
          <p:cNvSpPr/>
          <p:nvPr/>
        </p:nvSpPr>
        <p:spPr>
          <a:xfrm>
            <a:off x="1996440" y="3255264"/>
            <a:ext cx="1356360" cy="1458468"/>
          </a:xfrm>
          <a:prstGeom prst="roundRect">
            <a:avLst>
              <a:gd name="adj" fmla="val 3371"/>
            </a:avLst>
          </a:prstGeom>
          <a:solidFill>
            <a:srgbClr val="F5F7FC"/>
          </a:solidFill>
          <a:ln w="9525">
            <a:solidFill>
              <a:srgbClr val="E3E7F1"/>
            </a:solidFill>
            <a:prstDash val="solid"/>
          </a:ln>
        </p:spPr>
      </p:sp>
      <p:sp>
        <p:nvSpPr>
          <p:cNvPr id="14" name="Text 11"/>
          <p:cNvSpPr/>
          <p:nvPr/>
        </p:nvSpPr>
        <p:spPr>
          <a:xfrm>
            <a:off x="2042160" y="3328416"/>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574</a:t>
            </a:r>
            <a:endParaRPr lang="en-US" sz="1600" dirty="0"/>
          </a:p>
        </p:txBody>
      </p:sp>
      <p:sp>
        <p:nvSpPr>
          <p:cNvPr id="15" name="Text 12"/>
          <p:cNvSpPr/>
          <p:nvPr/>
        </p:nvSpPr>
        <p:spPr>
          <a:xfrm>
            <a:off x="2042160" y="4130345"/>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Học sinh</a:t>
            </a:r>
            <a:endParaRPr lang="en-US" sz="1000" dirty="0"/>
          </a:p>
        </p:txBody>
      </p:sp>
      <p:sp>
        <p:nvSpPr>
          <p:cNvPr id="16" name="Shape 13"/>
          <p:cNvSpPr/>
          <p:nvPr/>
        </p:nvSpPr>
        <p:spPr>
          <a:xfrm>
            <a:off x="3444240" y="3255264"/>
            <a:ext cx="1356360" cy="1458468"/>
          </a:xfrm>
          <a:prstGeom prst="roundRect">
            <a:avLst>
              <a:gd name="adj" fmla="val 3371"/>
            </a:avLst>
          </a:prstGeom>
          <a:solidFill>
            <a:srgbClr val="F5F7FC"/>
          </a:solidFill>
          <a:ln w="9525">
            <a:solidFill>
              <a:srgbClr val="E3E7F1"/>
            </a:solidFill>
            <a:prstDash val="solid"/>
          </a:ln>
        </p:spPr>
      </p:sp>
      <p:sp>
        <p:nvSpPr>
          <p:cNvPr id="17" name="Text 14"/>
          <p:cNvSpPr/>
          <p:nvPr/>
        </p:nvSpPr>
        <p:spPr>
          <a:xfrm>
            <a:off x="3489960" y="3328416"/>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1,084</a:t>
            </a:r>
            <a:endParaRPr lang="en-US" sz="1600" dirty="0"/>
          </a:p>
        </p:txBody>
      </p:sp>
      <p:sp>
        <p:nvSpPr>
          <p:cNvPr id="18" name="Text 15"/>
          <p:cNvSpPr/>
          <p:nvPr/>
        </p:nvSpPr>
        <p:spPr>
          <a:xfrm>
            <a:off x="3489960" y="4130345"/>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Bài toán</a:t>
            </a:r>
            <a:endParaRPr lang="en-US" sz="1000" dirty="0"/>
          </a:p>
        </p:txBody>
      </p:sp>
      <p:sp>
        <p:nvSpPr>
          <p:cNvPr id="19" name="Shape 16"/>
          <p:cNvSpPr/>
          <p:nvPr/>
        </p:nvSpPr>
        <p:spPr>
          <a:xfrm>
            <a:off x="548640" y="4805172"/>
            <a:ext cx="1356360" cy="1458468"/>
          </a:xfrm>
          <a:prstGeom prst="roundRect">
            <a:avLst>
              <a:gd name="adj" fmla="val 3371"/>
            </a:avLst>
          </a:prstGeom>
          <a:solidFill>
            <a:srgbClr val="F5F7FC"/>
          </a:solidFill>
          <a:ln w="9525">
            <a:solidFill>
              <a:srgbClr val="E3E7F1"/>
            </a:solidFill>
            <a:prstDash val="solid"/>
          </a:ln>
        </p:spPr>
      </p:sp>
      <p:sp>
        <p:nvSpPr>
          <p:cNvPr id="20" name="Text 17"/>
          <p:cNvSpPr/>
          <p:nvPr/>
        </p:nvSpPr>
        <p:spPr>
          <a:xfrm>
            <a:off x="594360" y="4878324"/>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112</a:t>
            </a:r>
            <a:endParaRPr lang="en-US" sz="1600" dirty="0"/>
          </a:p>
        </p:txBody>
      </p:sp>
      <p:sp>
        <p:nvSpPr>
          <p:cNvPr id="21" name="Text 18"/>
          <p:cNvSpPr/>
          <p:nvPr/>
        </p:nvSpPr>
        <p:spPr>
          <a:xfrm>
            <a:off x="594360" y="5680253"/>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KC</a:t>
            </a:r>
            <a:endParaRPr lang="en-US" sz="1000" dirty="0"/>
          </a:p>
        </p:txBody>
      </p:sp>
      <p:sp>
        <p:nvSpPr>
          <p:cNvPr id="22" name="Shape 19"/>
          <p:cNvSpPr/>
          <p:nvPr/>
        </p:nvSpPr>
        <p:spPr>
          <a:xfrm>
            <a:off x="1996440" y="4805172"/>
            <a:ext cx="1356360" cy="1458468"/>
          </a:xfrm>
          <a:prstGeom prst="roundRect">
            <a:avLst>
              <a:gd name="adj" fmla="val 3371"/>
            </a:avLst>
          </a:prstGeom>
          <a:solidFill>
            <a:srgbClr val="F5F7FC"/>
          </a:solidFill>
          <a:ln w="9525">
            <a:solidFill>
              <a:srgbClr val="E3E7F1"/>
            </a:solidFill>
            <a:prstDash val="solid"/>
          </a:ln>
        </p:spPr>
      </p:sp>
      <p:sp>
        <p:nvSpPr>
          <p:cNvPr id="23" name="Text 20"/>
          <p:cNvSpPr/>
          <p:nvPr/>
        </p:nvSpPr>
        <p:spPr>
          <a:xfrm>
            <a:off x="2042160" y="4878324"/>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75.5%</a:t>
            </a:r>
            <a:endParaRPr lang="en-US" sz="1600" dirty="0"/>
          </a:p>
        </p:txBody>
      </p:sp>
      <p:sp>
        <p:nvSpPr>
          <p:cNvPr id="24" name="Text 21"/>
          <p:cNvSpPr/>
          <p:nvPr/>
        </p:nvSpPr>
        <p:spPr>
          <a:xfrm>
            <a:off x="2042160" y="5680253"/>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Đúng ngay lần đầu (CFA)</a:t>
            </a:r>
            <a:endParaRPr lang="en-US" sz="1000" dirty="0"/>
          </a:p>
        </p:txBody>
      </p:sp>
      <p:sp>
        <p:nvSpPr>
          <p:cNvPr id="25" name="Shape 22"/>
          <p:cNvSpPr/>
          <p:nvPr/>
        </p:nvSpPr>
        <p:spPr>
          <a:xfrm>
            <a:off x="3444240" y="4805172"/>
            <a:ext cx="1356360" cy="1458468"/>
          </a:xfrm>
          <a:prstGeom prst="roundRect">
            <a:avLst>
              <a:gd name="adj" fmla="val 3371"/>
            </a:avLst>
          </a:prstGeom>
          <a:solidFill>
            <a:srgbClr val="F5F7FC"/>
          </a:solidFill>
          <a:ln w="9525">
            <a:solidFill>
              <a:srgbClr val="E3E7F1"/>
            </a:solidFill>
            <a:prstDash val="solid"/>
          </a:ln>
        </p:spPr>
      </p:sp>
      <p:sp>
        <p:nvSpPr>
          <p:cNvPr id="26" name="Text 23"/>
          <p:cNvSpPr/>
          <p:nvPr/>
        </p:nvSpPr>
        <p:spPr>
          <a:xfrm>
            <a:off x="3489960" y="4878324"/>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31.4%</a:t>
            </a:r>
            <a:endParaRPr lang="en-US" sz="1600" dirty="0"/>
          </a:p>
        </p:txBody>
      </p:sp>
      <p:sp>
        <p:nvSpPr>
          <p:cNvPr id="27" name="Text 24"/>
          <p:cNvSpPr/>
          <p:nvPr/>
        </p:nvSpPr>
        <p:spPr>
          <a:xfrm>
            <a:off x="3489960" y="5680253"/>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Step gắn &gt;1 KC</a:t>
            </a:r>
            <a:endParaRPr lang="en-US" sz="1000" dirty="0"/>
          </a:p>
        </p:txBody>
      </p:sp>
      <p:sp>
        <p:nvSpPr>
          <p:cNvPr id="28" name="Shape 25"/>
          <p:cNvSpPr/>
          <p:nvPr/>
        </p:nvSpPr>
        <p:spPr>
          <a:xfrm>
            <a:off x="4910328" y="1298448"/>
            <a:ext cx="6803136" cy="4581144"/>
          </a:xfrm>
          <a:prstGeom prst="roundRect">
            <a:avLst>
              <a:gd name="adj" fmla="val 798"/>
            </a:avLst>
          </a:prstGeom>
          <a:solidFill>
            <a:srgbClr val="FFFFFF"/>
          </a:solidFill>
          <a:ln w="15875">
            <a:solidFill>
              <a:srgbClr val="1BAF7A"/>
            </a:solidFill>
            <a:prstDash val="solid"/>
          </a:ln>
        </p:spPr>
      </p:sp>
      <p:pic>
        <p:nvPicPr>
          <p:cNvPr id="29" name="Image 0" descr="/tmp/claude-1000/-home-admincsc-workspace-binh-openscience-kt-workspace/c4c4a90d-95e7-4615-8c88-d95bfdcdf616/scratchpad/pptx_assets/fig_54.png">    </p:cNvPr>
          <p:cNvPicPr>
            <a:picLocks noChangeAspect="1"/>
          </p:cNvPicPr>
          <p:nvPr/>
        </p:nvPicPr>
        <p:blipFill>
          <a:blip r:embed="rId1"/>
          <a:stretch>
            <a:fillRect/>
          </a:stretch>
        </p:blipFill>
        <p:spPr>
          <a:xfrm>
            <a:off x="5310236" y="1371600"/>
            <a:ext cx="6003320" cy="4434840"/>
          </a:xfrm>
          <a:prstGeom prst="rect">
            <a:avLst/>
          </a:prstGeom>
        </p:spPr>
      </p:pic>
      <p:sp>
        <p:nvSpPr>
          <p:cNvPr id="30" name="Text 26"/>
          <p:cNvSpPr/>
          <p:nvPr/>
        </p:nvSpPr>
        <p:spPr>
          <a:xfrm>
            <a:off x="4983480" y="5916168"/>
            <a:ext cx="6656832" cy="502920"/>
          </a:xfrm>
          <a:prstGeom prst="rect">
            <a:avLst/>
          </a:prstGeom>
          <a:noFill/>
          <a:ln/>
        </p:spPr>
        <p:txBody>
          <a:bodyPr wrap="square" lIns="0" tIns="0" rIns="0" bIns="0" rtlCol="0" anchor="ctr"/>
          <a:lstStyle/>
          <a:p>
            <a:pPr algn="l"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algebra_2005_2006_train.txt (tab-separated) — 607,025/809,694 dòng có KC(Default) hợp lệ và nhãn Correct First Attempt.  ·  Nguồn hình: mục 5.2 "Phân tích &amp; trực quan hóa" – datasets_deep_dive.ipynb.</a:t>
            </a:r>
            <a:endParaRPr lang="en-US" sz="1000" dirty="0"/>
          </a:p>
        </p:txBody>
      </p:sp>
      <p:sp>
        <p:nvSpPr>
          <p:cNvPr id="31" name="Text 2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algebra05 · PSLC KDD Cup 2010</a:t>
            </a:r>
            <a:endParaRPr lang="en-US" sz="1000" dirty="0"/>
          </a:p>
        </p:txBody>
      </p:sp>
      <p:sp>
        <p:nvSpPr>
          <p:cNvPr id="32" name="Text 2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49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liên kết file · bridge06  ·  Nguồn: mục 5.1 "Cấu trúc file / Liên kết"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Cấu trúc file</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PSLC KDD Cup 2010 chỉ có 1 file duy nhất trong phân tích này</a:t>
            </a:r>
            <a:endParaRPr lang="en-US" sz="1150" dirty="0"/>
          </a:p>
        </p:txBody>
      </p:sp>
      <p:sp>
        <p:nvSpPr>
          <p:cNvPr id="5" name="Shape 3"/>
          <p:cNvSpPr/>
          <p:nvPr/>
        </p:nvSpPr>
        <p:spPr>
          <a:xfrm>
            <a:off x="4453128" y="2926080"/>
            <a:ext cx="3291840" cy="1005840"/>
          </a:xfrm>
          <a:prstGeom prst="roundRect">
            <a:avLst>
              <a:gd name="adj" fmla="val 6364"/>
            </a:avLst>
          </a:prstGeom>
          <a:solidFill>
            <a:srgbClr val="FDF4E0"/>
          </a:solidFill>
          <a:ln w="19050">
            <a:solidFill>
              <a:srgbClr val="EDA100"/>
            </a:solidFill>
            <a:prstDash val="solid"/>
          </a:ln>
        </p:spPr>
      </p:sp>
      <p:sp>
        <p:nvSpPr>
          <p:cNvPr id="6" name="Text 4"/>
          <p:cNvSpPr/>
          <p:nvPr/>
        </p:nvSpPr>
        <p:spPr>
          <a:xfrm>
            <a:off x="4544568" y="2926080"/>
            <a:ext cx="3108960" cy="100584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bridge_to_algebra_2006_2007_train.txt</a:t>
            </a:r>
            <a:endParaRPr lang="en-US" sz="1150" dirty="0"/>
          </a:p>
        </p:txBody>
      </p:sp>
      <p:sp>
        <p:nvSpPr>
          <p:cNvPr id="7" name="Text 5"/>
          <p:cNvSpPr/>
          <p:nvPr/>
        </p:nvSpPr>
        <p:spPr>
          <a:xfrm>
            <a:off x="3081528" y="4297680"/>
            <a:ext cx="6035040" cy="548640"/>
          </a:xfrm>
          <a:prstGeom prst="rect">
            <a:avLst/>
          </a:prstGeom>
          <a:noFill/>
          <a:ln/>
        </p:spPr>
        <p:txBody>
          <a:bodyPr wrap="square" lIns="0" tIns="0" rIns="0" bIns="0" rtlCol="0" anchor="ctr"/>
          <a:lstStyle/>
          <a:p>
            <a:pPr algn="ctr" indent="0" marL="0">
              <a:buNone/>
            </a:pPr>
            <a:r>
              <a:rPr lang="en-US" sz="1050" i="1" dirty="0">
                <a:solidFill>
                  <a:srgbClr val="000000"/>
                </a:solidFill>
                <a:latin typeface="Calibri" pitchFamily="34" charset="0"/>
                <a:ea typeface="Calibri" pitchFamily="34" charset="-122"/>
                <a:cs typeface="Calibri" pitchFamily="34" charset="-120"/>
              </a:rPr>
              <a:t>Không có quan hệ liên-file để thể hiện — toàn bộ dữ liệu (log tương tác + nhãn) nằm trong 1 file duy nhất, không cần join với file khác.</a:t>
            </a:r>
            <a:endParaRPr lang="en-US" sz="1050" dirty="0"/>
          </a:p>
        </p:txBody>
      </p:sp>
      <p:sp>
        <p:nvSpPr>
          <p:cNvPr id="8" name="Text 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bridge06 · sơ đồ liên kết file</a:t>
            </a:r>
            <a:endParaRPr lang="en-US" sz="1000" dirty="0"/>
          </a:p>
        </p:txBody>
      </p:sp>
      <p:sp>
        <p:nvSpPr>
          <p:cNvPr id="9" name="Text 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50</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EDA100"/>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bridge06</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bridge_to_algebra_2006_2007_train.txt (phần 1/2)</a:t>
            </a:r>
            <a:endParaRPr lang="en-US" sz="15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PSLC KDD Cup 2010 · 19 cột · 819.9 MB · Nguồn: mục 5.1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417820" cy="352044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Row</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thứ tự dòng (khóa nối với _test/_master)</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Anon Student 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 (ẩn danh)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2719gmbyqtjd</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2719gmbyqtjd</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2719gmbyqtjd</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 Hierarchy</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Knowledge Graph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Unit PICTURE-ALGEBRA-1, Section PICTURE-ALGEBRA-I-3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Unit PICTURE-ALGEBRA-1, Section PICTURE-ALGEBRA-I-3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Unit PICTURE-ALGEBRA-1, Section PICTURE-ALGEBRA-I-3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Problem 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bài toán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PICTALG3MU003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PICTALG3MU003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PICTALG3MU003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 View</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lần thứ mấy học sinh xem lại bài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Step Name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bước giải (đơn vị KT nhỏ nhất)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InitialQuestion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Label:1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Label:2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graphicFrame>
        <p:nvGraphicFramePr>
          <p:cNvPr id="103" name="Table 1"/>
          <p:cNvGraphicFramePr>
            <a:graphicFrameLocks noGrp="1"/>
          </p:cNvGraphicFramePr>
          <p:nvPr>
            <p:extLst>
              <p:ext uri="{D42A27DB-BD31-4B8C-83A1-F6EECF244321}">
                <p14:modId xmlns:p14="http://schemas.microsoft.com/office/powerpoint/2010/main" val="1579011935"/>
              </p:ext>
            </p:extLst>
          </p:nvPr>
        </p:nvGraphicFramePr>
        <p:xfrm>
          <a:off x="6222492" y="1298448"/>
          <a:ext cx="5417820" cy="3520440"/>
        </p:xfrm>
        <a:graphic>
          <a:graphicData uri="http://schemas.openxmlformats.org/drawingml/2006/table">
            <a:tbl>
              <a:tblPr/>
              <a:tblGrid>
                <a:gridCol w="3033979"/>
                <a:gridCol w="794794"/>
                <a:gridCol w="794794"/>
                <a:gridCol w="794252"/>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Step Start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bắt đầu bước giải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13:22:59.0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13:24:33.0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13:24:33.0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First Transaction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lượt thử đầu</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13:24:33.0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 Transaction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trả lời đúng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Step End Time</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mốc thời gian kết thúc bước giải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2006-10-05 13:24:44.0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Step Duration (sec)</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Response-time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97.667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 Step Duration (sec)</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nếu đúng ngay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3.667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14"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bridge06 · bridge_to_algebra_2006_2007_train.txt (phần 1/2)</a:t>
            </a:r>
            <a:endParaRPr lang="en-US" sz="1000" dirty="0"/>
          </a:p>
        </p:txBody>
      </p:sp>
      <p:sp>
        <p:nvSpPr>
          <p:cNvPr id="15"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51</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EDA100"/>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bridge06</a:t>
            </a:r>
            <a:endParaRPr lang="en-US" sz="1300" dirty="0"/>
          </a:p>
        </p:txBody>
      </p:sp>
      <p:sp>
        <p:nvSpPr>
          <p:cNvPr id="4" name="Text 2"/>
          <p:cNvSpPr/>
          <p:nvPr/>
        </p:nvSpPr>
        <p:spPr>
          <a:xfrm>
            <a:off x="2304288" y="310896"/>
            <a:ext cx="5010912"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bridge_to_algebra_2006_2007_train.txt (phần 2/2)</a:t>
            </a:r>
            <a:endParaRPr lang="en-US" sz="15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1/1 của PSLC KDD Cup 2010 · 19 cột · 819.9 MB · Nguồn: mục 5.1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402336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Error Step Duration (sec)</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thời gian nếu có làm sai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97.667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 First Attempt</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1=đúng ngay lần đầu (CFA)</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Incorrects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Hints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Corrects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Guess/Slip evidence</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KC(SubSkills)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kỹ năng (KC), nhiều KC nối bằng ~~</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Identify larger quantity -- multiplication</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Opportunity(SubSkills)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lượt thứ mấy học sinh gặp KC này</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bridge06 · bridge_to_algebra_2006_2007_train.txt (phần 2/2)</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52</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384048"/>
          </a:xfrm>
          <a:prstGeom prst="roundRect">
            <a:avLst>
              <a:gd name="adj" fmla="val 19048"/>
            </a:avLst>
          </a:prstGeom>
          <a:solidFill>
            <a:srgbClr val="EDA100"/>
          </a:solidFill>
          <a:ln/>
        </p:spPr>
      </p:sp>
      <p:sp>
        <p:nvSpPr>
          <p:cNvPr id="3" name="Text 1"/>
          <p:cNvSpPr/>
          <p:nvPr/>
        </p:nvSpPr>
        <p:spPr>
          <a:xfrm>
            <a:off x="548640" y="384048"/>
            <a:ext cx="1527048"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bridge06</a:t>
            </a:r>
            <a:endParaRPr lang="en-US" sz="1300" dirty="0"/>
          </a:p>
        </p:txBody>
      </p:sp>
      <p:sp>
        <p:nvSpPr>
          <p:cNvPr id="4" name="Text 2"/>
          <p:cNvSpPr/>
          <p:nvPr/>
        </p:nvSpPr>
        <p:spPr>
          <a:xfrm>
            <a:off x="2304288" y="310896"/>
            <a:ext cx="868680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Vì sao các cột này được chọn cho DPA-KT</a:t>
            </a:r>
            <a:endParaRPr lang="en-US" sz="1900" dirty="0"/>
          </a:p>
        </p:txBody>
      </p:sp>
      <p:sp>
        <p:nvSpPr>
          <p:cNvPr id="5" name="Text 3"/>
          <p:cNvSpPr/>
          <p:nvPr/>
        </p:nvSpPr>
        <p:spPr>
          <a:xfrm>
            <a:off x="548640" y="859536"/>
            <a:ext cx="108813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PSLC KDD Cup 2010  ·  Dựa trên kiến trúc short_paper_final.pdf, Mục IV</a:t>
            </a:r>
            <a:endParaRPr lang="en-US" sz="1050" dirty="0"/>
          </a:p>
        </p:txBody>
      </p:sp>
      <p:sp>
        <p:nvSpPr>
          <p:cNvPr id="6" name="Text 4"/>
          <p:cNvSpPr/>
          <p:nvPr/>
        </p:nvSpPr>
        <p:spPr>
          <a:xfrm>
            <a:off x="548640" y="1298448"/>
            <a:ext cx="4206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5 TRƯỜNG LÕI  ·  Module 1 + định nghĩa bài toán</a:t>
            </a:r>
            <a:endParaRPr lang="en-US" sz="1100" dirty="0"/>
          </a:p>
        </p:txBody>
      </p:sp>
      <p:sp>
        <p:nvSpPr>
          <p:cNvPr id="7" name="Text 5"/>
          <p:cNvSpPr/>
          <p:nvPr/>
        </p:nvSpPr>
        <p:spPr>
          <a:xfrm>
            <a:off x="548640" y="1609344"/>
            <a:ext cx="4206240" cy="10515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Mọi kiến trúc KT (kể cả DPA-KT) cần tối thiểu chuỗi tương tác S_T = {(q_t, r_t)} và tập KC C: input bắt buộc cho "interaction context" ở Module 1, và để đọc/ghi đúng KC trong mastery memory M ở Module 1 &amp; 3.</a:t>
            </a:r>
            <a:endParaRPr lang="en-US" sz="105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4206240" cy="2743200"/>
        </p:xfrm>
        <a:graphic>
          <a:graphicData uri="http://schemas.openxmlformats.org/drawingml/2006/table">
            <a:tbl>
              <a:tblPr/>
              <a:tblGrid>
                <a:gridCol w="1682496"/>
                <a:gridCol w="2523744"/>
              </a:tblGrid>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Học sinh (student)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Anon Student 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Câu hỏi (q_t)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Problem Name + Step Name (đơn vị step)</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Khái niệm (KC, tập 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KC(SubSkills)</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Đúng/sai (r_t)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Correct First Attempt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Thời gian / thứ tự</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Row (mốc thứ tự dòng)</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9" name="Text 6"/>
          <p:cNvSpPr/>
          <p:nvPr/>
        </p:nvSpPr>
        <p:spPr>
          <a:xfrm>
            <a:off x="548640" y="5586984"/>
            <a:ext cx="4206240" cy="365760"/>
          </a:xfrm>
          <a:prstGeom prst="rect">
            <a:avLst/>
          </a:prstGeom>
          <a:noFill/>
          <a:ln/>
        </p:spPr>
        <p:txBody>
          <a:bodyPr wrap="square" lIns="0" tIns="0" rIns="0" bIns="0" rtlCol="0" anchor="ctr"/>
          <a:lstStyle/>
          <a:p>
            <a:pPr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mục 5.1 &amp; 5.2 notebook (đúng các cột dùng để tính thống kê/vẽ biểu đồ).</a:t>
            </a:r>
            <a:endParaRPr lang="en-US" sz="1000" dirty="0"/>
          </a:p>
        </p:txBody>
      </p:sp>
      <p:sp>
        <p:nvSpPr>
          <p:cNvPr id="10" name="Text 7"/>
          <p:cNvSpPr/>
          <p:nvPr/>
        </p:nvSpPr>
        <p:spPr>
          <a:xfrm>
            <a:off x="5029200" y="1298448"/>
            <a:ext cx="6611112"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CỘT KHUYẾN NGHỊ THÊM  ·  nguyên lý/module tương ứng trong DPA-KT</a:t>
            </a:r>
            <a:endParaRPr lang="en-US" sz="1100" dirty="0"/>
          </a:p>
        </p:txBody>
      </p:sp>
      <p:sp>
        <p:nvSpPr>
          <p:cNvPr id="11" name="Shape 8"/>
          <p:cNvSpPr/>
          <p:nvPr/>
        </p:nvSpPr>
        <p:spPr>
          <a:xfrm>
            <a:off x="5029200" y="1627632"/>
            <a:ext cx="3232404" cy="1833372"/>
          </a:xfrm>
          <a:prstGeom prst="roundRect">
            <a:avLst>
              <a:gd name="adj" fmla="val 2494"/>
            </a:avLst>
          </a:prstGeom>
          <a:solidFill>
            <a:srgbClr val="FBE8B8"/>
          </a:solidFill>
          <a:ln w="9525">
            <a:solidFill>
              <a:srgbClr val="C9891A"/>
            </a:solidFill>
            <a:prstDash val="solid"/>
          </a:ln>
        </p:spPr>
      </p:sp>
      <p:sp>
        <p:nvSpPr>
          <p:cNvPr id="12" name="Text 9"/>
          <p:cNvSpPr/>
          <p:nvPr/>
        </p:nvSpPr>
        <p:spPr>
          <a:xfrm>
            <a:off x="5175504"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Guess/Slip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Bằng chứng cho nguyên lý guessing and slipping ở Module 2: khi 1 pattern cùng KC/độ khó có phản hồi bất thường (đúng giữa chuỗi sai, hoặc ngược lại), pattern được điều chỉnh để hấp thụ khả năng đoán mò/lỡ tay.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Hints, Incorrects, Corrects</a:t>
            </a:r>
            <a:endParaRPr lang="en-US" sz="1200" dirty="0"/>
          </a:p>
        </p:txBody>
      </p:sp>
      <p:sp>
        <p:nvSpPr>
          <p:cNvPr id="13" name="Shape 10"/>
          <p:cNvSpPr/>
          <p:nvPr/>
        </p:nvSpPr>
        <p:spPr>
          <a:xfrm>
            <a:off x="8407908" y="1627632"/>
            <a:ext cx="3232404" cy="1833372"/>
          </a:xfrm>
          <a:prstGeom prst="roundRect">
            <a:avLst>
              <a:gd name="adj" fmla="val 2494"/>
            </a:avLst>
          </a:prstGeom>
          <a:solidFill>
            <a:srgbClr val="FBE8B8"/>
          </a:solidFill>
          <a:ln w="9525">
            <a:solidFill>
              <a:srgbClr val="C9891A"/>
            </a:solidFill>
            <a:prstDash val="solid"/>
          </a:ln>
        </p:spPr>
      </p:sp>
      <p:sp>
        <p:nvSpPr>
          <p:cNvPr id="14" name="Text 11"/>
          <p:cNvSpPr/>
          <p:nvPr/>
        </p:nvSpPr>
        <p:spPr>
          <a:xfrm>
            <a:off x="8554212" y="1719072"/>
            <a:ext cx="2939796" cy="1650492"/>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Response-time evidence</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Cơ sở cho operator temporal pooling ở Module 2 - pool đúng các tương tác GẦN NHẤT theo thời gian khi xây dựng pattern; cũng là tín hiệu bổ sung cho Module 1.</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Step Duration (sec)</a:t>
            </a:r>
            <a:endParaRPr lang="en-US" sz="1200" dirty="0"/>
          </a:p>
        </p:txBody>
      </p:sp>
      <p:sp>
        <p:nvSpPr>
          <p:cNvPr id="15" name="Shape 12"/>
          <p:cNvSpPr/>
          <p:nvPr/>
        </p:nvSpPr>
        <p:spPr>
          <a:xfrm>
            <a:off x="5029200" y="3607308"/>
            <a:ext cx="3232404" cy="1664208"/>
          </a:xfrm>
          <a:prstGeom prst="roundRect">
            <a:avLst>
              <a:gd name="adj" fmla="val 2747"/>
            </a:avLst>
          </a:prstGeom>
          <a:solidFill>
            <a:srgbClr val="FBE8B8"/>
          </a:solidFill>
          <a:ln w="9525">
            <a:solidFill>
              <a:srgbClr val="C9891A"/>
            </a:solidFill>
            <a:prstDash val="solid"/>
          </a:ln>
        </p:spPr>
      </p:sp>
      <p:sp>
        <p:nvSpPr>
          <p:cNvPr id="16" name="Text 13"/>
          <p:cNvSpPr/>
          <p:nvPr/>
        </p:nvSpPr>
        <p:spPr>
          <a:xfrm>
            <a:off x="5175504" y="3698748"/>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Knowledge Graph (KC)</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Input cho đồ thị tri thức G: Module 1 dùng G đọc mastery memory theo đúng cấu trúc KC; Module 2 dùng G cho nguyên lý KC-relation consistency - điều chỉnh pattern theo quan hệ giữa các KC (VD prerequisite).</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Problem Hierarchy</a:t>
            </a:r>
            <a:endParaRPr lang="en-US" sz="1200" dirty="0"/>
          </a:p>
        </p:txBody>
      </p:sp>
      <p:sp>
        <p:nvSpPr>
          <p:cNvPr id="17" name="Text 14"/>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bridge06 · vì sao chọn cột này</a:t>
            </a:r>
            <a:endParaRPr lang="en-US" sz="1000" dirty="0"/>
          </a:p>
        </p:txBody>
      </p:sp>
      <p:sp>
        <p:nvSpPr>
          <p:cNvPr id="18" name="Text 15"/>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53</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KC · bridge06  ·  Nguồn: mục 5.1 notebook</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Mạng quan hệ giữa KC và câu hỏi (dữ liệu thực)</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Dữ liệu thô không có sẵn cây phân cấp KC - mạng dưới đây lấy trực tiếp từ dữ liệu thật: nhiều KC (chấm màu) mỗi KC nối tới nhiều câu hỏi thật đã dùng đúng khái niệm đó (chấm xám); câu hỏi viền đậm là câu hỏi thật cần nhiều KC cùng lúc.</a:t>
            </a:r>
            <a:endParaRPr lang="en-US" sz="1150" dirty="0"/>
          </a:p>
        </p:txBody>
      </p:sp>
      <p:sp>
        <p:nvSpPr>
          <p:cNvPr id="5" name="Shape 3"/>
          <p:cNvSpPr/>
          <p:nvPr/>
        </p:nvSpPr>
        <p:spPr>
          <a:xfrm flipV="1">
            <a:off x="1874442" y="2204586"/>
            <a:ext cx="3855863" cy="92015"/>
          </a:xfrm>
          <a:prstGeom prst="line">
            <a:avLst/>
          </a:prstGeom>
          <a:noFill/>
          <a:ln w="12700">
            <a:solidFill>
              <a:srgbClr val="9CA3AF"/>
            </a:solidFill>
            <a:prstDash val="solid"/>
            <a:headEnd type="none"/>
            <a:tailEnd type="triangle"/>
          </a:ln>
        </p:spPr>
      </p:sp>
      <p:sp>
        <p:nvSpPr>
          <p:cNvPr id="6" name="Shape 4"/>
          <p:cNvSpPr/>
          <p:nvPr/>
        </p:nvSpPr>
        <p:spPr>
          <a:xfrm flipV="1">
            <a:off x="1865531" y="2257173"/>
            <a:ext cx="3872200" cy="1016453"/>
          </a:xfrm>
          <a:prstGeom prst="line">
            <a:avLst/>
          </a:prstGeom>
          <a:noFill/>
          <a:ln w="12700">
            <a:solidFill>
              <a:srgbClr val="9CA3AF"/>
            </a:solidFill>
            <a:prstDash val="solid"/>
            <a:headEnd type="none"/>
            <a:tailEnd type="triangle"/>
          </a:ln>
        </p:spPr>
      </p:sp>
      <p:sp>
        <p:nvSpPr>
          <p:cNvPr id="7" name="Shape 5"/>
          <p:cNvSpPr/>
          <p:nvPr/>
        </p:nvSpPr>
        <p:spPr>
          <a:xfrm flipV="1">
            <a:off x="1845448" y="2301551"/>
            <a:ext cx="3909019" cy="1958952"/>
          </a:xfrm>
          <a:prstGeom prst="line">
            <a:avLst/>
          </a:prstGeom>
          <a:noFill/>
          <a:ln w="12700">
            <a:solidFill>
              <a:srgbClr val="9CA3AF"/>
            </a:solidFill>
            <a:prstDash val="solid"/>
            <a:headEnd type="none"/>
            <a:tailEnd type="triangle"/>
          </a:ln>
        </p:spPr>
      </p:sp>
      <p:sp>
        <p:nvSpPr>
          <p:cNvPr id="8" name="Shape 6"/>
          <p:cNvSpPr/>
          <p:nvPr/>
        </p:nvSpPr>
        <p:spPr>
          <a:xfrm flipV="1">
            <a:off x="1820734" y="2335086"/>
            <a:ext cx="3954328" cy="2925304"/>
          </a:xfrm>
          <a:prstGeom prst="line">
            <a:avLst/>
          </a:prstGeom>
          <a:noFill/>
          <a:ln w="12700">
            <a:solidFill>
              <a:srgbClr val="9CA3AF"/>
            </a:solidFill>
            <a:prstDash val="solid"/>
            <a:headEnd type="none"/>
            <a:tailEnd type="triangle"/>
          </a:ln>
        </p:spPr>
      </p:sp>
      <p:sp>
        <p:nvSpPr>
          <p:cNvPr id="9" name="Shape 7"/>
          <p:cNvSpPr/>
          <p:nvPr/>
        </p:nvSpPr>
        <p:spPr>
          <a:xfrm>
            <a:off x="1870771" y="2348343"/>
            <a:ext cx="3862593" cy="645229"/>
          </a:xfrm>
          <a:prstGeom prst="line">
            <a:avLst/>
          </a:prstGeom>
          <a:noFill/>
          <a:ln w="12700">
            <a:solidFill>
              <a:srgbClr val="9CA3AF"/>
            </a:solidFill>
            <a:prstDash val="solid"/>
            <a:headEnd type="none"/>
            <a:tailEnd type="triangle"/>
          </a:ln>
        </p:spPr>
      </p:sp>
      <p:sp>
        <p:nvSpPr>
          <p:cNvPr id="10" name="Shape 8"/>
          <p:cNvSpPr/>
          <p:nvPr/>
        </p:nvSpPr>
        <p:spPr>
          <a:xfrm>
            <a:off x="1858472" y="2395595"/>
            <a:ext cx="3885141" cy="1390704"/>
          </a:xfrm>
          <a:prstGeom prst="line">
            <a:avLst/>
          </a:prstGeom>
          <a:noFill/>
          <a:ln w="12700">
            <a:solidFill>
              <a:srgbClr val="9CA3AF"/>
            </a:solidFill>
            <a:prstDash val="solid"/>
            <a:headEnd type="none"/>
            <a:tailEnd type="triangle"/>
          </a:ln>
        </p:spPr>
      </p:sp>
      <p:sp>
        <p:nvSpPr>
          <p:cNvPr id="11" name="Shape 9"/>
          <p:cNvSpPr/>
          <p:nvPr/>
        </p:nvSpPr>
        <p:spPr>
          <a:xfrm>
            <a:off x="1840679" y="2435135"/>
            <a:ext cx="3917762" cy="2150317"/>
          </a:xfrm>
          <a:prstGeom prst="line">
            <a:avLst/>
          </a:prstGeom>
          <a:noFill/>
          <a:ln w="12700">
            <a:solidFill>
              <a:srgbClr val="9CA3AF"/>
            </a:solidFill>
            <a:prstDash val="solid"/>
            <a:headEnd type="none"/>
            <a:tailEnd type="triangle"/>
          </a:ln>
        </p:spPr>
      </p:sp>
      <p:sp>
        <p:nvSpPr>
          <p:cNvPr id="12" name="Shape 10"/>
          <p:cNvSpPr/>
          <p:nvPr/>
        </p:nvSpPr>
        <p:spPr>
          <a:xfrm>
            <a:off x="1845448" y="3466178"/>
            <a:ext cx="3909019" cy="1958952"/>
          </a:xfrm>
          <a:prstGeom prst="line">
            <a:avLst/>
          </a:prstGeom>
          <a:noFill/>
          <a:ln w="12700">
            <a:solidFill>
              <a:srgbClr val="9CA3AF"/>
            </a:solidFill>
            <a:prstDash val="solid"/>
            <a:headEnd type="none"/>
            <a:tailEnd type="triangle"/>
          </a:ln>
        </p:spPr>
      </p:sp>
      <p:sp>
        <p:nvSpPr>
          <p:cNvPr id="13" name="Shape 11"/>
          <p:cNvSpPr/>
          <p:nvPr/>
        </p:nvSpPr>
        <p:spPr>
          <a:xfrm flipV="1">
            <a:off x="1870469" y="2238273"/>
            <a:ext cx="6088187" cy="1058034"/>
          </a:xfrm>
          <a:prstGeom prst="line">
            <a:avLst/>
          </a:prstGeom>
          <a:noFill/>
          <a:ln w="12700">
            <a:solidFill>
              <a:srgbClr val="9CA3AF"/>
            </a:solidFill>
            <a:prstDash val="solid"/>
            <a:headEnd type="none"/>
            <a:tailEnd type="triangle"/>
          </a:ln>
        </p:spPr>
      </p:sp>
      <p:sp>
        <p:nvSpPr>
          <p:cNvPr id="14" name="Shape 12"/>
          <p:cNvSpPr/>
          <p:nvPr/>
        </p:nvSpPr>
        <p:spPr>
          <a:xfrm flipV="1">
            <a:off x="1874212" y="3042059"/>
            <a:ext cx="6081324" cy="288229"/>
          </a:xfrm>
          <a:prstGeom prst="line">
            <a:avLst/>
          </a:prstGeom>
          <a:noFill/>
          <a:ln w="12700">
            <a:solidFill>
              <a:srgbClr val="9CA3AF"/>
            </a:solidFill>
            <a:prstDash val="solid"/>
            <a:headEnd type="none"/>
            <a:tailEnd type="triangle"/>
          </a:ln>
        </p:spPr>
      </p:sp>
      <p:sp>
        <p:nvSpPr>
          <p:cNvPr id="15" name="Shape 13"/>
          <p:cNvSpPr/>
          <p:nvPr/>
        </p:nvSpPr>
        <p:spPr>
          <a:xfrm flipV="1">
            <a:off x="1873668" y="3881342"/>
            <a:ext cx="6082322" cy="480461"/>
          </a:xfrm>
          <a:prstGeom prst="line">
            <a:avLst/>
          </a:prstGeom>
          <a:noFill/>
          <a:ln w="12700">
            <a:solidFill>
              <a:srgbClr val="9CA3AF"/>
            </a:solidFill>
            <a:prstDash val="solid"/>
            <a:headEnd type="none"/>
            <a:tailEnd type="triangle"/>
          </a:ln>
        </p:spPr>
      </p:sp>
      <p:sp>
        <p:nvSpPr>
          <p:cNvPr id="16" name="Shape 14"/>
          <p:cNvSpPr/>
          <p:nvPr/>
        </p:nvSpPr>
        <p:spPr>
          <a:xfrm>
            <a:off x="1874212" y="4396392"/>
            <a:ext cx="6081324" cy="288229"/>
          </a:xfrm>
          <a:prstGeom prst="line">
            <a:avLst/>
          </a:prstGeom>
          <a:noFill/>
          <a:ln w="12700">
            <a:solidFill>
              <a:srgbClr val="9CA3AF"/>
            </a:solidFill>
            <a:prstDash val="solid"/>
            <a:headEnd type="none"/>
            <a:tailEnd type="triangle"/>
          </a:ln>
        </p:spPr>
      </p:sp>
      <p:sp>
        <p:nvSpPr>
          <p:cNvPr id="17" name="Shape 15"/>
          <p:cNvSpPr/>
          <p:nvPr/>
        </p:nvSpPr>
        <p:spPr>
          <a:xfrm>
            <a:off x="1870469" y="4430374"/>
            <a:ext cx="6088187" cy="1058034"/>
          </a:xfrm>
          <a:prstGeom prst="line">
            <a:avLst/>
          </a:prstGeom>
          <a:noFill/>
          <a:ln w="12700">
            <a:solidFill>
              <a:srgbClr val="9CA3AF"/>
            </a:solidFill>
            <a:prstDash val="solid"/>
            <a:headEnd type="none"/>
            <a:tailEnd type="triangle"/>
          </a:ln>
        </p:spPr>
      </p:sp>
      <p:sp>
        <p:nvSpPr>
          <p:cNvPr id="18" name="Shape 16"/>
          <p:cNvSpPr/>
          <p:nvPr/>
        </p:nvSpPr>
        <p:spPr>
          <a:xfrm flipV="1">
            <a:off x="1860347" y="2549029"/>
            <a:ext cx="8331784" cy="2787472"/>
          </a:xfrm>
          <a:prstGeom prst="line">
            <a:avLst/>
          </a:prstGeom>
          <a:noFill/>
          <a:ln w="12700">
            <a:solidFill>
              <a:srgbClr val="9CA3AF"/>
            </a:solidFill>
            <a:prstDash val="solid"/>
            <a:headEnd type="none"/>
            <a:tailEnd type="triangle"/>
          </a:ln>
        </p:spPr>
      </p:sp>
      <p:sp>
        <p:nvSpPr>
          <p:cNvPr id="19" name="Shape 17"/>
          <p:cNvSpPr/>
          <p:nvPr/>
        </p:nvSpPr>
        <p:spPr>
          <a:xfrm flipV="1">
            <a:off x="1870316" y="3903209"/>
            <a:ext cx="8313508" cy="1472483"/>
          </a:xfrm>
          <a:prstGeom prst="line">
            <a:avLst/>
          </a:prstGeom>
          <a:noFill/>
          <a:ln w="12700">
            <a:solidFill>
              <a:srgbClr val="9CA3AF"/>
            </a:solidFill>
            <a:prstDash val="solid"/>
            <a:headEnd type="none"/>
            <a:tailEnd type="triangle"/>
          </a:ln>
        </p:spPr>
      </p:sp>
      <p:sp>
        <p:nvSpPr>
          <p:cNvPr id="20" name="Shape 18"/>
          <p:cNvSpPr/>
          <p:nvPr/>
        </p:nvSpPr>
        <p:spPr>
          <a:xfrm flipV="1">
            <a:off x="1874467" y="5254678"/>
            <a:ext cx="8305897" cy="163459"/>
          </a:xfrm>
          <a:prstGeom prst="line">
            <a:avLst/>
          </a:prstGeom>
          <a:noFill/>
          <a:ln w="12700">
            <a:solidFill>
              <a:srgbClr val="9CA3AF"/>
            </a:solidFill>
            <a:prstDash val="solid"/>
            <a:headEnd type="none"/>
            <a:tailEnd type="triangle"/>
          </a:ln>
        </p:spPr>
      </p:sp>
      <p:sp>
        <p:nvSpPr>
          <p:cNvPr id="21" name="Shape 19"/>
          <p:cNvSpPr/>
          <p:nvPr/>
        </p:nvSpPr>
        <p:spPr>
          <a:xfrm>
            <a:off x="1325880" y="2028825"/>
            <a:ext cx="548640" cy="548640"/>
          </a:xfrm>
          <a:prstGeom prst="ellipse">
            <a:avLst/>
          </a:prstGeom>
          <a:solidFill>
            <a:srgbClr val="FBECCC"/>
          </a:solidFill>
          <a:ln w="19050">
            <a:solidFill>
              <a:srgbClr val="EDA100"/>
            </a:solidFill>
            <a:prstDash val="solid"/>
          </a:ln>
        </p:spPr>
      </p:sp>
      <p:sp>
        <p:nvSpPr>
          <p:cNvPr id="22" name="Shape 20"/>
          <p:cNvSpPr/>
          <p:nvPr/>
        </p:nvSpPr>
        <p:spPr>
          <a:xfrm>
            <a:off x="1984248" y="2111121"/>
            <a:ext cx="2514600" cy="384048"/>
          </a:xfrm>
          <a:prstGeom prst="rect">
            <a:avLst/>
          </a:prstGeom>
          <a:solidFill>
            <a:srgbClr val="FFFFFF"/>
          </a:solidFill>
          <a:ln/>
        </p:spPr>
      </p:sp>
      <p:sp>
        <p:nvSpPr>
          <p:cNvPr id="23" name="Text 21"/>
          <p:cNvSpPr/>
          <p:nvPr/>
        </p:nvSpPr>
        <p:spPr>
          <a:xfrm>
            <a:off x="1984248" y="211112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combine-like-terms-sp</a:t>
            </a:r>
            <a:endParaRPr lang="en-US" sz="1050" dirty="0"/>
          </a:p>
        </p:txBody>
      </p:sp>
      <p:sp>
        <p:nvSpPr>
          <p:cNvPr id="24" name="Shape 22"/>
          <p:cNvSpPr/>
          <p:nvPr/>
        </p:nvSpPr>
        <p:spPr>
          <a:xfrm>
            <a:off x="1325880" y="3068955"/>
            <a:ext cx="548640" cy="548640"/>
          </a:xfrm>
          <a:prstGeom prst="ellipse">
            <a:avLst/>
          </a:prstGeom>
          <a:solidFill>
            <a:srgbClr val="FBECCC"/>
          </a:solidFill>
          <a:ln w="19050">
            <a:solidFill>
              <a:srgbClr val="EDA100"/>
            </a:solidFill>
            <a:prstDash val="solid"/>
          </a:ln>
        </p:spPr>
      </p:sp>
      <p:sp>
        <p:nvSpPr>
          <p:cNvPr id="25" name="Shape 23"/>
          <p:cNvSpPr/>
          <p:nvPr/>
        </p:nvSpPr>
        <p:spPr>
          <a:xfrm>
            <a:off x="1984248" y="3151251"/>
            <a:ext cx="2514600" cy="384048"/>
          </a:xfrm>
          <a:prstGeom prst="rect">
            <a:avLst/>
          </a:prstGeom>
          <a:solidFill>
            <a:srgbClr val="FFFFFF"/>
          </a:solidFill>
          <a:ln/>
        </p:spPr>
      </p:sp>
      <p:sp>
        <p:nvSpPr>
          <p:cNvPr id="26" name="Text 24"/>
          <p:cNvSpPr/>
          <p:nvPr/>
        </p:nvSpPr>
        <p:spPr>
          <a:xfrm>
            <a:off x="1984248" y="315125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perform-mult-row2-sp</a:t>
            </a:r>
            <a:endParaRPr lang="en-US" sz="1050" dirty="0"/>
          </a:p>
        </p:txBody>
      </p:sp>
      <p:sp>
        <p:nvSpPr>
          <p:cNvPr id="27" name="Shape 25"/>
          <p:cNvSpPr/>
          <p:nvPr/>
        </p:nvSpPr>
        <p:spPr>
          <a:xfrm>
            <a:off x="1325880" y="4109085"/>
            <a:ext cx="548640" cy="548640"/>
          </a:xfrm>
          <a:prstGeom prst="ellipse">
            <a:avLst/>
          </a:prstGeom>
          <a:solidFill>
            <a:srgbClr val="FBECCC"/>
          </a:solidFill>
          <a:ln w="19050">
            <a:solidFill>
              <a:srgbClr val="EDA100"/>
            </a:solidFill>
            <a:prstDash val="solid"/>
          </a:ln>
        </p:spPr>
      </p:sp>
      <p:sp>
        <p:nvSpPr>
          <p:cNvPr id="28" name="Shape 26"/>
          <p:cNvSpPr/>
          <p:nvPr/>
        </p:nvSpPr>
        <p:spPr>
          <a:xfrm>
            <a:off x="1984248" y="4191381"/>
            <a:ext cx="2514600" cy="384048"/>
          </a:xfrm>
          <a:prstGeom prst="rect">
            <a:avLst/>
          </a:prstGeom>
          <a:solidFill>
            <a:srgbClr val="FFFFFF"/>
          </a:solidFill>
          <a:ln/>
        </p:spPr>
      </p:sp>
      <p:sp>
        <p:nvSpPr>
          <p:cNvPr id="29" name="Text 27"/>
          <p:cNvSpPr/>
          <p:nvPr/>
        </p:nvSpPr>
        <p:spPr>
          <a:xfrm>
            <a:off x="1984248" y="419138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simplify-fractions-sp</a:t>
            </a:r>
            <a:endParaRPr lang="en-US" sz="1050" dirty="0"/>
          </a:p>
        </p:txBody>
      </p:sp>
      <p:sp>
        <p:nvSpPr>
          <p:cNvPr id="30" name="Shape 28"/>
          <p:cNvSpPr/>
          <p:nvPr/>
        </p:nvSpPr>
        <p:spPr>
          <a:xfrm>
            <a:off x="1325880" y="5149215"/>
            <a:ext cx="548640" cy="548640"/>
          </a:xfrm>
          <a:prstGeom prst="ellipse">
            <a:avLst/>
          </a:prstGeom>
          <a:solidFill>
            <a:srgbClr val="FBECCC"/>
          </a:solidFill>
          <a:ln w="19050">
            <a:solidFill>
              <a:srgbClr val="EDA100"/>
            </a:solidFill>
            <a:prstDash val="solid"/>
          </a:ln>
        </p:spPr>
      </p:sp>
      <p:sp>
        <p:nvSpPr>
          <p:cNvPr id="31" name="Shape 29"/>
          <p:cNvSpPr/>
          <p:nvPr/>
        </p:nvSpPr>
        <p:spPr>
          <a:xfrm>
            <a:off x="1984248" y="5231511"/>
            <a:ext cx="2514600" cy="384048"/>
          </a:xfrm>
          <a:prstGeom prst="rect">
            <a:avLst/>
          </a:prstGeom>
          <a:solidFill>
            <a:srgbClr val="FFFFFF"/>
          </a:solidFill>
          <a:ln/>
        </p:spPr>
      </p:sp>
      <p:sp>
        <p:nvSpPr>
          <p:cNvPr id="32" name="Text 30"/>
          <p:cNvSpPr/>
          <p:nvPr/>
        </p:nvSpPr>
        <p:spPr>
          <a:xfrm>
            <a:off x="1984248" y="5231511"/>
            <a:ext cx="2514600" cy="384048"/>
          </a:xfrm>
          <a:prstGeom prst="rect">
            <a:avLst/>
          </a:prstGeom>
          <a:noFill/>
          <a:ln/>
        </p:spPr>
        <p:txBody>
          <a:bodyPr wrap="square" lIns="0" tIns="0" rIns="0" bIns="0" rtlCol="0" anchor="ctr"/>
          <a:lstStyle/>
          <a:p>
            <a:pPr algn="l" indent="0" marL="0">
              <a:lnSpc>
                <a:spcPct val="105000"/>
              </a:lnSpc>
              <a:buNone/>
            </a:pPr>
            <a:r>
              <a:rPr lang="en-US" sz="1050" b="1" dirty="0">
                <a:solidFill>
                  <a:srgbClr val="000000"/>
                </a:solidFill>
                <a:latin typeface="Calibri" pitchFamily="34" charset="0"/>
                <a:ea typeface="Calibri" pitchFamily="34" charset="-122"/>
                <a:cs typeface="Calibri" pitchFamily="34" charset="-120"/>
              </a:rPr>
              <a:t>perform-mult-r-sp</a:t>
            </a:r>
            <a:endParaRPr lang="en-US" sz="1050" dirty="0"/>
          </a:p>
        </p:txBody>
      </p:sp>
      <p:sp>
        <p:nvSpPr>
          <p:cNvPr id="33" name="Shape 31"/>
          <p:cNvSpPr/>
          <p:nvPr/>
        </p:nvSpPr>
        <p:spPr>
          <a:xfrm>
            <a:off x="5730240" y="1970532"/>
            <a:ext cx="457200" cy="457200"/>
          </a:xfrm>
          <a:prstGeom prst="ellipse">
            <a:avLst/>
          </a:prstGeom>
          <a:solidFill>
            <a:srgbClr val="E1E3E6"/>
          </a:solidFill>
          <a:ln w="31750">
            <a:solidFill>
              <a:srgbClr val="6B7280"/>
            </a:solidFill>
            <a:prstDash val="solid"/>
          </a:ln>
        </p:spPr>
      </p:sp>
      <p:sp>
        <p:nvSpPr>
          <p:cNvPr id="34" name="Shape 32"/>
          <p:cNvSpPr/>
          <p:nvPr/>
        </p:nvSpPr>
        <p:spPr>
          <a:xfrm>
            <a:off x="4914900" y="2473452"/>
            <a:ext cx="2087880" cy="384048"/>
          </a:xfrm>
          <a:prstGeom prst="rect">
            <a:avLst/>
          </a:prstGeom>
          <a:solidFill>
            <a:srgbClr val="FFFFFF"/>
          </a:solidFill>
          <a:ln/>
        </p:spPr>
      </p:sp>
      <p:sp>
        <p:nvSpPr>
          <p:cNvPr id="35" name="Text 33"/>
          <p:cNvSpPr/>
          <p:nvPr/>
        </p:nvSpPr>
        <p:spPr>
          <a:xfrm>
            <a:off x="4914900" y="2473452"/>
            <a:ext cx="2087880"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Eg41 -10+9 = -9-y/9…</a:t>
            </a:r>
            <a:endParaRPr lang="en-US" sz="1000" dirty="0"/>
          </a:p>
        </p:txBody>
      </p:sp>
      <p:sp>
        <p:nvSpPr>
          <p:cNvPr id="36" name="Shape 34"/>
          <p:cNvSpPr/>
          <p:nvPr/>
        </p:nvSpPr>
        <p:spPr>
          <a:xfrm>
            <a:off x="5730240" y="2802636"/>
            <a:ext cx="457200" cy="457200"/>
          </a:xfrm>
          <a:prstGeom prst="ellipse">
            <a:avLst/>
          </a:prstGeom>
          <a:solidFill>
            <a:srgbClr val="E1E3E6"/>
          </a:solidFill>
          <a:ln w="19050">
            <a:solidFill>
              <a:srgbClr val="6B7280"/>
            </a:solidFill>
            <a:prstDash val="solid"/>
          </a:ln>
        </p:spPr>
      </p:sp>
      <p:sp>
        <p:nvSpPr>
          <p:cNvPr id="37" name="Shape 35"/>
          <p:cNvSpPr/>
          <p:nvPr/>
        </p:nvSpPr>
        <p:spPr>
          <a:xfrm>
            <a:off x="4914900" y="3305556"/>
            <a:ext cx="2087880" cy="384048"/>
          </a:xfrm>
          <a:prstGeom prst="rect">
            <a:avLst/>
          </a:prstGeom>
          <a:solidFill>
            <a:srgbClr val="FFFFFF"/>
          </a:solidFill>
          <a:ln/>
        </p:spPr>
      </p:sp>
      <p:sp>
        <p:nvSpPr>
          <p:cNvPr id="38" name="Text 36"/>
          <p:cNvSpPr/>
          <p:nvPr/>
        </p:nvSpPr>
        <p:spPr>
          <a:xfrm>
            <a:off x="4914900" y="3305556"/>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EG40A-CONSTANT 7 = …</a:t>
            </a:r>
            <a:endParaRPr lang="en-US" sz="1000" dirty="0"/>
          </a:p>
        </p:txBody>
      </p:sp>
      <p:sp>
        <p:nvSpPr>
          <p:cNvPr id="39" name="Shape 37"/>
          <p:cNvSpPr/>
          <p:nvPr/>
        </p:nvSpPr>
        <p:spPr>
          <a:xfrm>
            <a:off x="5730240" y="3634740"/>
            <a:ext cx="457200" cy="457200"/>
          </a:xfrm>
          <a:prstGeom prst="ellipse">
            <a:avLst/>
          </a:prstGeom>
          <a:solidFill>
            <a:srgbClr val="E1E3E6"/>
          </a:solidFill>
          <a:ln w="19050">
            <a:solidFill>
              <a:srgbClr val="6B7280"/>
            </a:solidFill>
            <a:prstDash val="solid"/>
          </a:ln>
        </p:spPr>
      </p:sp>
      <p:sp>
        <p:nvSpPr>
          <p:cNvPr id="40" name="Shape 38"/>
          <p:cNvSpPr/>
          <p:nvPr/>
        </p:nvSpPr>
        <p:spPr>
          <a:xfrm>
            <a:off x="4914900" y="4137660"/>
            <a:ext cx="2087880" cy="384048"/>
          </a:xfrm>
          <a:prstGeom prst="rect">
            <a:avLst/>
          </a:prstGeom>
          <a:solidFill>
            <a:srgbClr val="FFFFFF"/>
          </a:solidFill>
          <a:ln/>
        </p:spPr>
      </p:sp>
      <p:sp>
        <p:nvSpPr>
          <p:cNvPr id="41" name="Text 39"/>
          <p:cNvSpPr/>
          <p:nvPr/>
        </p:nvSpPr>
        <p:spPr>
          <a:xfrm>
            <a:off x="4914900" y="413766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EG21A-CONSTANT 7+x …</a:t>
            </a:r>
            <a:endParaRPr lang="en-US" sz="1000" dirty="0"/>
          </a:p>
        </p:txBody>
      </p:sp>
      <p:sp>
        <p:nvSpPr>
          <p:cNvPr id="42" name="Shape 40"/>
          <p:cNvSpPr/>
          <p:nvPr/>
        </p:nvSpPr>
        <p:spPr>
          <a:xfrm>
            <a:off x="5730240" y="4466844"/>
            <a:ext cx="457200" cy="457200"/>
          </a:xfrm>
          <a:prstGeom prst="ellipse">
            <a:avLst/>
          </a:prstGeom>
          <a:solidFill>
            <a:srgbClr val="E1E3E6"/>
          </a:solidFill>
          <a:ln w="19050">
            <a:solidFill>
              <a:srgbClr val="6B7280"/>
            </a:solidFill>
            <a:prstDash val="solid"/>
          </a:ln>
        </p:spPr>
      </p:sp>
      <p:sp>
        <p:nvSpPr>
          <p:cNvPr id="43" name="Shape 41"/>
          <p:cNvSpPr/>
          <p:nvPr/>
        </p:nvSpPr>
        <p:spPr>
          <a:xfrm>
            <a:off x="4914900" y="4969764"/>
            <a:ext cx="2087880" cy="384048"/>
          </a:xfrm>
          <a:prstGeom prst="rect">
            <a:avLst/>
          </a:prstGeom>
          <a:solidFill>
            <a:srgbClr val="FFFFFF"/>
          </a:solidFill>
          <a:ln/>
        </p:spPr>
      </p:sp>
      <p:sp>
        <p:nvSpPr>
          <p:cNvPr id="44" name="Text 42"/>
          <p:cNvSpPr/>
          <p:nvPr/>
        </p:nvSpPr>
        <p:spPr>
          <a:xfrm>
            <a:off x="4914900" y="4969764"/>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EG22 y+(-9) = 7 / F…</a:t>
            </a:r>
            <a:endParaRPr lang="en-US" sz="1000" dirty="0"/>
          </a:p>
        </p:txBody>
      </p:sp>
      <p:sp>
        <p:nvSpPr>
          <p:cNvPr id="45" name="Shape 43"/>
          <p:cNvSpPr/>
          <p:nvPr/>
        </p:nvSpPr>
        <p:spPr>
          <a:xfrm>
            <a:off x="5730240" y="5298948"/>
            <a:ext cx="457200" cy="457200"/>
          </a:xfrm>
          <a:prstGeom prst="ellipse">
            <a:avLst/>
          </a:prstGeom>
          <a:solidFill>
            <a:srgbClr val="E1E3E6"/>
          </a:solidFill>
          <a:ln w="19050">
            <a:solidFill>
              <a:srgbClr val="6B7280"/>
            </a:solidFill>
            <a:prstDash val="solid"/>
          </a:ln>
        </p:spPr>
      </p:sp>
      <p:sp>
        <p:nvSpPr>
          <p:cNvPr id="46" name="Shape 44"/>
          <p:cNvSpPr/>
          <p:nvPr/>
        </p:nvSpPr>
        <p:spPr>
          <a:xfrm>
            <a:off x="4914900" y="5801868"/>
            <a:ext cx="2087880" cy="384048"/>
          </a:xfrm>
          <a:prstGeom prst="rect">
            <a:avLst/>
          </a:prstGeom>
          <a:solidFill>
            <a:srgbClr val="FFFFFF"/>
          </a:solidFill>
          <a:ln/>
        </p:spPr>
      </p:sp>
      <p:sp>
        <p:nvSpPr>
          <p:cNvPr id="47" name="Text 45"/>
          <p:cNvSpPr/>
          <p:nvPr/>
        </p:nvSpPr>
        <p:spPr>
          <a:xfrm>
            <a:off x="4914900" y="5801868"/>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EG74-CONSTANT -9*3 …</a:t>
            </a:r>
            <a:endParaRPr lang="en-US" sz="1000" dirty="0"/>
          </a:p>
        </p:txBody>
      </p:sp>
      <p:sp>
        <p:nvSpPr>
          <p:cNvPr id="48" name="Shape 46"/>
          <p:cNvSpPr/>
          <p:nvPr/>
        </p:nvSpPr>
        <p:spPr>
          <a:xfrm>
            <a:off x="7955280" y="1970532"/>
            <a:ext cx="457200" cy="457200"/>
          </a:xfrm>
          <a:prstGeom prst="ellipse">
            <a:avLst/>
          </a:prstGeom>
          <a:solidFill>
            <a:srgbClr val="E1E3E6"/>
          </a:solidFill>
          <a:ln w="19050">
            <a:solidFill>
              <a:srgbClr val="6B7280"/>
            </a:solidFill>
            <a:prstDash val="solid"/>
          </a:ln>
        </p:spPr>
      </p:sp>
      <p:sp>
        <p:nvSpPr>
          <p:cNvPr id="49" name="Shape 47"/>
          <p:cNvSpPr/>
          <p:nvPr/>
        </p:nvSpPr>
        <p:spPr>
          <a:xfrm>
            <a:off x="7139940" y="2473452"/>
            <a:ext cx="2087880" cy="384048"/>
          </a:xfrm>
          <a:prstGeom prst="rect">
            <a:avLst/>
          </a:prstGeom>
          <a:solidFill>
            <a:srgbClr val="FFFFFF"/>
          </a:solidFill>
          <a:ln/>
        </p:spPr>
      </p:sp>
      <p:sp>
        <p:nvSpPr>
          <p:cNvPr id="50" name="Text 48"/>
          <p:cNvSpPr/>
          <p:nvPr/>
        </p:nvSpPr>
        <p:spPr>
          <a:xfrm>
            <a:off x="7139940" y="2473452"/>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EG72 2*11 / FinalAn…</a:t>
            </a:r>
            <a:endParaRPr lang="en-US" sz="1000" dirty="0"/>
          </a:p>
        </p:txBody>
      </p:sp>
      <p:sp>
        <p:nvSpPr>
          <p:cNvPr id="51" name="Shape 49"/>
          <p:cNvSpPr/>
          <p:nvPr/>
        </p:nvSpPr>
        <p:spPr>
          <a:xfrm>
            <a:off x="7955280" y="2802636"/>
            <a:ext cx="457200" cy="457200"/>
          </a:xfrm>
          <a:prstGeom prst="ellipse">
            <a:avLst/>
          </a:prstGeom>
          <a:solidFill>
            <a:srgbClr val="E1E3E6"/>
          </a:solidFill>
          <a:ln w="19050">
            <a:solidFill>
              <a:srgbClr val="6B7280"/>
            </a:solidFill>
            <a:prstDash val="solid"/>
          </a:ln>
        </p:spPr>
      </p:sp>
      <p:sp>
        <p:nvSpPr>
          <p:cNvPr id="52" name="Shape 50"/>
          <p:cNvSpPr/>
          <p:nvPr/>
        </p:nvSpPr>
        <p:spPr>
          <a:xfrm>
            <a:off x="7139940" y="3305556"/>
            <a:ext cx="2087880" cy="384048"/>
          </a:xfrm>
          <a:prstGeom prst="rect">
            <a:avLst/>
          </a:prstGeom>
          <a:solidFill>
            <a:srgbClr val="FFFFFF"/>
          </a:solidFill>
          <a:ln/>
        </p:spPr>
      </p:sp>
      <p:sp>
        <p:nvSpPr>
          <p:cNvPr id="53" name="Text 51"/>
          <p:cNvSpPr/>
          <p:nvPr/>
        </p:nvSpPr>
        <p:spPr>
          <a:xfrm>
            <a:off x="7139940" y="3305556"/>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EG75 -4*(-4) / Fina…</a:t>
            </a:r>
            <a:endParaRPr lang="en-US" sz="1000" dirty="0"/>
          </a:p>
        </p:txBody>
      </p:sp>
      <p:sp>
        <p:nvSpPr>
          <p:cNvPr id="54" name="Shape 52"/>
          <p:cNvSpPr/>
          <p:nvPr/>
        </p:nvSpPr>
        <p:spPr>
          <a:xfrm>
            <a:off x="7955280" y="3634740"/>
            <a:ext cx="457200" cy="457200"/>
          </a:xfrm>
          <a:prstGeom prst="ellipse">
            <a:avLst/>
          </a:prstGeom>
          <a:solidFill>
            <a:srgbClr val="E1E3E6"/>
          </a:solidFill>
          <a:ln w="19050">
            <a:solidFill>
              <a:srgbClr val="6B7280"/>
            </a:solidFill>
            <a:prstDash val="solid"/>
          </a:ln>
        </p:spPr>
      </p:sp>
      <p:sp>
        <p:nvSpPr>
          <p:cNvPr id="55" name="Shape 53"/>
          <p:cNvSpPr/>
          <p:nvPr/>
        </p:nvSpPr>
        <p:spPr>
          <a:xfrm>
            <a:off x="7139940" y="4137660"/>
            <a:ext cx="2087880" cy="384048"/>
          </a:xfrm>
          <a:prstGeom prst="rect">
            <a:avLst/>
          </a:prstGeom>
          <a:solidFill>
            <a:srgbClr val="FFFFFF"/>
          </a:solidFill>
          <a:ln/>
        </p:spPr>
      </p:sp>
      <p:sp>
        <p:nvSpPr>
          <p:cNvPr id="56" name="Text 54"/>
          <p:cNvSpPr/>
          <p:nvPr/>
        </p:nvSpPr>
        <p:spPr>
          <a:xfrm>
            <a:off x="7139940" y="413766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INTDIV-122 / FinalA…</a:t>
            </a:r>
            <a:endParaRPr lang="en-US" sz="1000" dirty="0"/>
          </a:p>
        </p:txBody>
      </p:sp>
      <p:sp>
        <p:nvSpPr>
          <p:cNvPr id="57" name="Shape 55"/>
          <p:cNvSpPr/>
          <p:nvPr/>
        </p:nvSpPr>
        <p:spPr>
          <a:xfrm>
            <a:off x="7955280" y="4466844"/>
            <a:ext cx="457200" cy="457200"/>
          </a:xfrm>
          <a:prstGeom prst="ellipse">
            <a:avLst/>
          </a:prstGeom>
          <a:solidFill>
            <a:srgbClr val="E1E3E6"/>
          </a:solidFill>
          <a:ln w="19050">
            <a:solidFill>
              <a:srgbClr val="6B7280"/>
            </a:solidFill>
            <a:prstDash val="solid"/>
          </a:ln>
        </p:spPr>
      </p:sp>
      <p:sp>
        <p:nvSpPr>
          <p:cNvPr id="58" name="Shape 56"/>
          <p:cNvSpPr/>
          <p:nvPr/>
        </p:nvSpPr>
        <p:spPr>
          <a:xfrm>
            <a:off x="7139940" y="4969764"/>
            <a:ext cx="2087880" cy="384048"/>
          </a:xfrm>
          <a:prstGeom prst="rect">
            <a:avLst/>
          </a:prstGeom>
          <a:solidFill>
            <a:srgbClr val="FFFFFF"/>
          </a:solidFill>
          <a:ln/>
        </p:spPr>
      </p:sp>
      <p:sp>
        <p:nvSpPr>
          <p:cNvPr id="59" name="Text 57"/>
          <p:cNvSpPr/>
          <p:nvPr/>
        </p:nvSpPr>
        <p:spPr>
          <a:xfrm>
            <a:off x="7139940" y="4969764"/>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INTDIV-065 / FinalA…</a:t>
            </a:r>
            <a:endParaRPr lang="en-US" sz="1000" dirty="0"/>
          </a:p>
        </p:txBody>
      </p:sp>
      <p:sp>
        <p:nvSpPr>
          <p:cNvPr id="60" name="Shape 58"/>
          <p:cNvSpPr/>
          <p:nvPr/>
        </p:nvSpPr>
        <p:spPr>
          <a:xfrm>
            <a:off x="7955280" y="5298948"/>
            <a:ext cx="457200" cy="457200"/>
          </a:xfrm>
          <a:prstGeom prst="ellipse">
            <a:avLst/>
          </a:prstGeom>
          <a:solidFill>
            <a:srgbClr val="E1E3E6"/>
          </a:solidFill>
          <a:ln w="19050">
            <a:solidFill>
              <a:srgbClr val="6B7280"/>
            </a:solidFill>
            <a:prstDash val="solid"/>
          </a:ln>
        </p:spPr>
      </p:sp>
      <p:sp>
        <p:nvSpPr>
          <p:cNvPr id="61" name="Shape 59"/>
          <p:cNvSpPr/>
          <p:nvPr/>
        </p:nvSpPr>
        <p:spPr>
          <a:xfrm>
            <a:off x="7139940" y="5801868"/>
            <a:ext cx="2087880" cy="384048"/>
          </a:xfrm>
          <a:prstGeom prst="rect">
            <a:avLst/>
          </a:prstGeom>
          <a:solidFill>
            <a:srgbClr val="FFFFFF"/>
          </a:solidFill>
          <a:ln/>
        </p:spPr>
      </p:sp>
      <p:sp>
        <p:nvSpPr>
          <p:cNvPr id="62" name="Text 60"/>
          <p:cNvSpPr/>
          <p:nvPr/>
        </p:nvSpPr>
        <p:spPr>
          <a:xfrm>
            <a:off x="7139940" y="5801868"/>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INTDIV-052 / FinalA…</a:t>
            </a:r>
            <a:endParaRPr lang="en-US" sz="1000" dirty="0"/>
          </a:p>
        </p:txBody>
      </p:sp>
      <p:sp>
        <p:nvSpPr>
          <p:cNvPr id="63" name="Shape 61"/>
          <p:cNvSpPr/>
          <p:nvPr/>
        </p:nvSpPr>
        <p:spPr>
          <a:xfrm>
            <a:off x="10180320" y="2247900"/>
            <a:ext cx="457200" cy="457200"/>
          </a:xfrm>
          <a:prstGeom prst="ellipse">
            <a:avLst/>
          </a:prstGeom>
          <a:solidFill>
            <a:srgbClr val="E1E3E6"/>
          </a:solidFill>
          <a:ln w="19050">
            <a:solidFill>
              <a:srgbClr val="6B7280"/>
            </a:solidFill>
            <a:prstDash val="solid"/>
          </a:ln>
        </p:spPr>
      </p:sp>
      <p:sp>
        <p:nvSpPr>
          <p:cNvPr id="64" name="Shape 62"/>
          <p:cNvSpPr/>
          <p:nvPr/>
        </p:nvSpPr>
        <p:spPr>
          <a:xfrm>
            <a:off x="9364980" y="2750820"/>
            <a:ext cx="2087880" cy="384048"/>
          </a:xfrm>
          <a:prstGeom prst="rect">
            <a:avLst/>
          </a:prstGeom>
          <a:solidFill>
            <a:srgbClr val="FFFFFF"/>
          </a:solidFill>
          <a:ln/>
        </p:spPr>
      </p:sp>
      <p:sp>
        <p:nvSpPr>
          <p:cNvPr id="65" name="Text 63"/>
          <p:cNvSpPr/>
          <p:nvPr/>
        </p:nvSpPr>
        <p:spPr>
          <a:xfrm>
            <a:off x="9364980" y="275082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EG26 x/-6 = 1 / Fin…</a:t>
            </a:r>
            <a:endParaRPr lang="en-US" sz="1000" dirty="0"/>
          </a:p>
        </p:txBody>
      </p:sp>
      <p:sp>
        <p:nvSpPr>
          <p:cNvPr id="66" name="Shape 64"/>
          <p:cNvSpPr/>
          <p:nvPr/>
        </p:nvSpPr>
        <p:spPr>
          <a:xfrm>
            <a:off x="10180320" y="3634740"/>
            <a:ext cx="457200" cy="457200"/>
          </a:xfrm>
          <a:prstGeom prst="ellipse">
            <a:avLst/>
          </a:prstGeom>
          <a:solidFill>
            <a:srgbClr val="E1E3E6"/>
          </a:solidFill>
          <a:ln w="19050">
            <a:solidFill>
              <a:srgbClr val="6B7280"/>
            </a:solidFill>
            <a:prstDash val="solid"/>
          </a:ln>
        </p:spPr>
      </p:sp>
      <p:sp>
        <p:nvSpPr>
          <p:cNvPr id="67" name="Shape 65"/>
          <p:cNvSpPr/>
          <p:nvPr/>
        </p:nvSpPr>
        <p:spPr>
          <a:xfrm>
            <a:off x="9364980" y="4137660"/>
            <a:ext cx="2087880" cy="384048"/>
          </a:xfrm>
          <a:prstGeom prst="rect">
            <a:avLst/>
          </a:prstGeom>
          <a:solidFill>
            <a:srgbClr val="FFFFFF"/>
          </a:solidFill>
          <a:ln/>
        </p:spPr>
      </p:sp>
      <p:sp>
        <p:nvSpPr>
          <p:cNvPr id="68" name="Text 66"/>
          <p:cNvSpPr/>
          <p:nvPr/>
        </p:nvSpPr>
        <p:spPr>
          <a:xfrm>
            <a:off x="9364980" y="413766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EG25 x/4 = 3 / Fina…</a:t>
            </a:r>
            <a:endParaRPr lang="en-US" sz="1000" dirty="0"/>
          </a:p>
        </p:txBody>
      </p:sp>
      <p:sp>
        <p:nvSpPr>
          <p:cNvPr id="69" name="Shape 67"/>
          <p:cNvSpPr/>
          <p:nvPr/>
        </p:nvSpPr>
        <p:spPr>
          <a:xfrm>
            <a:off x="10180320" y="5021580"/>
            <a:ext cx="457200" cy="457200"/>
          </a:xfrm>
          <a:prstGeom prst="ellipse">
            <a:avLst/>
          </a:prstGeom>
          <a:solidFill>
            <a:srgbClr val="E1E3E6"/>
          </a:solidFill>
          <a:ln w="19050">
            <a:solidFill>
              <a:srgbClr val="6B7280"/>
            </a:solidFill>
            <a:prstDash val="solid"/>
          </a:ln>
        </p:spPr>
      </p:sp>
      <p:sp>
        <p:nvSpPr>
          <p:cNvPr id="70" name="Shape 68"/>
          <p:cNvSpPr/>
          <p:nvPr/>
        </p:nvSpPr>
        <p:spPr>
          <a:xfrm>
            <a:off x="9364980" y="5524500"/>
            <a:ext cx="2087880" cy="384048"/>
          </a:xfrm>
          <a:prstGeom prst="rect">
            <a:avLst/>
          </a:prstGeom>
          <a:solidFill>
            <a:srgbClr val="FFFFFF"/>
          </a:solidFill>
          <a:ln/>
        </p:spPr>
      </p:sp>
      <p:sp>
        <p:nvSpPr>
          <p:cNvPr id="71" name="Text 69"/>
          <p:cNvSpPr/>
          <p:nvPr/>
        </p:nvSpPr>
        <p:spPr>
          <a:xfrm>
            <a:off x="9364980" y="5524500"/>
            <a:ext cx="2087880"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EG25 -9 = x/5 / Fin…</a:t>
            </a:r>
            <a:endParaRPr lang="en-US" sz="1000" dirty="0"/>
          </a:p>
        </p:txBody>
      </p:sp>
      <p:sp>
        <p:nvSpPr>
          <p:cNvPr id="72" name="Text 70"/>
          <p:cNvSpPr/>
          <p:nvPr/>
        </p:nvSpPr>
        <p:spPr>
          <a:xfrm>
            <a:off x="548640" y="6236208"/>
            <a:ext cx="11091672"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chấm màu = KC (khái niệm)   ● chấm xám = câu hỏi/bài tập   viền đậm = câu hỏi thật cần nhiều KC cùng lúc (multi-KC)</a:t>
            </a:r>
            <a:endParaRPr lang="en-US" sz="1000" dirty="0"/>
          </a:p>
        </p:txBody>
      </p:sp>
      <p:sp>
        <p:nvSpPr>
          <p:cNvPr id="73" name="Text 71"/>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bridge06 · sơ đồ KC ↔ câu hỏi</a:t>
            </a:r>
            <a:endParaRPr lang="en-US" sz="1000" dirty="0"/>
          </a:p>
        </p:txBody>
      </p:sp>
      <p:sp>
        <p:nvSpPr>
          <p:cNvPr id="74" name="Text 72"/>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54</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527048" cy="402336"/>
          </a:xfrm>
          <a:prstGeom prst="roundRect">
            <a:avLst>
              <a:gd name="adj" fmla="val 18182"/>
            </a:avLst>
          </a:prstGeom>
          <a:solidFill>
            <a:srgbClr val="EDA100"/>
          </a:solidFill>
          <a:ln/>
        </p:spPr>
      </p:sp>
      <p:sp>
        <p:nvSpPr>
          <p:cNvPr id="3" name="Text 1"/>
          <p:cNvSpPr/>
          <p:nvPr/>
        </p:nvSpPr>
        <p:spPr>
          <a:xfrm>
            <a:off x="548640" y="384048"/>
            <a:ext cx="1527048" cy="402336"/>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bridge06</a:t>
            </a:r>
            <a:endParaRPr lang="en-US" sz="1400" dirty="0"/>
          </a:p>
        </p:txBody>
      </p:sp>
      <p:sp>
        <p:nvSpPr>
          <p:cNvPr id="4" name="Text 2"/>
          <p:cNvSpPr/>
          <p:nvPr/>
        </p:nvSpPr>
        <p:spPr>
          <a:xfrm>
            <a:off x="2304288" y="329184"/>
            <a:ext cx="7772400" cy="457200"/>
          </a:xfrm>
          <a:prstGeom prst="rect">
            <a:avLst/>
          </a:prstGeom>
          <a:noFill/>
          <a:ln/>
        </p:spPr>
        <p:txBody>
          <a:bodyPr wrap="square" lIns="0" tIns="0" rIns="0" bIns="0" rtlCol="0" anchor="ctr"/>
          <a:lstStyle/>
          <a:p>
            <a:pPr indent="0" marL="0">
              <a:buNone/>
            </a:pPr>
            <a:r>
              <a:rPr lang="en-US" sz="2200" b="1" dirty="0">
                <a:solidFill>
                  <a:srgbClr val="000000"/>
                </a:solidFill>
                <a:latin typeface="Cambria" pitchFamily="34" charset="0"/>
                <a:ea typeface="Cambria" pitchFamily="34" charset="-122"/>
                <a:cs typeface="Cambria" pitchFamily="34" charset="-120"/>
              </a:rPr>
              <a:t>Bridge to Algebra 2006-2007</a:t>
            </a:r>
            <a:endParaRPr lang="en-US" sz="2200" dirty="0"/>
          </a:p>
        </p:txBody>
      </p:sp>
      <p:sp>
        <p:nvSpPr>
          <p:cNvPr id="5" name="Text 3"/>
          <p:cNvSpPr/>
          <p:nvPr/>
        </p:nvSpPr>
        <p:spPr>
          <a:xfrm>
            <a:off x="548640" y="896112"/>
            <a:ext cx="7315200"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PSLC KDD Cup 2010</a:t>
            </a:r>
            <a:endParaRPr lang="en-US" sz="1100" dirty="0"/>
          </a:p>
        </p:txBody>
      </p:sp>
      <p:sp>
        <p:nvSpPr>
          <p:cNvPr id="6" name="Text 4"/>
          <p:cNvSpPr/>
          <p:nvPr/>
        </p:nvSpPr>
        <p:spPr>
          <a:xfrm>
            <a:off x="548640" y="1371600"/>
            <a:ext cx="4251960" cy="256032"/>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CẤU TRÚC FILE  </a:t>
            </a:r>
            <a:pPr indent="0" marL="0">
              <a:buNone/>
            </a:pPr>
            <a:r>
              <a:rPr lang="en-US" sz="1000" i="1" dirty="0">
                <a:solidFill>
                  <a:srgbClr val="000000"/>
                </a:solidFill>
                <a:latin typeface="Calibri" pitchFamily="34" charset="0"/>
                <a:ea typeface="Calibri" pitchFamily="34" charset="-122"/>
                <a:cs typeface="Calibri" pitchFamily="34" charset="-120"/>
              </a:rPr>
              <a:t>· mục 5.1 notebook</a:t>
            </a:r>
            <a:endParaRPr lang="en-US" sz="10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51960" cy="512064"/>
        </p:xfrm>
        <a:graphic>
          <a:graphicData uri="http://schemas.openxmlformats.org/drawingml/2006/table">
            <a:tbl>
              <a:tblPr/>
              <a:tblGrid>
                <a:gridCol w="2811780"/>
                <a:gridCol w="891540"/>
                <a:gridCol w="54864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Dòng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bridge_to_algebra_2006_2007_train.txt  (dùng phân tích)</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3,679,199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8" name="Text 5"/>
          <p:cNvSpPr/>
          <p:nvPr/>
        </p:nvSpPr>
        <p:spPr>
          <a:xfrm>
            <a:off x="548640" y="2286000"/>
            <a:ext cx="4251960" cy="27432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_test.txt / _master.txt (7,672 dòng) + .txt (form nộp bài mẫu) — không dùng ở đây.</a:t>
            </a:r>
            <a:endParaRPr lang="en-US" sz="1000" dirty="0"/>
          </a:p>
        </p:txBody>
      </p:sp>
      <p:sp>
        <p:nvSpPr>
          <p:cNvPr id="9" name="Text 6"/>
          <p:cNvSpPr/>
          <p:nvPr/>
        </p:nvSpPr>
        <p:spPr>
          <a:xfrm>
            <a:off x="548640" y="2578608"/>
            <a:ext cx="4251960" cy="566928"/>
          </a:xfrm>
          <a:prstGeom prst="rect">
            <a:avLst/>
          </a:prstGeom>
          <a:noFill/>
          <a:ln/>
        </p:spPr>
        <p:txBody>
          <a:bodyPr wrap="square" lIns="0" tIns="0" rIns="0" bIns="0" rtlCol="0" anchor="ctr"/>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KC(SubSkills) nối nhiều KC bằng '~~'. Quy mô lớn hơn algebra05 4.5 lần (3,679,199 so với 809,694 dòng) nhưng tỉ lệ step đa-KC thấp hơn nhiều (0.4% so với 31.4%).</a:t>
            </a:r>
            <a:endParaRPr lang="en-US" sz="1000" dirty="0"/>
          </a:p>
        </p:txBody>
      </p:sp>
      <p:sp>
        <p:nvSpPr>
          <p:cNvPr id="10" name="Shape 7"/>
          <p:cNvSpPr/>
          <p:nvPr/>
        </p:nvSpPr>
        <p:spPr>
          <a:xfrm>
            <a:off x="548640" y="3255264"/>
            <a:ext cx="1356360" cy="1458468"/>
          </a:xfrm>
          <a:prstGeom prst="roundRect">
            <a:avLst>
              <a:gd name="adj" fmla="val 3371"/>
            </a:avLst>
          </a:prstGeom>
          <a:solidFill>
            <a:srgbClr val="F5F7FC"/>
          </a:solidFill>
          <a:ln w="9525">
            <a:solidFill>
              <a:srgbClr val="E3E7F1"/>
            </a:solidFill>
            <a:prstDash val="solid"/>
          </a:ln>
        </p:spPr>
      </p:sp>
      <p:sp>
        <p:nvSpPr>
          <p:cNvPr id="11" name="Text 8"/>
          <p:cNvSpPr/>
          <p:nvPr/>
        </p:nvSpPr>
        <p:spPr>
          <a:xfrm>
            <a:off x="594360" y="3328416"/>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1,817,476</a:t>
            </a:r>
            <a:endParaRPr lang="en-US" sz="1600" dirty="0"/>
          </a:p>
        </p:txBody>
      </p:sp>
      <p:sp>
        <p:nvSpPr>
          <p:cNvPr id="12" name="Text 9"/>
          <p:cNvSpPr/>
          <p:nvPr/>
        </p:nvSpPr>
        <p:spPr>
          <a:xfrm>
            <a:off x="594360" y="4130345"/>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Step</a:t>
            </a:r>
            <a:endParaRPr lang="en-US" sz="1000" dirty="0"/>
          </a:p>
        </p:txBody>
      </p:sp>
      <p:sp>
        <p:nvSpPr>
          <p:cNvPr id="13" name="Shape 10"/>
          <p:cNvSpPr/>
          <p:nvPr/>
        </p:nvSpPr>
        <p:spPr>
          <a:xfrm>
            <a:off x="1996440" y="3255264"/>
            <a:ext cx="1356360" cy="1458468"/>
          </a:xfrm>
          <a:prstGeom prst="roundRect">
            <a:avLst>
              <a:gd name="adj" fmla="val 3371"/>
            </a:avLst>
          </a:prstGeom>
          <a:solidFill>
            <a:srgbClr val="F5F7FC"/>
          </a:solidFill>
          <a:ln w="9525">
            <a:solidFill>
              <a:srgbClr val="E3E7F1"/>
            </a:solidFill>
            <a:prstDash val="solid"/>
          </a:ln>
        </p:spPr>
      </p:sp>
      <p:sp>
        <p:nvSpPr>
          <p:cNvPr id="14" name="Text 11"/>
          <p:cNvSpPr/>
          <p:nvPr/>
        </p:nvSpPr>
        <p:spPr>
          <a:xfrm>
            <a:off x="2042160" y="3328416"/>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1,146</a:t>
            </a:r>
            <a:endParaRPr lang="en-US" sz="1600" dirty="0"/>
          </a:p>
        </p:txBody>
      </p:sp>
      <p:sp>
        <p:nvSpPr>
          <p:cNvPr id="15" name="Text 12"/>
          <p:cNvSpPr/>
          <p:nvPr/>
        </p:nvSpPr>
        <p:spPr>
          <a:xfrm>
            <a:off x="2042160" y="4130345"/>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Học sinh</a:t>
            </a:r>
            <a:endParaRPr lang="en-US" sz="1000" dirty="0"/>
          </a:p>
        </p:txBody>
      </p:sp>
      <p:sp>
        <p:nvSpPr>
          <p:cNvPr id="16" name="Shape 13"/>
          <p:cNvSpPr/>
          <p:nvPr/>
        </p:nvSpPr>
        <p:spPr>
          <a:xfrm>
            <a:off x="3444240" y="3255264"/>
            <a:ext cx="1356360" cy="1458468"/>
          </a:xfrm>
          <a:prstGeom prst="roundRect">
            <a:avLst>
              <a:gd name="adj" fmla="val 3371"/>
            </a:avLst>
          </a:prstGeom>
          <a:solidFill>
            <a:srgbClr val="F5F7FC"/>
          </a:solidFill>
          <a:ln w="9525">
            <a:solidFill>
              <a:srgbClr val="E3E7F1"/>
            </a:solidFill>
            <a:prstDash val="solid"/>
          </a:ln>
        </p:spPr>
      </p:sp>
      <p:sp>
        <p:nvSpPr>
          <p:cNvPr id="17" name="Text 14"/>
          <p:cNvSpPr/>
          <p:nvPr/>
        </p:nvSpPr>
        <p:spPr>
          <a:xfrm>
            <a:off x="3489960" y="3328416"/>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19,005</a:t>
            </a:r>
            <a:endParaRPr lang="en-US" sz="1600" dirty="0"/>
          </a:p>
        </p:txBody>
      </p:sp>
      <p:sp>
        <p:nvSpPr>
          <p:cNvPr id="18" name="Text 15"/>
          <p:cNvSpPr/>
          <p:nvPr/>
        </p:nvSpPr>
        <p:spPr>
          <a:xfrm>
            <a:off x="3489960" y="4130345"/>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Bài toán</a:t>
            </a:r>
            <a:endParaRPr lang="en-US" sz="1000" dirty="0"/>
          </a:p>
        </p:txBody>
      </p:sp>
      <p:sp>
        <p:nvSpPr>
          <p:cNvPr id="19" name="Shape 16"/>
          <p:cNvSpPr/>
          <p:nvPr/>
        </p:nvSpPr>
        <p:spPr>
          <a:xfrm>
            <a:off x="548640" y="4805172"/>
            <a:ext cx="1356360" cy="1458468"/>
          </a:xfrm>
          <a:prstGeom prst="roundRect">
            <a:avLst>
              <a:gd name="adj" fmla="val 3371"/>
            </a:avLst>
          </a:prstGeom>
          <a:solidFill>
            <a:srgbClr val="F5F7FC"/>
          </a:solidFill>
          <a:ln w="9525">
            <a:solidFill>
              <a:srgbClr val="E3E7F1"/>
            </a:solidFill>
            <a:prstDash val="solid"/>
          </a:ln>
        </p:spPr>
      </p:sp>
      <p:sp>
        <p:nvSpPr>
          <p:cNvPr id="20" name="Text 17"/>
          <p:cNvSpPr/>
          <p:nvPr/>
        </p:nvSpPr>
        <p:spPr>
          <a:xfrm>
            <a:off x="594360" y="4878324"/>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493</a:t>
            </a:r>
            <a:endParaRPr lang="en-US" sz="1600" dirty="0"/>
          </a:p>
        </p:txBody>
      </p:sp>
      <p:sp>
        <p:nvSpPr>
          <p:cNvPr id="21" name="Text 18"/>
          <p:cNvSpPr/>
          <p:nvPr/>
        </p:nvSpPr>
        <p:spPr>
          <a:xfrm>
            <a:off x="594360" y="5680253"/>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KC</a:t>
            </a:r>
            <a:endParaRPr lang="en-US" sz="1000" dirty="0"/>
          </a:p>
        </p:txBody>
      </p:sp>
      <p:sp>
        <p:nvSpPr>
          <p:cNvPr id="22" name="Shape 19"/>
          <p:cNvSpPr/>
          <p:nvPr/>
        </p:nvSpPr>
        <p:spPr>
          <a:xfrm>
            <a:off x="1996440" y="4805172"/>
            <a:ext cx="1356360" cy="1458468"/>
          </a:xfrm>
          <a:prstGeom prst="roundRect">
            <a:avLst>
              <a:gd name="adj" fmla="val 3371"/>
            </a:avLst>
          </a:prstGeom>
          <a:solidFill>
            <a:srgbClr val="F5F7FC"/>
          </a:solidFill>
          <a:ln w="9525">
            <a:solidFill>
              <a:srgbClr val="E3E7F1"/>
            </a:solidFill>
            <a:prstDash val="solid"/>
          </a:ln>
        </p:spPr>
      </p:sp>
      <p:sp>
        <p:nvSpPr>
          <p:cNvPr id="23" name="Text 20"/>
          <p:cNvSpPr/>
          <p:nvPr/>
        </p:nvSpPr>
        <p:spPr>
          <a:xfrm>
            <a:off x="2042160" y="4878324"/>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83.2%</a:t>
            </a:r>
            <a:endParaRPr lang="en-US" sz="1600" dirty="0"/>
          </a:p>
        </p:txBody>
      </p:sp>
      <p:sp>
        <p:nvSpPr>
          <p:cNvPr id="24" name="Text 21"/>
          <p:cNvSpPr/>
          <p:nvPr/>
        </p:nvSpPr>
        <p:spPr>
          <a:xfrm>
            <a:off x="2042160" y="5680253"/>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Đúng ngay lần đầu (CFA)</a:t>
            </a:r>
            <a:endParaRPr lang="en-US" sz="1000" dirty="0"/>
          </a:p>
        </p:txBody>
      </p:sp>
      <p:sp>
        <p:nvSpPr>
          <p:cNvPr id="25" name="Shape 22"/>
          <p:cNvSpPr/>
          <p:nvPr/>
        </p:nvSpPr>
        <p:spPr>
          <a:xfrm>
            <a:off x="3444240" y="4805172"/>
            <a:ext cx="1356360" cy="1458468"/>
          </a:xfrm>
          <a:prstGeom prst="roundRect">
            <a:avLst>
              <a:gd name="adj" fmla="val 3371"/>
            </a:avLst>
          </a:prstGeom>
          <a:solidFill>
            <a:srgbClr val="F5F7FC"/>
          </a:solidFill>
          <a:ln w="9525">
            <a:solidFill>
              <a:srgbClr val="E3E7F1"/>
            </a:solidFill>
            <a:prstDash val="solid"/>
          </a:ln>
        </p:spPr>
      </p:sp>
      <p:sp>
        <p:nvSpPr>
          <p:cNvPr id="26" name="Text 23"/>
          <p:cNvSpPr/>
          <p:nvPr/>
        </p:nvSpPr>
        <p:spPr>
          <a:xfrm>
            <a:off x="3489960" y="4878324"/>
            <a:ext cx="1264920" cy="802157"/>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0.4%</a:t>
            </a:r>
            <a:endParaRPr lang="en-US" sz="1600" dirty="0"/>
          </a:p>
        </p:txBody>
      </p:sp>
      <p:sp>
        <p:nvSpPr>
          <p:cNvPr id="27" name="Text 24"/>
          <p:cNvSpPr/>
          <p:nvPr/>
        </p:nvSpPr>
        <p:spPr>
          <a:xfrm>
            <a:off x="3489960" y="5680253"/>
            <a:ext cx="1264920" cy="583387"/>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Step gắn &gt;1 KC</a:t>
            </a:r>
            <a:endParaRPr lang="en-US" sz="1000" dirty="0"/>
          </a:p>
        </p:txBody>
      </p:sp>
      <p:sp>
        <p:nvSpPr>
          <p:cNvPr id="28" name="Shape 25"/>
          <p:cNvSpPr/>
          <p:nvPr/>
        </p:nvSpPr>
        <p:spPr>
          <a:xfrm>
            <a:off x="4910328" y="1298448"/>
            <a:ext cx="6803136" cy="4581144"/>
          </a:xfrm>
          <a:prstGeom prst="roundRect">
            <a:avLst>
              <a:gd name="adj" fmla="val 798"/>
            </a:avLst>
          </a:prstGeom>
          <a:solidFill>
            <a:srgbClr val="FFFFFF"/>
          </a:solidFill>
          <a:ln w="15875">
            <a:solidFill>
              <a:srgbClr val="EDA100"/>
            </a:solidFill>
            <a:prstDash val="solid"/>
          </a:ln>
        </p:spPr>
      </p:sp>
      <p:pic>
        <p:nvPicPr>
          <p:cNvPr id="29" name="Image 0" descr="/tmp/claude-1000/-home-admincsc-workspace-binh-openscience-kt-workspace/c4c4a90d-95e7-4615-8c88-d95bfdcdf616/scratchpad/pptx_assets/fig_55.png">    </p:cNvPr>
          <p:cNvPicPr>
            <a:picLocks noChangeAspect="1"/>
          </p:cNvPicPr>
          <p:nvPr/>
        </p:nvPicPr>
        <p:blipFill>
          <a:blip r:embed="rId1"/>
          <a:stretch>
            <a:fillRect/>
          </a:stretch>
        </p:blipFill>
        <p:spPr>
          <a:xfrm>
            <a:off x="5310236" y="1371600"/>
            <a:ext cx="6003320" cy="4434840"/>
          </a:xfrm>
          <a:prstGeom prst="rect">
            <a:avLst/>
          </a:prstGeom>
        </p:spPr>
      </p:pic>
      <p:sp>
        <p:nvSpPr>
          <p:cNvPr id="30" name="Text 26"/>
          <p:cNvSpPr/>
          <p:nvPr/>
        </p:nvSpPr>
        <p:spPr>
          <a:xfrm>
            <a:off x="4983480" y="5916168"/>
            <a:ext cx="6656832" cy="502920"/>
          </a:xfrm>
          <a:prstGeom prst="rect">
            <a:avLst/>
          </a:prstGeom>
          <a:noFill/>
          <a:ln/>
        </p:spPr>
        <p:txBody>
          <a:bodyPr wrap="square" lIns="0" tIns="0" rIns="0" bIns="0" rtlCol="0" anchor="ctr"/>
          <a:lstStyle/>
          <a:p>
            <a:pPr algn="l"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bridge_to_algebra_2006_2007_train.txt (tab-separated) — 1,817,476/3,679,199 dòng có KC(SubSkills) hợp lệ và nhãn Correct First Attempt.  ·  Nguồn hình: mục 5.2 "Phân tích &amp; trực quan hóa" – datasets_deep_dive.ipynb.</a:t>
            </a:r>
            <a:endParaRPr lang="en-US" sz="1000" dirty="0"/>
          </a:p>
        </p:txBody>
      </p:sp>
      <p:sp>
        <p:nvSpPr>
          <p:cNvPr id="31" name="Text 2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bridge06 · PSLC KDD Cup 2010</a:t>
            </a:r>
            <a:endParaRPr lang="en-US" sz="1000" dirty="0"/>
          </a:p>
        </p:txBody>
      </p:sp>
      <p:sp>
        <p:nvSpPr>
          <p:cNvPr id="32" name="Text 2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55</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85800" y="1417320"/>
            <a:ext cx="3657600" cy="2011680"/>
          </a:xfrm>
          <a:prstGeom prst="rect">
            <a:avLst/>
          </a:prstGeom>
          <a:noFill/>
          <a:ln/>
        </p:spPr>
        <p:txBody>
          <a:bodyPr wrap="square" lIns="0" tIns="0" rIns="0" bIns="0" rtlCol="0" anchor="ctr"/>
          <a:lstStyle/>
          <a:p>
            <a:pPr algn="l" indent="0" marL="0">
              <a:buNone/>
            </a:pPr>
            <a:r>
              <a:rPr lang="en-US" sz="13000" b="1" dirty="0">
                <a:solidFill>
                  <a:srgbClr val="FFFFFF">
                    <a:alpha val="18000"/>
                  </a:srgbClr>
                </a:solidFill>
                <a:latin typeface="Cambria" pitchFamily="34" charset="0"/>
                <a:ea typeface="Cambria" pitchFamily="34" charset="-122"/>
                <a:cs typeface="Cambria" pitchFamily="34" charset="-120"/>
              </a:rPr>
              <a:t>05</a:t>
            </a:r>
            <a:endParaRPr lang="en-US" sz="13000" dirty="0"/>
          </a:p>
        </p:txBody>
      </p:sp>
      <p:sp>
        <p:nvSpPr>
          <p:cNvPr id="3" name="Text 1"/>
          <p:cNvSpPr/>
          <p:nvPr/>
        </p:nvSpPr>
        <p:spPr>
          <a:xfrm>
            <a:off x="822960" y="3017520"/>
            <a:ext cx="10058400" cy="91440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XES3G5M</a:t>
            </a:r>
            <a:endParaRPr lang="en-US" sz="4000" dirty="0"/>
          </a:p>
        </p:txBody>
      </p:sp>
      <p:sp>
        <p:nvSpPr>
          <p:cNvPr id="4" name="Text 2"/>
          <p:cNvSpPr/>
          <p:nvPr/>
        </p:nvSpPr>
        <p:spPr>
          <a:xfrm>
            <a:off x="822960" y="3886200"/>
            <a:ext cx="9601200" cy="640080"/>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Dữ liệu pre-sequenced kèm nội dung tiếng Trung đầy đủ — family duy nhất có ngôn ngữ tự nhiên thực sự.</a:t>
            </a:r>
            <a:endParaRPr lang="en-US" sz="1500" dirty="0"/>
          </a:p>
        </p:txBody>
      </p:sp>
      <p:sp>
        <p:nvSpPr>
          <p:cNvPr id="5" name="Shape 3"/>
          <p:cNvSpPr/>
          <p:nvPr/>
        </p:nvSpPr>
        <p:spPr>
          <a:xfrm>
            <a:off x="822960" y="4663440"/>
            <a:ext cx="1271016" cy="438912"/>
          </a:xfrm>
          <a:prstGeom prst="roundRect">
            <a:avLst>
              <a:gd name="adj" fmla="val 18750"/>
            </a:avLst>
          </a:prstGeom>
          <a:solidFill>
            <a:srgbClr val="E87BA4"/>
          </a:solidFill>
          <a:ln/>
        </p:spPr>
      </p:sp>
      <p:sp>
        <p:nvSpPr>
          <p:cNvPr id="6" name="Text 4"/>
          <p:cNvSpPr/>
          <p:nvPr/>
        </p:nvSpPr>
        <p:spPr>
          <a:xfrm>
            <a:off x="822960" y="4663440"/>
            <a:ext cx="1271016" cy="438912"/>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xes3g5m</a:t>
            </a:r>
            <a:endParaRPr lang="en-US" sz="1300" dirty="0"/>
          </a:p>
        </p:txBody>
      </p:sp>
      <p:sp>
        <p:nvSpPr>
          <p:cNvPr id="7" name="Text 5"/>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XES3G5M</a:t>
            </a:r>
            <a:endParaRPr lang="en-US" sz="1000" dirty="0"/>
          </a:p>
        </p:txBody>
      </p:sp>
      <p:sp>
        <p:nvSpPr>
          <p:cNvPr id="8" name="Text 6"/>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56</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liên kết file · xes3g5m  ·  Nguồn: mục 6.1 "Cấu trúc file / Liên kết"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Cấu trúc file</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question_level và kc_level là 2 ĐỘ CHI TIẾT của cùng dữ liệu thô - không phải 2 nguồn độc lập.</a:t>
            </a:r>
            <a:endParaRPr lang="en-US" sz="1150" dirty="0"/>
          </a:p>
        </p:txBody>
      </p:sp>
      <p:sp>
        <p:nvSpPr>
          <p:cNvPr id="5" name="Shape 3"/>
          <p:cNvSpPr/>
          <p:nvPr/>
        </p:nvSpPr>
        <p:spPr>
          <a:xfrm>
            <a:off x="731520" y="1691640"/>
            <a:ext cx="4206240" cy="868680"/>
          </a:xfrm>
          <a:prstGeom prst="roundRect">
            <a:avLst>
              <a:gd name="adj" fmla="val 7368"/>
            </a:avLst>
          </a:prstGeom>
          <a:solidFill>
            <a:srgbClr val="FCEFF4"/>
          </a:solidFill>
          <a:ln w="19050">
            <a:solidFill>
              <a:srgbClr val="E87BA4"/>
            </a:solidFill>
            <a:prstDash val="solid"/>
          </a:ln>
        </p:spPr>
      </p:sp>
      <p:sp>
        <p:nvSpPr>
          <p:cNvPr id="6" name="Text 4"/>
          <p:cNvSpPr/>
          <p:nvPr/>
        </p:nvSpPr>
        <p:spPr>
          <a:xfrm>
            <a:off x="822960" y="1691640"/>
            <a:ext cx="4023360" cy="86868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question_level/train_valid_sequences_quelevel.csv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1 dòng = 1 chuỗi học sinh, đơn vị câu hỏi</a:t>
            </a:r>
            <a:endParaRPr lang="en-US" sz="1150" dirty="0"/>
          </a:p>
        </p:txBody>
      </p:sp>
      <p:sp>
        <p:nvSpPr>
          <p:cNvPr id="7" name="Shape 5"/>
          <p:cNvSpPr/>
          <p:nvPr/>
        </p:nvSpPr>
        <p:spPr>
          <a:xfrm>
            <a:off x="7223760" y="1691640"/>
            <a:ext cx="4206240" cy="868680"/>
          </a:xfrm>
          <a:prstGeom prst="roundRect">
            <a:avLst>
              <a:gd name="adj" fmla="val 7368"/>
            </a:avLst>
          </a:prstGeom>
          <a:solidFill>
            <a:srgbClr val="FCEFF4"/>
          </a:solidFill>
          <a:ln w="19050">
            <a:solidFill>
              <a:srgbClr val="E87BA4"/>
            </a:solidFill>
            <a:prstDash val="solid"/>
          </a:ln>
        </p:spPr>
      </p:sp>
      <p:sp>
        <p:nvSpPr>
          <p:cNvPr id="8" name="Text 6"/>
          <p:cNvSpPr/>
          <p:nvPr/>
        </p:nvSpPr>
        <p:spPr>
          <a:xfrm>
            <a:off x="7315200" y="1691640"/>
            <a:ext cx="4023360" cy="86868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kc_level/train_valid_sequences.csv</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đã tách multi-KC thành nhiều bước</a:t>
            </a:r>
            <a:endParaRPr lang="en-US" sz="1150" dirty="0"/>
          </a:p>
        </p:txBody>
      </p:sp>
      <p:sp>
        <p:nvSpPr>
          <p:cNvPr id="9" name="Shape 7"/>
          <p:cNvSpPr/>
          <p:nvPr/>
        </p:nvSpPr>
        <p:spPr>
          <a:xfrm>
            <a:off x="731520" y="4892040"/>
            <a:ext cx="4206240" cy="822960"/>
          </a:xfrm>
          <a:prstGeom prst="roundRect">
            <a:avLst>
              <a:gd name="adj" fmla="val 7778"/>
            </a:avLst>
          </a:prstGeom>
          <a:solidFill>
            <a:srgbClr val="FCEFF4"/>
          </a:solidFill>
          <a:ln w="19050">
            <a:solidFill>
              <a:srgbClr val="E87BA4"/>
            </a:solidFill>
            <a:prstDash val="solid"/>
          </a:ln>
        </p:spPr>
      </p:sp>
      <p:sp>
        <p:nvSpPr>
          <p:cNvPr id="10" name="Text 8"/>
          <p:cNvSpPr/>
          <p:nvPr/>
        </p:nvSpPr>
        <p:spPr>
          <a:xfrm>
            <a:off x="822960" y="4892040"/>
            <a:ext cx="4023360" cy="82296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metadata/questions.json</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nội dung + lời giải câu hỏi</a:t>
            </a:r>
            <a:endParaRPr lang="en-US" sz="1150" dirty="0"/>
          </a:p>
        </p:txBody>
      </p:sp>
      <p:sp>
        <p:nvSpPr>
          <p:cNvPr id="11" name="Shape 9"/>
          <p:cNvSpPr/>
          <p:nvPr/>
        </p:nvSpPr>
        <p:spPr>
          <a:xfrm>
            <a:off x="7223760" y="4892040"/>
            <a:ext cx="4206240" cy="822960"/>
          </a:xfrm>
          <a:prstGeom prst="roundRect">
            <a:avLst>
              <a:gd name="adj" fmla="val 7778"/>
            </a:avLst>
          </a:prstGeom>
          <a:solidFill>
            <a:srgbClr val="FCEFF4"/>
          </a:solidFill>
          <a:ln w="19050">
            <a:solidFill>
              <a:srgbClr val="E87BA4"/>
            </a:solidFill>
            <a:prstDash val="solid"/>
          </a:ln>
        </p:spPr>
      </p:sp>
      <p:sp>
        <p:nvSpPr>
          <p:cNvPr id="12" name="Text 10"/>
          <p:cNvSpPr/>
          <p:nvPr/>
        </p:nvSpPr>
        <p:spPr>
          <a:xfrm>
            <a:off x="7315200" y="4892040"/>
            <a:ext cx="4023360" cy="82296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metadata/kc_routes_map.json</a:t>
            </a:r>
            <a:endParaRPr lang="en-US" sz="1150" dirty="0"/>
          </a:p>
          <a:p>
            <a:pPr algn="ctr" indent="0" marL="0">
              <a:lnSpc>
                <a:spcPct val="115000"/>
              </a:lnSpc>
              <a:buNone/>
            </a:pPr>
            <a:r>
              <a:rPr lang="en-US" sz="1000" i="1" dirty="0">
                <a:solidFill>
                  <a:srgbClr val="000000"/>
                </a:solidFill>
                <a:latin typeface="Calibri" pitchFamily="34" charset="0"/>
                <a:ea typeface="Calibri" pitchFamily="34" charset="-122"/>
                <a:cs typeface="Calibri" pitchFamily="34" charset="-120"/>
              </a:rPr>
              <a:t>tên khái niệm (KC)</a:t>
            </a:r>
            <a:endParaRPr lang="en-US" sz="1150" dirty="0"/>
          </a:p>
        </p:txBody>
      </p:sp>
      <p:sp>
        <p:nvSpPr>
          <p:cNvPr id="13" name="Shape 11"/>
          <p:cNvSpPr/>
          <p:nvPr/>
        </p:nvSpPr>
        <p:spPr>
          <a:xfrm>
            <a:off x="4937760" y="2125980"/>
            <a:ext cx="2286000" cy="914"/>
          </a:xfrm>
          <a:prstGeom prst="line">
            <a:avLst/>
          </a:prstGeom>
          <a:noFill/>
          <a:ln w="19050">
            <a:solidFill>
              <a:srgbClr val="E87BA4"/>
            </a:solidFill>
            <a:prstDash val="solid"/>
            <a:headEnd type="none"/>
            <a:tailEnd type="none"/>
          </a:ln>
        </p:spPr>
      </p:sp>
      <p:sp>
        <p:nvSpPr>
          <p:cNvPr id="14" name="Shape 12"/>
          <p:cNvSpPr/>
          <p:nvPr/>
        </p:nvSpPr>
        <p:spPr>
          <a:xfrm>
            <a:off x="5029200" y="1979676"/>
            <a:ext cx="2103120" cy="292608"/>
          </a:xfrm>
          <a:prstGeom prst="roundRect">
            <a:avLst>
              <a:gd name="adj" fmla="val 15625"/>
            </a:avLst>
          </a:prstGeom>
          <a:solidFill>
            <a:srgbClr val="FFFFFF"/>
          </a:solidFill>
          <a:ln w="6350">
            <a:solidFill>
              <a:srgbClr val="E3E7F1"/>
            </a:solidFill>
            <a:prstDash val="solid"/>
          </a:ln>
        </p:spPr>
      </p:sp>
      <p:sp>
        <p:nvSpPr>
          <p:cNvPr id="15" name="Text 13"/>
          <p:cNvSpPr/>
          <p:nvPr/>
        </p:nvSpPr>
        <p:spPr>
          <a:xfrm>
            <a:off x="5029200" y="1979676"/>
            <a:ext cx="210312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cùng dữ liệu thô</a:t>
            </a:r>
            <a:endParaRPr lang="en-US" sz="1000" dirty="0"/>
          </a:p>
        </p:txBody>
      </p:sp>
      <p:sp>
        <p:nvSpPr>
          <p:cNvPr id="16" name="Shape 14"/>
          <p:cNvSpPr/>
          <p:nvPr/>
        </p:nvSpPr>
        <p:spPr>
          <a:xfrm>
            <a:off x="2834640" y="2560320"/>
            <a:ext cx="914" cy="2331720"/>
          </a:xfrm>
          <a:prstGeom prst="line">
            <a:avLst/>
          </a:prstGeom>
          <a:noFill/>
          <a:ln w="19050">
            <a:solidFill>
              <a:srgbClr val="E87BA4"/>
            </a:solidFill>
            <a:prstDash val="solid"/>
            <a:headEnd type="none"/>
            <a:tailEnd type="triangle"/>
          </a:ln>
        </p:spPr>
      </p:sp>
      <p:sp>
        <p:nvSpPr>
          <p:cNvPr id="17" name="Shape 15"/>
          <p:cNvSpPr/>
          <p:nvPr/>
        </p:nvSpPr>
        <p:spPr>
          <a:xfrm>
            <a:off x="2103120" y="3579876"/>
            <a:ext cx="1463040" cy="292608"/>
          </a:xfrm>
          <a:prstGeom prst="roundRect">
            <a:avLst>
              <a:gd name="adj" fmla="val 15625"/>
            </a:avLst>
          </a:prstGeom>
          <a:solidFill>
            <a:srgbClr val="FFFFFF"/>
          </a:solidFill>
          <a:ln w="6350">
            <a:solidFill>
              <a:srgbClr val="E3E7F1"/>
            </a:solidFill>
            <a:prstDash val="solid"/>
          </a:ln>
        </p:spPr>
      </p:sp>
      <p:sp>
        <p:nvSpPr>
          <p:cNvPr id="18" name="Text 16"/>
          <p:cNvSpPr/>
          <p:nvPr/>
        </p:nvSpPr>
        <p:spPr>
          <a:xfrm>
            <a:off x="2103120" y="3579876"/>
            <a:ext cx="146304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questions id</a:t>
            </a:r>
            <a:endParaRPr lang="en-US" sz="1000" dirty="0"/>
          </a:p>
        </p:txBody>
      </p:sp>
      <p:sp>
        <p:nvSpPr>
          <p:cNvPr id="19" name="Shape 17"/>
          <p:cNvSpPr/>
          <p:nvPr/>
        </p:nvSpPr>
        <p:spPr>
          <a:xfrm>
            <a:off x="9326880" y="2560320"/>
            <a:ext cx="914" cy="2331720"/>
          </a:xfrm>
          <a:prstGeom prst="line">
            <a:avLst/>
          </a:prstGeom>
          <a:noFill/>
          <a:ln w="19050">
            <a:solidFill>
              <a:srgbClr val="E87BA4"/>
            </a:solidFill>
            <a:prstDash val="solid"/>
            <a:headEnd type="none"/>
            <a:tailEnd type="triangle"/>
          </a:ln>
        </p:spPr>
      </p:sp>
      <p:sp>
        <p:nvSpPr>
          <p:cNvPr id="20" name="Shape 18"/>
          <p:cNvSpPr/>
          <p:nvPr/>
        </p:nvSpPr>
        <p:spPr>
          <a:xfrm>
            <a:off x="8595360" y="3579876"/>
            <a:ext cx="1463040" cy="292608"/>
          </a:xfrm>
          <a:prstGeom prst="roundRect">
            <a:avLst>
              <a:gd name="adj" fmla="val 15625"/>
            </a:avLst>
          </a:prstGeom>
          <a:solidFill>
            <a:srgbClr val="FFFFFF"/>
          </a:solidFill>
          <a:ln w="6350">
            <a:solidFill>
              <a:srgbClr val="E3E7F1"/>
            </a:solidFill>
            <a:prstDash val="solid"/>
          </a:ln>
        </p:spPr>
      </p:sp>
      <p:sp>
        <p:nvSpPr>
          <p:cNvPr id="21" name="Text 19"/>
          <p:cNvSpPr/>
          <p:nvPr/>
        </p:nvSpPr>
        <p:spPr>
          <a:xfrm>
            <a:off x="8595360" y="3579876"/>
            <a:ext cx="1463040" cy="292608"/>
          </a:xfrm>
          <a:prstGeom prst="rect">
            <a:avLst/>
          </a:prstGeom>
          <a:noFill/>
          <a:ln/>
        </p:spPr>
        <p:txBody>
          <a:bodyPr wrap="square" lIns="0" tIns="0" rIns="0" bIns="0" rtlCol="0" anchor="ctr"/>
          <a:lstStyle/>
          <a:p>
            <a:pPr algn="ctr" indent="0" marL="0">
              <a:buNone/>
            </a:pPr>
            <a:r>
              <a:rPr lang="en-US" sz="1000" dirty="0">
                <a:solidFill>
                  <a:srgbClr val="000000"/>
                </a:solidFill>
                <a:latin typeface="Calibri" pitchFamily="34" charset="0"/>
                <a:ea typeface="Calibri" pitchFamily="34" charset="-122"/>
                <a:cs typeface="Calibri" pitchFamily="34" charset="-120"/>
              </a:rPr>
              <a:t>concepts id</a:t>
            </a:r>
            <a:endParaRPr lang="en-US" sz="1000" dirty="0"/>
          </a:p>
        </p:txBody>
      </p:sp>
      <p:sp>
        <p:nvSpPr>
          <p:cNvPr id="22" name="Text 2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sơ đồ liên kết file</a:t>
            </a:r>
            <a:endParaRPr lang="en-US" sz="1000" dirty="0"/>
          </a:p>
        </p:txBody>
      </p:sp>
      <p:sp>
        <p:nvSpPr>
          <p:cNvPr id="23" name="Text 2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57</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99032" cy="384048"/>
          </a:xfrm>
          <a:prstGeom prst="roundRect">
            <a:avLst>
              <a:gd name="adj" fmla="val 19048"/>
            </a:avLst>
          </a:prstGeom>
          <a:solidFill>
            <a:srgbClr val="E87BA4"/>
          </a:solidFill>
          <a:ln/>
        </p:spPr>
      </p:sp>
      <p:sp>
        <p:nvSpPr>
          <p:cNvPr id="3" name="Text 1"/>
          <p:cNvSpPr/>
          <p:nvPr/>
        </p:nvSpPr>
        <p:spPr>
          <a:xfrm>
            <a:off x="548640" y="384048"/>
            <a:ext cx="1399032"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xes3g5m</a:t>
            </a:r>
            <a:endParaRPr lang="en-US" sz="1300" dirty="0"/>
          </a:p>
        </p:txBody>
      </p:sp>
      <p:sp>
        <p:nvSpPr>
          <p:cNvPr id="4" name="Text 2"/>
          <p:cNvSpPr/>
          <p:nvPr/>
        </p:nvSpPr>
        <p:spPr>
          <a:xfrm>
            <a:off x="2176272" y="310896"/>
            <a:ext cx="5138928"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question_level/train_valid_sequences_quelevel.csv</a:t>
            </a:r>
            <a:endParaRPr lang="en-US" sz="15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1/4 của XES3G5M · 7 cột · 145.9 MB · Nguồn: mục 6.1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4023360"/>
        </p:xfrm>
        <a:graphic>
          <a:graphicData uri="http://schemas.openxmlformats.org/drawingml/2006/table">
            <a:tbl>
              <a:tblPr/>
              <a:tblGrid>
                <a:gridCol w="6876837"/>
                <a:gridCol w="2107418"/>
                <a:gridCol w="2107418"/>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fold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hiệu fold (chia train/valid; -1=test)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uid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11066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11066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questions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mã câu hỏi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3751,3752,3753,3754,1990,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1927,2125,2127,2128,2130,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concepts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mã khái niệm (KC)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187,187,374,187,374,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468,78,78,78,78,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responses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đúng/sai (0/1)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1,1,1,0,1,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1,1,1,1,1,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timestamps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mốc thời gian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1595229836000,1595233013000,1595233687000,1595236010000,1595314541000,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1611827809000,1611829702000,1611832165000,1611832562000,1611833061000,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selectmasks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cờ đánh dấu vị trí hợp lệ để tính loss</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1,1,1,1,1,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1,1,1,1,1,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question_level/train_valid_sequences_quelevel.csv</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58</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99032" cy="384048"/>
          </a:xfrm>
          <a:prstGeom prst="roundRect">
            <a:avLst>
              <a:gd name="adj" fmla="val 19048"/>
            </a:avLst>
          </a:prstGeom>
          <a:solidFill>
            <a:srgbClr val="E87BA4"/>
          </a:solidFill>
          <a:ln/>
        </p:spPr>
      </p:sp>
      <p:sp>
        <p:nvSpPr>
          <p:cNvPr id="3" name="Text 1"/>
          <p:cNvSpPr/>
          <p:nvPr/>
        </p:nvSpPr>
        <p:spPr>
          <a:xfrm>
            <a:off x="548640" y="384048"/>
            <a:ext cx="1399032"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xes3g5m</a:t>
            </a:r>
            <a:endParaRPr lang="en-US" sz="1300" dirty="0"/>
          </a:p>
        </p:txBody>
      </p:sp>
      <p:sp>
        <p:nvSpPr>
          <p:cNvPr id="4" name="Text 2"/>
          <p:cNvSpPr/>
          <p:nvPr/>
        </p:nvSpPr>
        <p:spPr>
          <a:xfrm>
            <a:off x="2176272" y="310896"/>
            <a:ext cx="5138928" cy="457200"/>
          </a:xfrm>
          <a:prstGeom prst="rect">
            <a:avLst/>
          </a:prstGeom>
          <a:noFill/>
          <a:ln/>
        </p:spPr>
        <p:txBody>
          <a:bodyPr wrap="square" lIns="0" tIns="0" rIns="0" bIns="0" rtlCol="0" anchor="ctr"/>
          <a:lstStyle/>
          <a:p>
            <a:pPr indent="0" marL="0">
              <a:buNone/>
            </a:pPr>
            <a:r>
              <a:rPr lang="en-US" sz="1500" b="1" dirty="0">
                <a:solidFill>
                  <a:srgbClr val="000000"/>
                </a:solidFill>
                <a:latin typeface="Cambria" pitchFamily="34" charset="0"/>
                <a:ea typeface="Cambria" pitchFamily="34" charset="-122"/>
                <a:cs typeface="Cambria" pitchFamily="34" charset="-120"/>
              </a:rPr>
              <a:t>kc_level/train_valid_sequences.csv</a:t>
            </a:r>
            <a:endParaRPr lang="en-US" sz="15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2/4 của XES3G5M · 8 cột · 173.6 MB · Nguồn: mục 6.1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5417820" cy="2514600"/>
        </p:xfrm>
        <a:graphic>
          <a:graphicData uri="http://schemas.openxmlformats.org/drawingml/2006/table">
            <a:tbl>
              <a:tblPr/>
              <a:tblGrid>
                <a:gridCol w="3359048"/>
                <a:gridCol w="1029386"/>
                <a:gridCol w="1029386"/>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fold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số hiệu fold (chia train/valid; -1=test)</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học sinh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11066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11066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questions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mã câu hỏi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3751,3752,3753,3754,1990,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95,4294,4294,4300,4300,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concepts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mã khái niệm (KC)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187,187,374,187,374,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63,64,102,659,376,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graphicFrame>
        <p:nvGraphicFramePr>
          <p:cNvPr id="119" name="Table 1"/>
          <p:cNvGraphicFramePr>
            <a:graphicFrameLocks noGrp="1"/>
          </p:cNvGraphicFramePr>
          <p:nvPr>
            <p:extLst>
              <p:ext uri="{D42A27DB-BD31-4B8C-83A1-F6EECF244321}">
                <p14:modId xmlns:p14="http://schemas.microsoft.com/office/powerpoint/2010/main" val="1579011935"/>
              </p:ext>
            </p:extLst>
          </p:nvPr>
        </p:nvGraphicFramePr>
        <p:xfrm>
          <a:off x="6222492" y="1298448"/>
          <a:ext cx="5417820" cy="2514600"/>
        </p:xfrm>
        <a:graphic>
          <a:graphicData uri="http://schemas.openxmlformats.org/drawingml/2006/table">
            <a:tbl>
              <a:tblPr/>
              <a:tblGrid>
                <a:gridCol w="3359048"/>
                <a:gridCol w="1029386"/>
                <a:gridCol w="1029386"/>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responses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đúng/sai (0/1)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1,1,1,0,1,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0,1,1,1,1,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timestamps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danh sách mốc thời gian trong chuỗi</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1595229836000,1595233013000,1595233687000,1595236010000,1595314541000,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1608890160000,1608892236000,1608892236000,1608895627000,1608895627000,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selectmasks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cờ đánh dấu vị trí hợp lệ để tính loss</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1,1,1,1,1,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1,1,1,1,1,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is_repeat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Luyện tập giãn cách</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0,0,0,0,0,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0,0,1,0,1, … (tổng 200 phần tử)</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bl>
          </a:graphicData>
        </a:graphic>
      </p:graphicFrame>
      <p:sp>
        <p:nvSpPr>
          <p:cNvPr id="14"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kc_level/train_valid_sequences.csv</a:t>
            </a:r>
            <a:endParaRPr lang="en-US" sz="1000" dirty="0"/>
          </a:p>
        </p:txBody>
      </p:sp>
      <p:sp>
        <p:nvSpPr>
          <p:cNvPr id="15"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99032" cy="384048"/>
          </a:xfrm>
          <a:prstGeom prst="roundRect">
            <a:avLst>
              <a:gd name="adj" fmla="val 19048"/>
            </a:avLst>
          </a:prstGeom>
          <a:solidFill>
            <a:srgbClr val="E87BA4"/>
          </a:solidFill>
          <a:ln/>
        </p:spPr>
      </p:sp>
      <p:sp>
        <p:nvSpPr>
          <p:cNvPr id="3" name="Text 1"/>
          <p:cNvSpPr/>
          <p:nvPr/>
        </p:nvSpPr>
        <p:spPr>
          <a:xfrm>
            <a:off x="548640" y="384048"/>
            <a:ext cx="1399032"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xes3g5m</a:t>
            </a:r>
            <a:endParaRPr lang="en-US" sz="1300" dirty="0"/>
          </a:p>
        </p:txBody>
      </p:sp>
      <p:sp>
        <p:nvSpPr>
          <p:cNvPr id="4" name="Text 2"/>
          <p:cNvSpPr/>
          <p:nvPr/>
        </p:nvSpPr>
        <p:spPr>
          <a:xfrm>
            <a:off x="2176272" y="310896"/>
            <a:ext cx="5138928"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metadata/questions.json</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3/4 của XES3G5M · 6 cột · 7.4 MB · JSON · Nguồn: mục 6.2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3520440"/>
        </p:xfrm>
        <a:graphic>
          <a:graphicData uri="http://schemas.openxmlformats.org/drawingml/2006/table">
            <a:tbl>
              <a:tblPr/>
              <a:tblGrid>
                <a:gridCol w="8207837"/>
                <a:gridCol w="2883835"/>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content</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Question Semantic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书架上有 $$2$$ 本不同的英语书，$$4$$ 本不同的语文书，$$3$$ 本不同的数学书． 现在要从中取出$$2$$ 本，而且不能是同一科的，一共有种不同取法．</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kc_routes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Knowledge Graph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拓展思维----计数模块----加乘原理----加乘原理综合, 拓展思维----计数模块----加乘原理----乘法原理----物品搭配</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answer</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đáp án</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$$26$$</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analysis</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Question Semantic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先分成三类：情况 $$1$$：取的是英语和语文书时有：$$2\times 4=8$$（种）；情况$$2$$：取的是英语和数学书时有：$$2\times 3=6$$（种）；情况 $$3$$：取的是语文和数学书时有：$$3\times 4=12$$（种）；所以一共有$$8+6+12=26$$（种）取法．</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type</a:t>
                      </a:r>
                      <a:endParaRPr lang="en-US" sz="1200" dirty="0">
                        <a:latin typeface="Calibri" charset="0"/>
                        <a:ea typeface="Calibri" charset="0"/>
                        <a:cs typeface="Calibri" charset="0"/>
                      </a:endParaRPr>
                    </a:p>
                    <a:p>
                      <a:pPr indent="0" marL="0">
                        <a:buNone/>
                      </a:pPr>
                      <a:r>
                        <a:rPr lang="en-US" sz="1000" b="1" dirty="0">
                          <a:solidFill>
                            <a:srgbClr val="000000"/>
                          </a:solidFill>
                          <a:latin typeface="Calibri" pitchFamily="34" charset="0"/>
                          <a:ea typeface="Calibri" pitchFamily="34" charset="-122"/>
                          <a:cs typeface="Calibri" pitchFamily="34" charset="-120"/>
                        </a:rPr>
                        <a:t>→ Ngữ cảnh bổ sung</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填空</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BE8B8"/>
                    </a:solidFill>
                  </a:tcPr>
                </a:tc>
              </a:tr>
              <a:tr h="502920">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options</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các lựa chọn (nếu trắc nghiệm)</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metadata/questions.json</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60</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99032" cy="384048"/>
          </a:xfrm>
          <a:prstGeom prst="roundRect">
            <a:avLst>
              <a:gd name="adj" fmla="val 19048"/>
            </a:avLst>
          </a:prstGeom>
          <a:solidFill>
            <a:srgbClr val="E87BA4"/>
          </a:solidFill>
          <a:ln/>
        </p:spPr>
      </p:sp>
      <p:sp>
        <p:nvSpPr>
          <p:cNvPr id="3" name="Text 1"/>
          <p:cNvSpPr/>
          <p:nvPr/>
        </p:nvSpPr>
        <p:spPr>
          <a:xfrm>
            <a:off x="548640" y="384048"/>
            <a:ext cx="1399032"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xes3g5m</a:t>
            </a:r>
            <a:endParaRPr lang="en-US" sz="1300" dirty="0"/>
          </a:p>
        </p:txBody>
      </p:sp>
      <p:sp>
        <p:nvSpPr>
          <p:cNvPr id="4" name="Text 2"/>
          <p:cNvSpPr/>
          <p:nvPr/>
        </p:nvSpPr>
        <p:spPr>
          <a:xfrm>
            <a:off x="2176272" y="310896"/>
            <a:ext cx="5138928"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metadata/kc_routes_map.json</a:t>
            </a:r>
            <a:endParaRPr lang="en-US" sz="1900" dirty="0"/>
          </a:p>
        </p:txBody>
      </p:sp>
      <p:sp>
        <p:nvSpPr>
          <p:cNvPr id="5" name="Text 3"/>
          <p:cNvSpPr/>
          <p:nvPr/>
        </p:nvSpPr>
        <p:spPr>
          <a:xfrm>
            <a:off x="548640" y="859536"/>
            <a:ext cx="67665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File 4/4 của XES3G5M · 2 cột · 0.1 MB · JSON · Nguồn: mục 6.2 notebook</a:t>
            </a:r>
            <a:endParaRPr lang="en-US" sz="1050" dirty="0"/>
          </a:p>
        </p:txBody>
      </p:sp>
      <p:sp>
        <p:nvSpPr>
          <p:cNvPr id="6" name="Shape 4"/>
          <p:cNvSpPr/>
          <p:nvPr/>
        </p:nvSpPr>
        <p:spPr>
          <a:xfrm>
            <a:off x="7452360" y="237744"/>
            <a:ext cx="146304" cy="146304"/>
          </a:xfrm>
          <a:prstGeom prst="roundRect">
            <a:avLst>
              <a:gd name="adj" fmla="val 18750"/>
            </a:avLst>
          </a:prstGeom>
          <a:solidFill>
            <a:srgbClr val="D7F0E1"/>
          </a:solidFill>
          <a:ln w="9525">
            <a:solidFill>
              <a:srgbClr val="1BAF7A"/>
            </a:solidFill>
            <a:prstDash val="solid"/>
          </a:ln>
        </p:spPr>
      </p:sp>
      <p:sp>
        <p:nvSpPr>
          <p:cNvPr id="7" name="Text 5"/>
          <p:cNvSpPr/>
          <p:nvPr/>
        </p:nvSpPr>
        <p:spPr>
          <a:xfrm>
            <a:off x="7653528" y="182880"/>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cột LÕI cho DPA-KT (short_paper_final.pdf, Mục IV)</a:t>
            </a:r>
            <a:endParaRPr lang="en-US" sz="1000" dirty="0"/>
          </a:p>
        </p:txBody>
      </p:sp>
      <p:sp>
        <p:nvSpPr>
          <p:cNvPr id="8" name="Shape 6"/>
          <p:cNvSpPr/>
          <p:nvPr/>
        </p:nvSpPr>
        <p:spPr>
          <a:xfrm>
            <a:off x="7452360" y="530352"/>
            <a:ext cx="146304" cy="146304"/>
          </a:xfrm>
          <a:prstGeom prst="roundRect">
            <a:avLst>
              <a:gd name="adj" fmla="val 18750"/>
            </a:avLst>
          </a:prstGeom>
          <a:solidFill>
            <a:srgbClr val="FBE8B8"/>
          </a:solidFill>
          <a:ln w="9525">
            <a:solidFill>
              <a:srgbClr val="C9891A"/>
            </a:solidFill>
            <a:prstDash val="solid"/>
          </a:ln>
        </p:spPr>
      </p:sp>
      <p:sp>
        <p:nvSpPr>
          <p:cNvPr id="9" name="Text 7"/>
          <p:cNvSpPr/>
          <p:nvPr/>
        </p:nvSpPr>
        <p:spPr>
          <a:xfrm>
            <a:off x="7653528" y="475488"/>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Khuyến nghị - nên thêm để làm giàu tín hiệu</a:t>
            </a:r>
            <a:endParaRPr lang="en-US" sz="1000" dirty="0"/>
          </a:p>
        </p:txBody>
      </p:sp>
      <p:sp>
        <p:nvSpPr>
          <p:cNvPr id="10" name="Shape 8"/>
          <p:cNvSpPr/>
          <p:nvPr/>
        </p:nvSpPr>
        <p:spPr>
          <a:xfrm>
            <a:off x="7452360" y="822960"/>
            <a:ext cx="146304" cy="146304"/>
          </a:xfrm>
          <a:prstGeom prst="roundRect">
            <a:avLst>
              <a:gd name="adj" fmla="val 18750"/>
            </a:avLst>
          </a:prstGeom>
          <a:solidFill>
            <a:srgbClr val="F5F7FC"/>
          </a:solidFill>
          <a:ln w="9525">
            <a:solidFill>
              <a:srgbClr val="E3E7F1"/>
            </a:solidFill>
            <a:prstDash val="solid"/>
          </a:ln>
        </p:spPr>
      </p:sp>
      <p:sp>
        <p:nvSpPr>
          <p:cNvPr id="11" name="Text 9"/>
          <p:cNvSpPr/>
          <p:nvPr/>
        </p:nvSpPr>
        <p:spPr>
          <a:xfrm>
            <a:off x="7653528" y="768096"/>
            <a:ext cx="4160520" cy="256032"/>
          </a:xfrm>
          <a:prstGeom prst="rect">
            <a:avLst/>
          </a:prstGeom>
          <a:noFill/>
          <a:ln/>
        </p:spPr>
        <p:txBody>
          <a:bodyPr wrap="square" lIns="0" tIns="0" rIns="0" bIns="0" rtlCol="0" anchor="ctr"/>
          <a:lstStyle/>
          <a:p>
            <a:pPr indent="0" marL="0">
              <a:buNone/>
            </a:pPr>
            <a:r>
              <a:rPr lang="en-US" sz="1000" dirty="0">
                <a:solidFill>
                  <a:srgbClr val="000000"/>
                </a:solidFill>
                <a:latin typeface="Calibri" pitchFamily="34" charset="0"/>
                <a:ea typeface="Calibri" pitchFamily="34" charset="-122"/>
                <a:cs typeface="Calibri" pitchFamily="34" charset="-120"/>
              </a:rPr>
              <a:t>Không cần cho kiến trúc DPA-KT hiện tại</a:t>
            </a:r>
            <a:endParaRPr lang="en-US" sz="1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548640" y="1298448"/>
          <a:ext cx="11091672" cy="1508760"/>
        </p:xfrm>
        <a:graphic>
          <a:graphicData uri="http://schemas.openxmlformats.org/drawingml/2006/table">
            <a:tbl>
              <a:tblPr/>
              <a:tblGrid>
                <a:gridCol w="6211336"/>
                <a:gridCol w="1627148"/>
                <a:gridCol w="1627148"/>
                <a:gridCol w="1626039"/>
              </a:tblGrid>
              <a:tr h="502920">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key (concept id)</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mã 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0</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0292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value (tên khái niệm)</a:t>
                      </a:r>
                      <a:endParaRPr lang="en-US" sz="1200" dirty="0">
                        <a:latin typeface="Calibri" charset="0"/>
                        <a:ea typeface="Calibri" charset="0"/>
                        <a:cs typeface="Calibri" charset="0"/>
                      </a:endParaRPr>
                    </a:p>
                    <a:p>
                      <a:pPr indent="0" marL="0">
                        <a:buNone/>
                      </a:pPr>
                      <a:r>
                        <a:rPr lang="en-US" sz="1000" i="1" dirty="0">
                          <a:solidFill>
                            <a:srgbClr val="000000"/>
                          </a:solidFill>
                          <a:latin typeface="Calibri" pitchFamily="34" charset="0"/>
                          <a:ea typeface="Calibri" pitchFamily="34" charset="-122"/>
                          <a:cs typeface="Calibri" pitchFamily="34" charset="-120"/>
                        </a:rPr>
                        <a:t>tên khái niệm (KC)</a:t>
                      </a:r>
                      <a:endParaRPr lang="en-US" sz="12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乘法原理里的其他类型</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加乘原理综合</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物品搭配</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metadata/kc_routes_map.json</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61</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99032" cy="384048"/>
          </a:xfrm>
          <a:prstGeom prst="roundRect">
            <a:avLst>
              <a:gd name="adj" fmla="val 19048"/>
            </a:avLst>
          </a:prstGeom>
          <a:solidFill>
            <a:srgbClr val="E87BA4"/>
          </a:solidFill>
          <a:ln/>
        </p:spPr>
      </p:sp>
      <p:sp>
        <p:nvSpPr>
          <p:cNvPr id="3" name="Text 1"/>
          <p:cNvSpPr/>
          <p:nvPr/>
        </p:nvSpPr>
        <p:spPr>
          <a:xfrm>
            <a:off x="548640" y="384048"/>
            <a:ext cx="1399032" cy="384048"/>
          </a:xfrm>
          <a:prstGeom prst="rect">
            <a:avLst/>
          </a:prstGeom>
          <a:noFill/>
          <a:ln/>
        </p:spPr>
        <p:txBody>
          <a:bodyPr wrap="square" lIns="0" tIns="0" rIns="0" bIns="0" rtlCol="0" anchor="ctr"/>
          <a:lstStyle/>
          <a:p>
            <a:pPr algn="ctr" indent="0" marL="0">
              <a:buNone/>
            </a:pPr>
            <a:r>
              <a:rPr lang="en-US" sz="1300" b="1" dirty="0">
                <a:solidFill>
                  <a:srgbClr val="000000"/>
                </a:solidFill>
                <a:latin typeface="Calibri" pitchFamily="34" charset="0"/>
                <a:ea typeface="Calibri" pitchFamily="34" charset="-122"/>
                <a:cs typeface="Calibri" pitchFamily="34" charset="-120"/>
              </a:rPr>
              <a:t>xes3g5m</a:t>
            </a:r>
            <a:endParaRPr lang="en-US" sz="1300" dirty="0"/>
          </a:p>
        </p:txBody>
      </p:sp>
      <p:sp>
        <p:nvSpPr>
          <p:cNvPr id="4" name="Text 2"/>
          <p:cNvSpPr/>
          <p:nvPr/>
        </p:nvSpPr>
        <p:spPr>
          <a:xfrm>
            <a:off x="2176272" y="310896"/>
            <a:ext cx="8686800" cy="457200"/>
          </a:xfrm>
          <a:prstGeom prst="rect">
            <a:avLst/>
          </a:prstGeom>
          <a:noFill/>
          <a:ln/>
        </p:spPr>
        <p:txBody>
          <a:bodyPr wrap="square" lIns="0" tIns="0" rIns="0" bIns="0" rtlCol="0" anchor="ctr"/>
          <a:lstStyle/>
          <a:p>
            <a:pPr indent="0" marL="0">
              <a:buNone/>
            </a:pPr>
            <a:r>
              <a:rPr lang="en-US" sz="1900" b="1" dirty="0">
                <a:solidFill>
                  <a:srgbClr val="000000"/>
                </a:solidFill>
                <a:latin typeface="Cambria" pitchFamily="34" charset="0"/>
                <a:ea typeface="Cambria" pitchFamily="34" charset="-122"/>
                <a:cs typeface="Cambria" pitchFamily="34" charset="-120"/>
              </a:rPr>
              <a:t>Vì sao các cột này được chọn cho DPA-KT</a:t>
            </a:r>
            <a:endParaRPr lang="en-US" sz="1900" dirty="0"/>
          </a:p>
        </p:txBody>
      </p:sp>
      <p:sp>
        <p:nvSpPr>
          <p:cNvPr id="5" name="Text 3"/>
          <p:cNvSpPr/>
          <p:nvPr/>
        </p:nvSpPr>
        <p:spPr>
          <a:xfrm>
            <a:off x="548640" y="859536"/>
            <a:ext cx="10881360" cy="274320"/>
          </a:xfrm>
          <a:prstGeom prst="rect">
            <a:avLst/>
          </a:prstGeom>
          <a:noFill/>
          <a:ln/>
        </p:spPr>
        <p:txBody>
          <a:bodyPr wrap="square" lIns="0" tIns="0" rIns="0" bIns="0" rtlCol="0" anchor="ctr"/>
          <a:lstStyle/>
          <a:p>
            <a:pPr indent="0" marL="0">
              <a:buNone/>
            </a:pPr>
            <a:r>
              <a:rPr lang="en-US" sz="1050" dirty="0">
                <a:solidFill>
                  <a:srgbClr val="000000"/>
                </a:solidFill>
                <a:latin typeface="Calibri" pitchFamily="34" charset="0"/>
                <a:ea typeface="Calibri" pitchFamily="34" charset="-122"/>
                <a:cs typeface="Calibri" pitchFamily="34" charset="-120"/>
              </a:rPr>
              <a:t>XES3G5M  ·  Dựa trên kiến trúc short_paper_final.pdf, Mục IV</a:t>
            </a:r>
            <a:endParaRPr lang="en-US" sz="1050" dirty="0"/>
          </a:p>
        </p:txBody>
      </p:sp>
      <p:sp>
        <p:nvSpPr>
          <p:cNvPr id="6" name="Text 4"/>
          <p:cNvSpPr/>
          <p:nvPr/>
        </p:nvSpPr>
        <p:spPr>
          <a:xfrm>
            <a:off x="548640" y="1298448"/>
            <a:ext cx="4206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5 TRƯỜNG LÕI  ·  Module 1 + định nghĩa bài toán</a:t>
            </a:r>
            <a:endParaRPr lang="en-US" sz="1100" dirty="0"/>
          </a:p>
        </p:txBody>
      </p:sp>
      <p:sp>
        <p:nvSpPr>
          <p:cNvPr id="7" name="Text 5"/>
          <p:cNvSpPr/>
          <p:nvPr/>
        </p:nvSpPr>
        <p:spPr>
          <a:xfrm>
            <a:off x="548640" y="1609344"/>
            <a:ext cx="4206240" cy="1051560"/>
          </a:xfrm>
          <a:prstGeom prst="rect">
            <a:avLst/>
          </a:prstGeom>
          <a:noFill/>
          <a:ln/>
        </p:spPr>
        <p:txBody>
          <a:bodyPr wrap="square" lIns="0" tIns="0" rIns="0" bIns="0" rtlCol="0" anchor="ctr"/>
          <a:lstStyle/>
          <a:p>
            <a:pPr indent="0" marL="0">
              <a:lnSpc>
                <a:spcPct val="115000"/>
              </a:lnSpc>
              <a:buNone/>
            </a:pPr>
            <a:r>
              <a:rPr lang="en-US" sz="1050" i="1" dirty="0">
                <a:solidFill>
                  <a:srgbClr val="000000"/>
                </a:solidFill>
                <a:latin typeface="Calibri" pitchFamily="34" charset="0"/>
                <a:ea typeface="Calibri" pitchFamily="34" charset="-122"/>
                <a:cs typeface="Calibri" pitchFamily="34" charset="-120"/>
              </a:rPr>
              <a:t>Mọi kiến trúc KT (kể cả DPA-KT) cần tối thiểu chuỗi tương tác S_T = {(q_t, r_t)} và tập KC C: input bắt buộc cho "interaction context" ở Module 1, và để đọc/ghi đúng KC trong mastery memory M ở Module 1 &amp; 3.</a:t>
            </a:r>
            <a:endParaRPr lang="en-US" sz="105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48640" y="2706624"/>
          <a:ext cx="4206240" cy="2743200"/>
        </p:xfrm>
        <a:graphic>
          <a:graphicData uri="http://schemas.openxmlformats.org/drawingml/2006/table">
            <a:tbl>
              <a:tblPr/>
              <a:tblGrid>
                <a:gridCol w="1682496"/>
                <a:gridCol w="2523744"/>
              </a:tblGrid>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Học sinh (student)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uid</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Câu hỏi (q_t)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questions</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Khái niệm (KC, tập 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concepts (tên đầy đủ ở kc_routes_map.json)</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Đúng/sai (r_t)</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responses</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48640">
                <a:tc>
                  <a:txBody>
                    <a:bodyPr/>
                    <a:lstStyle/>
                    <a:p>
                      <a:pPr indent="0" marL="0">
                        <a:buNone/>
                      </a:pPr>
                      <a:r>
                        <a:rPr lang="en-US" sz="1000" b="1" dirty="0">
                          <a:solidFill>
                            <a:srgbClr val="000000"/>
                          </a:solidFill>
                          <a:latin typeface="Calibri" pitchFamily="34" charset="0"/>
                          <a:ea typeface="Calibri" pitchFamily="34" charset="-122"/>
                          <a:cs typeface="Calibri" pitchFamily="34" charset="-120"/>
                        </a:rPr>
                        <a:t>Thời gian / thứ tự</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timestamps (thời gian thực)</a:t>
                      </a:r>
                      <a:endParaRPr lang="en-US" sz="1000" dirty="0">
                        <a:latin typeface="Calibri" charset="0"/>
                        <a:ea typeface="Calibri" charset="0"/>
                        <a:cs typeface="Calibri" charset="0"/>
                      </a:endParaRPr>
                    </a:p>
                  </a:txBody>
                  <a:tcPr marL="63500" marR="635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D7F0E1"/>
                    </a:solidFill>
                  </a:tcPr>
                </a:tc>
              </a:tr>
            </a:tbl>
          </a:graphicData>
        </a:graphic>
      </p:graphicFrame>
      <p:sp>
        <p:nvSpPr>
          <p:cNvPr id="9" name="Text 6"/>
          <p:cNvSpPr/>
          <p:nvPr/>
        </p:nvSpPr>
        <p:spPr>
          <a:xfrm>
            <a:off x="548640" y="5586984"/>
            <a:ext cx="4206240" cy="365760"/>
          </a:xfrm>
          <a:prstGeom prst="rect">
            <a:avLst/>
          </a:prstGeom>
          <a:noFill/>
          <a:ln/>
        </p:spPr>
        <p:txBody>
          <a:bodyPr wrap="square" lIns="0" tIns="0" rIns="0" bIns="0" rtlCol="0" anchor="ctr"/>
          <a:lstStyle/>
          <a:p>
            <a:pPr indent="0" marL="0">
              <a:lnSpc>
                <a:spcPct val="110000"/>
              </a:lnSpc>
              <a:buNone/>
            </a:pPr>
            <a:r>
              <a:rPr lang="en-US" sz="1000" i="1" dirty="0">
                <a:solidFill>
                  <a:srgbClr val="000000"/>
                </a:solidFill>
                <a:latin typeface="Calibri" pitchFamily="34" charset="0"/>
                <a:ea typeface="Calibri" pitchFamily="34" charset="-122"/>
                <a:cs typeface="Calibri" pitchFamily="34" charset="-120"/>
              </a:rPr>
              <a:t>Nguồn: mục 6.1 &amp; 6.2 notebook (đúng các cột dùng để tính thống kê/vẽ biểu đồ).</a:t>
            </a:r>
            <a:endParaRPr lang="en-US" sz="1000" dirty="0"/>
          </a:p>
        </p:txBody>
      </p:sp>
      <p:sp>
        <p:nvSpPr>
          <p:cNvPr id="10" name="Text 7"/>
          <p:cNvSpPr/>
          <p:nvPr/>
        </p:nvSpPr>
        <p:spPr>
          <a:xfrm>
            <a:off x="5029200" y="1298448"/>
            <a:ext cx="6611112"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CỘT KHUYẾN NGHỊ THÊM  ·  nguyên lý/module tương ứng trong DPA-KT</a:t>
            </a:r>
            <a:endParaRPr lang="en-US" sz="1100" dirty="0"/>
          </a:p>
        </p:txBody>
      </p:sp>
      <p:sp>
        <p:nvSpPr>
          <p:cNvPr id="11" name="Shape 8"/>
          <p:cNvSpPr/>
          <p:nvPr/>
        </p:nvSpPr>
        <p:spPr>
          <a:xfrm>
            <a:off x="5029200" y="1627632"/>
            <a:ext cx="3232404" cy="1325880"/>
          </a:xfrm>
          <a:prstGeom prst="roundRect">
            <a:avLst>
              <a:gd name="adj" fmla="val 3448"/>
            </a:avLst>
          </a:prstGeom>
          <a:solidFill>
            <a:srgbClr val="FBE8B8"/>
          </a:solidFill>
          <a:ln w="9525">
            <a:solidFill>
              <a:srgbClr val="C9891A"/>
            </a:solidFill>
            <a:prstDash val="solid"/>
          </a:ln>
        </p:spPr>
      </p:sp>
      <p:sp>
        <p:nvSpPr>
          <p:cNvPr id="12" name="Text 9"/>
          <p:cNvSpPr/>
          <p:nvPr/>
        </p:nvSpPr>
        <p:spPr>
          <a:xfrm>
            <a:off x="5175504" y="1719072"/>
            <a:ext cx="2939796" cy="1143000"/>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Luyện tập giãn cách</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Liên quan operator same-KC pooling ở Module 2 (pool mọi tương tác cùng 1 KC) - số lần luyện lại ảnh hưởng trực tiếp tới nội dung pattern loại này.</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is_repeat</a:t>
            </a:r>
            <a:endParaRPr lang="en-US" sz="1200" dirty="0"/>
          </a:p>
        </p:txBody>
      </p:sp>
      <p:sp>
        <p:nvSpPr>
          <p:cNvPr id="13" name="Shape 10"/>
          <p:cNvSpPr/>
          <p:nvPr/>
        </p:nvSpPr>
        <p:spPr>
          <a:xfrm>
            <a:off x="8407908" y="1627632"/>
            <a:ext cx="3232404" cy="1325880"/>
          </a:xfrm>
          <a:prstGeom prst="roundRect">
            <a:avLst>
              <a:gd name="adj" fmla="val 3448"/>
            </a:avLst>
          </a:prstGeom>
          <a:solidFill>
            <a:srgbClr val="FBE8B8"/>
          </a:solidFill>
          <a:ln w="9525">
            <a:solidFill>
              <a:srgbClr val="C9891A"/>
            </a:solidFill>
            <a:prstDash val="solid"/>
          </a:ln>
        </p:spPr>
      </p:sp>
      <p:sp>
        <p:nvSpPr>
          <p:cNvPr id="14" name="Text 11"/>
          <p:cNvSpPr/>
          <p:nvPr/>
        </p:nvSpPr>
        <p:spPr>
          <a:xfrm>
            <a:off x="8554212" y="1719072"/>
            <a:ext cx="2939796" cy="1143000"/>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Question Semantic</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"Question semantics" là 1 trong 3 input bắt buộc của Module 1 - đưa nội dung câu hỏi thực (không chỉ id) vào biểu diễn tương tác.</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content, analysis</a:t>
            </a:r>
            <a:endParaRPr lang="en-US" sz="1200" dirty="0"/>
          </a:p>
        </p:txBody>
      </p:sp>
      <p:sp>
        <p:nvSpPr>
          <p:cNvPr id="15" name="Shape 12"/>
          <p:cNvSpPr/>
          <p:nvPr/>
        </p:nvSpPr>
        <p:spPr>
          <a:xfrm>
            <a:off x="5029200" y="3099816"/>
            <a:ext cx="3232404" cy="1664208"/>
          </a:xfrm>
          <a:prstGeom prst="roundRect">
            <a:avLst>
              <a:gd name="adj" fmla="val 2747"/>
            </a:avLst>
          </a:prstGeom>
          <a:solidFill>
            <a:srgbClr val="FBE8B8"/>
          </a:solidFill>
          <a:ln w="9525">
            <a:solidFill>
              <a:srgbClr val="C9891A"/>
            </a:solidFill>
            <a:prstDash val="solid"/>
          </a:ln>
        </p:spPr>
      </p:sp>
      <p:sp>
        <p:nvSpPr>
          <p:cNvPr id="16" name="Text 13"/>
          <p:cNvSpPr/>
          <p:nvPr/>
        </p:nvSpPr>
        <p:spPr>
          <a:xfrm>
            <a:off x="5175504" y="3191256"/>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Knowledge Graph (KC)</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Input cho đồ thị tri thức G: Module 1 dùng G đọc mastery memory theo đúng cấu trúc KC; Module 2 dùng G cho nguyên lý KC-relation consistency - điều chỉnh pattern theo quan hệ giữa các KC (VD prerequisite).</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kc_routes</a:t>
            </a:r>
            <a:endParaRPr lang="en-US" sz="1200" dirty="0"/>
          </a:p>
        </p:txBody>
      </p:sp>
      <p:sp>
        <p:nvSpPr>
          <p:cNvPr id="17" name="Shape 14"/>
          <p:cNvSpPr/>
          <p:nvPr/>
        </p:nvSpPr>
        <p:spPr>
          <a:xfrm>
            <a:off x="8407908" y="3099816"/>
            <a:ext cx="3232404" cy="1664208"/>
          </a:xfrm>
          <a:prstGeom prst="roundRect">
            <a:avLst>
              <a:gd name="adj" fmla="val 2747"/>
            </a:avLst>
          </a:prstGeom>
          <a:solidFill>
            <a:srgbClr val="FBE8B8"/>
          </a:solidFill>
          <a:ln w="9525">
            <a:solidFill>
              <a:srgbClr val="C9891A"/>
            </a:solidFill>
            <a:prstDash val="solid"/>
          </a:ln>
        </p:spPr>
      </p:sp>
      <p:sp>
        <p:nvSpPr>
          <p:cNvPr id="18" name="Text 15"/>
          <p:cNvSpPr/>
          <p:nvPr/>
        </p:nvSpPr>
        <p:spPr>
          <a:xfrm>
            <a:off x="8554212" y="3191256"/>
            <a:ext cx="2939796" cy="1481328"/>
          </a:xfrm>
          <a:prstGeom prst="rect">
            <a:avLst/>
          </a:prstGeom>
          <a:noFill/>
          <a:ln/>
        </p:spPr>
        <p:txBody>
          <a:bodyPr wrap="square" lIns="0" tIns="0" rIns="0" bIns="0" rtlCol="0" anchor="t"/>
          <a:lstStyle/>
          <a:p>
            <a:pPr indent="0" marL="0">
              <a:lnSpc>
                <a:spcPct val="115000"/>
              </a:lnSpc>
              <a:buNone/>
            </a:pPr>
            <a:r>
              <a:rPr lang="en-US" sz="1200" b="1" dirty="0">
                <a:solidFill>
                  <a:srgbClr val="000000"/>
                </a:solidFill>
                <a:latin typeface="Calibri" pitchFamily="34" charset="0"/>
                <a:ea typeface="Calibri" pitchFamily="34" charset="-122"/>
                <a:cs typeface="Calibri" pitchFamily="34" charset="-120"/>
              </a:rPr>
              <a:t>Ngữ cảnh bổ sung</a:t>
            </a:r>
            <a:endParaRPr lang="en-US" sz="1200" dirty="0"/>
          </a:p>
          <a:p>
            <a:pPr indent="0" marL="0">
              <a:lnSpc>
                <a:spcPct val="115000"/>
              </a:lnSpc>
              <a:buNone/>
            </a:pPr>
            <a:r>
              <a:rPr lang="en-US" sz="1000" dirty="0">
                <a:solidFill>
                  <a:srgbClr val="000000"/>
                </a:solidFill>
                <a:latin typeface="Calibri" pitchFamily="34" charset="0"/>
                <a:ea typeface="Calibri" pitchFamily="34" charset="-122"/>
                <a:cs typeface="Calibri" pitchFamily="34" charset="-120"/>
              </a:rPr>
              <a:t>Metadata ngữ cảnh không map trực tiếp vào module nào hiện tại - hướng mở rộng tương lai, không phải input bắt buộc.</a:t>
            </a:r>
            <a:endParaRPr lang="en-US" sz="1200" dirty="0"/>
          </a:p>
          <a:p>
            <a:pPr indent="0" marL="0">
              <a:lnSpc>
                <a:spcPct val="115000"/>
              </a:lnSpc>
              <a:buNone/>
            </a:pPr>
            <a:r>
              <a:rPr lang="en-US" sz="1000" b="1" dirty="0">
                <a:solidFill>
                  <a:srgbClr val="000000"/>
                </a:solidFill>
                <a:latin typeface="Calibri" pitchFamily="34" charset="0"/>
                <a:ea typeface="Calibri" pitchFamily="34" charset="-122"/>
                <a:cs typeface="Calibri" pitchFamily="34" charset="-120"/>
              </a:rPr>
              <a:t>→ cột: type</a:t>
            </a:r>
            <a:endParaRPr lang="en-US" sz="1200" dirty="0"/>
          </a:p>
        </p:txBody>
      </p:sp>
      <p:sp>
        <p:nvSpPr>
          <p:cNvPr id="19" name="Text 1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vì sao chọn cột này</a:t>
            </a:r>
            <a:endParaRPr lang="en-US" sz="1000" dirty="0"/>
          </a:p>
        </p:txBody>
      </p:sp>
      <p:sp>
        <p:nvSpPr>
          <p:cNvPr id="20" name="Text 1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62</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Sơ đồ KC · xes3g5m  ·  Nguồn: mục 6.1 notebook</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Cây khái niệm (KC) có sẵn trong dữ liệu thô</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Cây phân cấp khái niệm (KC) này CÓ SẴN trong metadata thô, không suy ra từ thống kê. Ở mỗi cấp, ngoài khái niệm đang đi theo (viền đậm) còn hiển thị các khái niệm "anh em" thật cùng cấp, rồi tới câu hỏi/bài tập thật gắn với khái niệm cuối cùng.</a:t>
            </a:r>
            <a:endParaRPr lang="en-US" sz="1150" dirty="0"/>
          </a:p>
        </p:txBody>
      </p:sp>
      <p:sp>
        <p:nvSpPr>
          <p:cNvPr id="5" name="Shape 3"/>
          <p:cNvSpPr/>
          <p:nvPr/>
        </p:nvSpPr>
        <p:spPr>
          <a:xfrm>
            <a:off x="1728978" y="2303145"/>
            <a:ext cx="1336548" cy="914"/>
          </a:xfrm>
          <a:prstGeom prst="line">
            <a:avLst/>
          </a:prstGeom>
          <a:noFill/>
          <a:ln w="15875">
            <a:solidFill>
              <a:srgbClr val="E87BA4"/>
            </a:solidFill>
            <a:prstDash val="solid"/>
            <a:headEnd type="none"/>
            <a:tailEnd type="triangle"/>
          </a:ln>
        </p:spPr>
      </p:sp>
      <p:sp>
        <p:nvSpPr>
          <p:cNvPr id="6" name="Shape 4"/>
          <p:cNvSpPr/>
          <p:nvPr/>
        </p:nvSpPr>
        <p:spPr>
          <a:xfrm>
            <a:off x="1696082" y="2428694"/>
            <a:ext cx="1402339" cy="789032"/>
          </a:xfrm>
          <a:prstGeom prst="line">
            <a:avLst/>
          </a:prstGeom>
          <a:noFill/>
          <a:ln w="15875">
            <a:solidFill>
              <a:srgbClr val="E87BA4"/>
            </a:solidFill>
            <a:prstDash val="solid"/>
            <a:headEnd type="none"/>
            <a:tailEnd type="triangle"/>
          </a:ln>
        </p:spPr>
      </p:sp>
      <p:sp>
        <p:nvSpPr>
          <p:cNvPr id="7" name="Shape 5"/>
          <p:cNvSpPr/>
          <p:nvPr/>
        </p:nvSpPr>
        <p:spPr>
          <a:xfrm>
            <a:off x="1643018" y="2494529"/>
            <a:ext cx="1508467" cy="1697492"/>
          </a:xfrm>
          <a:prstGeom prst="line">
            <a:avLst/>
          </a:prstGeom>
          <a:noFill/>
          <a:ln w="15875">
            <a:solidFill>
              <a:srgbClr val="E87BA4"/>
            </a:solidFill>
            <a:prstDash val="solid"/>
            <a:headEnd type="none"/>
            <a:tailEnd type="triangle"/>
          </a:ln>
        </p:spPr>
      </p:sp>
      <p:sp>
        <p:nvSpPr>
          <p:cNvPr id="8" name="Shape 6"/>
          <p:cNvSpPr/>
          <p:nvPr/>
        </p:nvSpPr>
        <p:spPr>
          <a:xfrm>
            <a:off x="1603445" y="2523423"/>
            <a:ext cx="1587614" cy="2679834"/>
          </a:xfrm>
          <a:prstGeom prst="line">
            <a:avLst/>
          </a:prstGeom>
          <a:noFill/>
          <a:ln w="15875">
            <a:solidFill>
              <a:srgbClr val="E87BA4"/>
            </a:solidFill>
            <a:prstDash val="solid"/>
            <a:headEnd type="none"/>
            <a:tailEnd type="triangle"/>
          </a:ln>
        </p:spPr>
      </p:sp>
      <p:sp>
        <p:nvSpPr>
          <p:cNvPr id="9" name="Shape 7"/>
          <p:cNvSpPr/>
          <p:nvPr/>
        </p:nvSpPr>
        <p:spPr>
          <a:xfrm>
            <a:off x="3577590" y="2303145"/>
            <a:ext cx="1336548" cy="914"/>
          </a:xfrm>
          <a:prstGeom prst="line">
            <a:avLst/>
          </a:prstGeom>
          <a:noFill/>
          <a:ln w="15875">
            <a:solidFill>
              <a:srgbClr val="E87BA4"/>
            </a:solidFill>
            <a:prstDash val="solid"/>
            <a:headEnd type="none"/>
            <a:tailEnd type="triangle"/>
          </a:ln>
        </p:spPr>
      </p:sp>
      <p:sp>
        <p:nvSpPr>
          <p:cNvPr id="10" name="Shape 8"/>
          <p:cNvSpPr/>
          <p:nvPr/>
        </p:nvSpPr>
        <p:spPr>
          <a:xfrm>
            <a:off x="3544694" y="2428694"/>
            <a:ext cx="1402339" cy="789032"/>
          </a:xfrm>
          <a:prstGeom prst="line">
            <a:avLst/>
          </a:prstGeom>
          <a:noFill/>
          <a:ln w="15875">
            <a:solidFill>
              <a:srgbClr val="E87BA4"/>
            </a:solidFill>
            <a:prstDash val="solid"/>
            <a:headEnd type="none"/>
            <a:tailEnd type="triangle"/>
          </a:ln>
        </p:spPr>
      </p:sp>
      <p:sp>
        <p:nvSpPr>
          <p:cNvPr id="11" name="Shape 9"/>
          <p:cNvSpPr/>
          <p:nvPr/>
        </p:nvSpPr>
        <p:spPr>
          <a:xfrm>
            <a:off x="3491630" y="2494529"/>
            <a:ext cx="1508467" cy="1697492"/>
          </a:xfrm>
          <a:prstGeom prst="line">
            <a:avLst/>
          </a:prstGeom>
          <a:noFill/>
          <a:ln w="15875">
            <a:solidFill>
              <a:srgbClr val="E87BA4"/>
            </a:solidFill>
            <a:prstDash val="solid"/>
            <a:headEnd type="none"/>
            <a:tailEnd type="triangle"/>
          </a:ln>
        </p:spPr>
      </p:sp>
      <p:sp>
        <p:nvSpPr>
          <p:cNvPr id="12" name="Shape 10"/>
          <p:cNvSpPr/>
          <p:nvPr/>
        </p:nvSpPr>
        <p:spPr>
          <a:xfrm>
            <a:off x="3452057" y="2523423"/>
            <a:ext cx="1587614" cy="2679834"/>
          </a:xfrm>
          <a:prstGeom prst="line">
            <a:avLst/>
          </a:prstGeom>
          <a:noFill/>
          <a:ln w="15875">
            <a:solidFill>
              <a:srgbClr val="E87BA4"/>
            </a:solidFill>
            <a:prstDash val="solid"/>
            <a:headEnd type="none"/>
            <a:tailEnd type="triangle"/>
          </a:ln>
        </p:spPr>
      </p:sp>
      <p:sp>
        <p:nvSpPr>
          <p:cNvPr id="13" name="Shape 11"/>
          <p:cNvSpPr/>
          <p:nvPr/>
        </p:nvSpPr>
        <p:spPr>
          <a:xfrm>
            <a:off x="5426202" y="2303145"/>
            <a:ext cx="1336548" cy="914"/>
          </a:xfrm>
          <a:prstGeom prst="line">
            <a:avLst/>
          </a:prstGeom>
          <a:noFill/>
          <a:ln w="15875">
            <a:solidFill>
              <a:srgbClr val="E87BA4"/>
            </a:solidFill>
            <a:prstDash val="solid"/>
            <a:headEnd type="none"/>
            <a:tailEnd type="triangle"/>
          </a:ln>
        </p:spPr>
      </p:sp>
      <p:sp>
        <p:nvSpPr>
          <p:cNvPr id="14" name="Shape 12"/>
          <p:cNvSpPr/>
          <p:nvPr/>
        </p:nvSpPr>
        <p:spPr>
          <a:xfrm>
            <a:off x="5393306" y="2428694"/>
            <a:ext cx="1402339" cy="789032"/>
          </a:xfrm>
          <a:prstGeom prst="line">
            <a:avLst/>
          </a:prstGeom>
          <a:noFill/>
          <a:ln w="15875">
            <a:solidFill>
              <a:srgbClr val="E87BA4"/>
            </a:solidFill>
            <a:prstDash val="solid"/>
            <a:headEnd type="none"/>
            <a:tailEnd type="triangle"/>
          </a:ln>
        </p:spPr>
      </p:sp>
      <p:sp>
        <p:nvSpPr>
          <p:cNvPr id="15" name="Shape 13"/>
          <p:cNvSpPr/>
          <p:nvPr/>
        </p:nvSpPr>
        <p:spPr>
          <a:xfrm>
            <a:off x="5340242" y="2494529"/>
            <a:ext cx="1508467" cy="1697492"/>
          </a:xfrm>
          <a:prstGeom prst="line">
            <a:avLst/>
          </a:prstGeom>
          <a:noFill/>
          <a:ln w="15875">
            <a:solidFill>
              <a:srgbClr val="E87BA4"/>
            </a:solidFill>
            <a:prstDash val="solid"/>
            <a:headEnd type="none"/>
            <a:tailEnd type="triangle"/>
          </a:ln>
        </p:spPr>
      </p:sp>
      <p:sp>
        <p:nvSpPr>
          <p:cNvPr id="16" name="Shape 14"/>
          <p:cNvSpPr/>
          <p:nvPr/>
        </p:nvSpPr>
        <p:spPr>
          <a:xfrm>
            <a:off x="5300669" y="2523423"/>
            <a:ext cx="1587614" cy="2679834"/>
          </a:xfrm>
          <a:prstGeom prst="line">
            <a:avLst/>
          </a:prstGeom>
          <a:noFill/>
          <a:ln w="15875">
            <a:solidFill>
              <a:srgbClr val="E87BA4"/>
            </a:solidFill>
            <a:prstDash val="solid"/>
            <a:headEnd type="none"/>
            <a:tailEnd type="triangle"/>
          </a:ln>
        </p:spPr>
      </p:sp>
      <p:sp>
        <p:nvSpPr>
          <p:cNvPr id="17" name="Shape 15"/>
          <p:cNvSpPr/>
          <p:nvPr/>
        </p:nvSpPr>
        <p:spPr>
          <a:xfrm>
            <a:off x="7274814" y="2303145"/>
            <a:ext cx="1336548" cy="914"/>
          </a:xfrm>
          <a:prstGeom prst="line">
            <a:avLst/>
          </a:prstGeom>
          <a:noFill/>
          <a:ln w="15875">
            <a:solidFill>
              <a:srgbClr val="E87BA4"/>
            </a:solidFill>
            <a:prstDash val="solid"/>
            <a:headEnd type="none"/>
            <a:tailEnd type="triangle"/>
          </a:ln>
        </p:spPr>
      </p:sp>
      <p:sp>
        <p:nvSpPr>
          <p:cNvPr id="18" name="Shape 16"/>
          <p:cNvSpPr/>
          <p:nvPr/>
        </p:nvSpPr>
        <p:spPr>
          <a:xfrm>
            <a:off x="7241918" y="2428694"/>
            <a:ext cx="1402339" cy="789032"/>
          </a:xfrm>
          <a:prstGeom prst="line">
            <a:avLst/>
          </a:prstGeom>
          <a:noFill/>
          <a:ln w="15875">
            <a:solidFill>
              <a:srgbClr val="E87BA4"/>
            </a:solidFill>
            <a:prstDash val="solid"/>
            <a:headEnd type="none"/>
            <a:tailEnd type="triangle"/>
          </a:ln>
        </p:spPr>
      </p:sp>
      <p:sp>
        <p:nvSpPr>
          <p:cNvPr id="19" name="Shape 17"/>
          <p:cNvSpPr/>
          <p:nvPr/>
        </p:nvSpPr>
        <p:spPr>
          <a:xfrm>
            <a:off x="7188854" y="2494529"/>
            <a:ext cx="1508467" cy="1697492"/>
          </a:xfrm>
          <a:prstGeom prst="line">
            <a:avLst/>
          </a:prstGeom>
          <a:noFill/>
          <a:ln w="15875">
            <a:solidFill>
              <a:srgbClr val="E87BA4"/>
            </a:solidFill>
            <a:prstDash val="solid"/>
            <a:headEnd type="none"/>
            <a:tailEnd type="triangle"/>
          </a:ln>
        </p:spPr>
      </p:sp>
      <p:sp>
        <p:nvSpPr>
          <p:cNvPr id="20" name="Shape 18"/>
          <p:cNvSpPr/>
          <p:nvPr/>
        </p:nvSpPr>
        <p:spPr>
          <a:xfrm>
            <a:off x="7149281" y="2523423"/>
            <a:ext cx="1587614" cy="2679834"/>
          </a:xfrm>
          <a:prstGeom prst="line">
            <a:avLst/>
          </a:prstGeom>
          <a:noFill/>
          <a:ln w="15875">
            <a:solidFill>
              <a:srgbClr val="E87BA4"/>
            </a:solidFill>
            <a:prstDash val="solid"/>
            <a:headEnd type="none"/>
            <a:tailEnd type="triangle"/>
          </a:ln>
        </p:spPr>
      </p:sp>
      <p:sp>
        <p:nvSpPr>
          <p:cNvPr id="21" name="Shape 19"/>
          <p:cNvSpPr/>
          <p:nvPr/>
        </p:nvSpPr>
        <p:spPr>
          <a:xfrm flipV="1">
            <a:off x="9122308" y="2149426"/>
            <a:ext cx="1384305" cy="129814"/>
          </a:xfrm>
          <a:prstGeom prst="line">
            <a:avLst/>
          </a:prstGeom>
          <a:noFill/>
          <a:ln w="12700">
            <a:solidFill>
              <a:srgbClr val="9CA3AF"/>
            </a:solidFill>
            <a:prstDash val="dash"/>
            <a:headEnd type="none"/>
            <a:tailEnd type="triangle"/>
          </a:ln>
        </p:spPr>
      </p:sp>
      <p:sp>
        <p:nvSpPr>
          <p:cNvPr id="22" name="Shape 20"/>
          <p:cNvSpPr/>
          <p:nvPr/>
        </p:nvSpPr>
        <p:spPr>
          <a:xfrm>
            <a:off x="9113858" y="2372482"/>
            <a:ext cx="1399695" cy="393772"/>
          </a:xfrm>
          <a:prstGeom prst="line">
            <a:avLst/>
          </a:prstGeom>
          <a:noFill/>
          <a:ln w="12700">
            <a:solidFill>
              <a:srgbClr val="9CA3AF"/>
            </a:solidFill>
            <a:prstDash val="dash"/>
            <a:headEnd type="none"/>
            <a:tailEnd type="triangle"/>
          </a:ln>
        </p:spPr>
      </p:sp>
      <p:sp>
        <p:nvSpPr>
          <p:cNvPr id="23" name="Shape 21"/>
          <p:cNvSpPr/>
          <p:nvPr/>
        </p:nvSpPr>
        <p:spPr>
          <a:xfrm>
            <a:off x="9081431" y="2443646"/>
            <a:ext cx="1458758" cy="957573"/>
          </a:xfrm>
          <a:prstGeom prst="line">
            <a:avLst/>
          </a:prstGeom>
          <a:noFill/>
          <a:ln w="12700">
            <a:solidFill>
              <a:srgbClr val="9CA3AF"/>
            </a:solidFill>
            <a:prstDash val="dash"/>
            <a:headEnd type="none"/>
            <a:tailEnd type="triangle"/>
          </a:ln>
        </p:spPr>
      </p:sp>
      <p:sp>
        <p:nvSpPr>
          <p:cNvPr id="24" name="Shape 22"/>
          <p:cNvSpPr/>
          <p:nvPr/>
        </p:nvSpPr>
        <p:spPr>
          <a:xfrm>
            <a:off x="9045604" y="2486975"/>
            <a:ext cx="1524015" cy="1572072"/>
          </a:xfrm>
          <a:prstGeom prst="line">
            <a:avLst/>
          </a:prstGeom>
          <a:noFill/>
          <a:ln w="12700">
            <a:solidFill>
              <a:srgbClr val="9CA3AF"/>
            </a:solidFill>
            <a:prstDash val="dash"/>
            <a:headEnd type="none"/>
            <a:tailEnd type="triangle"/>
          </a:ln>
        </p:spPr>
      </p:sp>
      <p:sp>
        <p:nvSpPr>
          <p:cNvPr id="25" name="Shape 23"/>
          <p:cNvSpPr/>
          <p:nvPr/>
        </p:nvSpPr>
        <p:spPr>
          <a:xfrm>
            <a:off x="9015744" y="2511819"/>
            <a:ext cx="1578404" cy="2220240"/>
          </a:xfrm>
          <a:prstGeom prst="line">
            <a:avLst/>
          </a:prstGeom>
          <a:noFill/>
          <a:ln w="12700">
            <a:solidFill>
              <a:srgbClr val="9CA3AF"/>
            </a:solidFill>
            <a:prstDash val="dash"/>
            <a:headEnd type="none"/>
            <a:tailEnd type="triangle"/>
          </a:ln>
        </p:spPr>
      </p:sp>
      <p:sp>
        <p:nvSpPr>
          <p:cNvPr id="26" name="Shape 24"/>
          <p:cNvSpPr/>
          <p:nvPr/>
        </p:nvSpPr>
        <p:spPr>
          <a:xfrm>
            <a:off x="8992704" y="2526415"/>
            <a:ext cx="1620368" cy="2887074"/>
          </a:xfrm>
          <a:prstGeom prst="line">
            <a:avLst/>
          </a:prstGeom>
          <a:noFill/>
          <a:ln w="12700">
            <a:solidFill>
              <a:srgbClr val="9CA3AF"/>
            </a:solidFill>
            <a:prstDash val="dash"/>
            <a:headEnd type="none"/>
            <a:tailEnd type="triangle"/>
          </a:ln>
        </p:spPr>
      </p:sp>
      <p:sp>
        <p:nvSpPr>
          <p:cNvPr id="27" name="Shape 25"/>
          <p:cNvSpPr/>
          <p:nvPr/>
        </p:nvSpPr>
        <p:spPr>
          <a:xfrm>
            <a:off x="1216914" y="2047113"/>
            <a:ext cx="512064" cy="512064"/>
          </a:xfrm>
          <a:prstGeom prst="ellipse">
            <a:avLst/>
          </a:prstGeom>
          <a:solidFill>
            <a:srgbClr val="FAE5ED"/>
          </a:solidFill>
          <a:ln w="31750">
            <a:solidFill>
              <a:srgbClr val="E87BA4"/>
            </a:solidFill>
            <a:prstDash val="solid"/>
          </a:ln>
        </p:spPr>
      </p:sp>
      <p:sp>
        <p:nvSpPr>
          <p:cNvPr id="28" name="Shape 26"/>
          <p:cNvSpPr/>
          <p:nvPr/>
        </p:nvSpPr>
        <p:spPr>
          <a:xfrm>
            <a:off x="617220" y="2604897"/>
            <a:ext cx="1711452" cy="384048"/>
          </a:xfrm>
          <a:prstGeom prst="rect">
            <a:avLst/>
          </a:prstGeom>
          <a:solidFill>
            <a:srgbClr val="FFFFFF"/>
          </a:solidFill>
          <a:ln/>
        </p:spPr>
      </p:sp>
      <p:sp>
        <p:nvSpPr>
          <p:cNvPr id="29" name="Text 27"/>
          <p:cNvSpPr/>
          <p:nvPr/>
        </p:nvSpPr>
        <p:spPr>
          <a:xfrm>
            <a:off x="617220"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拓展思维</a:t>
            </a:r>
            <a:endParaRPr lang="en-US" sz="1000" dirty="0"/>
          </a:p>
        </p:txBody>
      </p:sp>
      <p:sp>
        <p:nvSpPr>
          <p:cNvPr id="30" name="Shape 28"/>
          <p:cNvSpPr/>
          <p:nvPr/>
        </p:nvSpPr>
        <p:spPr>
          <a:xfrm>
            <a:off x="1216914" y="3087243"/>
            <a:ext cx="512064" cy="512064"/>
          </a:xfrm>
          <a:prstGeom prst="ellipse">
            <a:avLst/>
          </a:prstGeom>
          <a:solidFill>
            <a:srgbClr val="FAE5ED"/>
          </a:solidFill>
          <a:ln w="19050">
            <a:solidFill>
              <a:srgbClr val="E87BA4"/>
            </a:solidFill>
            <a:prstDash val="solid"/>
          </a:ln>
        </p:spPr>
      </p:sp>
      <p:sp>
        <p:nvSpPr>
          <p:cNvPr id="31" name="Shape 29"/>
          <p:cNvSpPr/>
          <p:nvPr/>
        </p:nvSpPr>
        <p:spPr>
          <a:xfrm>
            <a:off x="617220" y="3645027"/>
            <a:ext cx="1711452" cy="384048"/>
          </a:xfrm>
          <a:prstGeom prst="rect">
            <a:avLst/>
          </a:prstGeom>
          <a:solidFill>
            <a:srgbClr val="FFFFFF"/>
          </a:solidFill>
          <a:ln/>
        </p:spPr>
      </p:sp>
      <p:sp>
        <p:nvSpPr>
          <p:cNvPr id="32" name="Text 30"/>
          <p:cNvSpPr/>
          <p:nvPr/>
        </p:nvSpPr>
        <p:spPr>
          <a:xfrm>
            <a:off x="617220"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知识点</a:t>
            </a:r>
            <a:endParaRPr lang="en-US" sz="1000" dirty="0"/>
          </a:p>
        </p:txBody>
      </p:sp>
      <p:sp>
        <p:nvSpPr>
          <p:cNvPr id="33" name="Shape 31"/>
          <p:cNvSpPr/>
          <p:nvPr/>
        </p:nvSpPr>
        <p:spPr>
          <a:xfrm>
            <a:off x="1216914" y="4127373"/>
            <a:ext cx="512064" cy="512064"/>
          </a:xfrm>
          <a:prstGeom prst="ellipse">
            <a:avLst/>
          </a:prstGeom>
          <a:solidFill>
            <a:srgbClr val="FAE5ED"/>
          </a:solidFill>
          <a:ln w="19050">
            <a:solidFill>
              <a:srgbClr val="E87BA4"/>
            </a:solidFill>
            <a:prstDash val="solid"/>
          </a:ln>
        </p:spPr>
      </p:sp>
      <p:sp>
        <p:nvSpPr>
          <p:cNvPr id="34" name="Shape 32"/>
          <p:cNvSpPr/>
          <p:nvPr/>
        </p:nvSpPr>
        <p:spPr>
          <a:xfrm>
            <a:off x="617220" y="4685157"/>
            <a:ext cx="1711452" cy="384048"/>
          </a:xfrm>
          <a:prstGeom prst="rect">
            <a:avLst/>
          </a:prstGeom>
          <a:solidFill>
            <a:srgbClr val="FFFFFF"/>
          </a:solidFill>
          <a:ln/>
        </p:spPr>
      </p:sp>
      <p:sp>
        <p:nvSpPr>
          <p:cNvPr id="35" name="Text 33"/>
          <p:cNvSpPr/>
          <p:nvPr/>
        </p:nvSpPr>
        <p:spPr>
          <a:xfrm>
            <a:off x="617220"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课内知识点</a:t>
            </a:r>
            <a:endParaRPr lang="en-US" sz="1000" dirty="0"/>
          </a:p>
        </p:txBody>
      </p:sp>
      <p:sp>
        <p:nvSpPr>
          <p:cNvPr id="36" name="Shape 34"/>
          <p:cNvSpPr/>
          <p:nvPr/>
        </p:nvSpPr>
        <p:spPr>
          <a:xfrm>
            <a:off x="1216914" y="5167503"/>
            <a:ext cx="512064" cy="512064"/>
          </a:xfrm>
          <a:prstGeom prst="ellipse">
            <a:avLst/>
          </a:prstGeom>
          <a:solidFill>
            <a:srgbClr val="FAE5ED"/>
          </a:solidFill>
          <a:ln w="19050">
            <a:solidFill>
              <a:srgbClr val="E87BA4"/>
            </a:solidFill>
            <a:prstDash val="solid"/>
          </a:ln>
        </p:spPr>
      </p:sp>
      <p:sp>
        <p:nvSpPr>
          <p:cNvPr id="37" name="Shape 35"/>
          <p:cNvSpPr/>
          <p:nvPr/>
        </p:nvSpPr>
        <p:spPr>
          <a:xfrm>
            <a:off x="617220" y="5725287"/>
            <a:ext cx="1711452" cy="384048"/>
          </a:xfrm>
          <a:prstGeom prst="rect">
            <a:avLst/>
          </a:prstGeom>
          <a:solidFill>
            <a:srgbClr val="FFFFFF"/>
          </a:solidFill>
          <a:ln/>
        </p:spPr>
      </p:sp>
      <p:sp>
        <p:nvSpPr>
          <p:cNvPr id="38" name="Text 36"/>
          <p:cNvSpPr/>
          <p:nvPr/>
        </p:nvSpPr>
        <p:spPr>
          <a:xfrm>
            <a:off x="617220"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七大能力</a:t>
            </a:r>
            <a:endParaRPr lang="en-US" sz="1000" dirty="0"/>
          </a:p>
        </p:txBody>
      </p:sp>
      <p:sp>
        <p:nvSpPr>
          <p:cNvPr id="39" name="Shape 37"/>
          <p:cNvSpPr/>
          <p:nvPr/>
        </p:nvSpPr>
        <p:spPr>
          <a:xfrm>
            <a:off x="3065526" y="2047113"/>
            <a:ext cx="512064" cy="512064"/>
          </a:xfrm>
          <a:prstGeom prst="ellipse">
            <a:avLst/>
          </a:prstGeom>
          <a:solidFill>
            <a:srgbClr val="FAE5ED"/>
          </a:solidFill>
          <a:ln w="31750">
            <a:solidFill>
              <a:srgbClr val="E87BA4"/>
            </a:solidFill>
            <a:prstDash val="solid"/>
          </a:ln>
        </p:spPr>
      </p:sp>
      <p:sp>
        <p:nvSpPr>
          <p:cNvPr id="40" name="Shape 38"/>
          <p:cNvSpPr/>
          <p:nvPr/>
        </p:nvSpPr>
        <p:spPr>
          <a:xfrm>
            <a:off x="2465832" y="2604897"/>
            <a:ext cx="1711452" cy="384048"/>
          </a:xfrm>
          <a:prstGeom prst="rect">
            <a:avLst/>
          </a:prstGeom>
          <a:solidFill>
            <a:srgbClr val="FFFFFF"/>
          </a:solidFill>
          <a:ln/>
        </p:spPr>
      </p:sp>
      <p:sp>
        <p:nvSpPr>
          <p:cNvPr id="41" name="Text 39"/>
          <p:cNvSpPr/>
          <p:nvPr/>
        </p:nvSpPr>
        <p:spPr>
          <a:xfrm>
            <a:off x="2465832"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应用题模块</a:t>
            </a:r>
            <a:endParaRPr lang="en-US" sz="1000" dirty="0"/>
          </a:p>
        </p:txBody>
      </p:sp>
      <p:sp>
        <p:nvSpPr>
          <p:cNvPr id="42" name="Shape 40"/>
          <p:cNvSpPr/>
          <p:nvPr/>
        </p:nvSpPr>
        <p:spPr>
          <a:xfrm>
            <a:off x="3065526" y="3087243"/>
            <a:ext cx="512064" cy="512064"/>
          </a:xfrm>
          <a:prstGeom prst="ellipse">
            <a:avLst/>
          </a:prstGeom>
          <a:solidFill>
            <a:srgbClr val="FAE5ED"/>
          </a:solidFill>
          <a:ln w="19050">
            <a:solidFill>
              <a:srgbClr val="E87BA4"/>
            </a:solidFill>
            <a:prstDash val="solid"/>
          </a:ln>
        </p:spPr>
      </p:sp>
      <p:sp>
        <p:nvSpPr>
          <p:cNvPr id="43" name="Shape 41"/>
          <p:cNvSpPr/>
          <p:nvPr/>
        </p:nvSpPr>
        <p:spPr>
          <a:xfrm>
            <a:off x="2465832" y="3645027"/>
            <a:ext cx="1711452" cy="384048"/>
          </a:xfrm>
          <a:prstGeom prst="rect">
            <a:avLst/>
          </a:prstGeom>
          <a:solidFill>
            <a:srgbClr val="FFFFFF"/>
          </a:solidFill>
          <a:ln/>
        </p:spPr>
      </p:sp>
      <p:sp>
        <p:nvSpPr>
          <p:cNvPr id="44" name="Text 42"/>
          <p:cNvSpPr/>
          <p:nvPr/>
        </p:nvSpPr>
        <p:spPr>
          <a:xfrm>
            <a:off x="2465832"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组合模块</a:t>
            </a:r>
            <a:endParaRPr lang="en-US" sz="1000" dirty="0"/>
          </a:p>
        </p:txBody>
      </p:sp>
      <p:sp>
        <p:nvSpPr>
          <p:cNvPr id="45" name="Shape 43"/>
          <p:cNvSpPr/>
          <p:nvPr/>
        </p:nvSpPr>
        <p:spPr>
          <a:xfrm>
            <a:off x="3065526" y="4127373"/>
            <a:ext cx="512064" cy="512064"/>
          </a:xfrm>
          <a:prstGeom prst="ellipse">
            <a:avLst/>
          </a:prstGeom>
          <a:solidFill>
            <a:srgbClr val="FAE5ED"/>
          </a:solidFill>
          <a:ln w="19050">
            <a:solidFill>
              <a:srgbClr val="E87BA4"/>
            </a:solidFill>
            <a:prstDash val="solid"/>
          </a:ln>
        </p:spPr>
      </p:sp>
      <p:sp>
        <p:nvSpPr>
          <p:cNvPr id="46" name="Shape 44"/>
          <p:cNvSpPr/>
          <p:nvPr/>
        </p:nvSpPr>
        <p:spPr>
          <a:xfrm>
            <a:off x="2465832" y="4685157"/>
            <a:ext cx="1711452" cy="384048"/>
          </a:xfrm>
          <a:prstGeom prst="rect">
            <a:avLst/>
          </a:prstGeom>
          <a:solidFill>
            <a:srgbClr val="FFFFFF"/>
          </a:solidFill>
          <a:ln/>
        </p:spPr>
      </p:sp>
      <p:sp>
        <p:nvSpPr>
          <p:cNvPr id="47" name="Text 45"/>
          <p:cNvSpPr/>
          <p:nvPr/>
        </p:nvSpPr>
        <p:spPr>
          <a:xfrm>
            <a:off x="2465832"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数论模块</a:t>
            </a:r>
            <a:endParaRPr lang="en-US" sz="1000" dirty="0"/>
          </a:p>
        </p:txBody>
      </p:sp>
      <p:sp>
        <p:nvSpPr>
          <p:cNvPr id="48" name="Shape 46"/>
          <p:cNvSpPr/>
          <p:nvPr/>
        </p:nvSpPr>
        <p:spPr>
          <a:xfrm>
            <a:off x="3065526" y="5167503"/>
            <a:ext cx="512064" cy="512064"/>
          </a:xfrm>
          <a:prstGeom prst="ellipse">
            <a:avLst/>
          </a:prstGeom>
          <a:solidFill>
            <a:srgbClr val="FAE5ED"/>
          </a:solidFill>
          <a:ln w="19050">
            <a:solidFill>
              <a:srgbClr val="E87BA4"/>
            </a:solidFill>
            <a:prstDash val="solid"/>
          </a:ln>
        </p:spPr>
      </p:sp>
      <p:sp>
        <p:nvSpPr>
          <p:cNvPr id="49" name="Shape 47"/>
          <p:cNvSpPr/>
          <p:nvPr/>
        </p:nvSpPr>
        <p:spPr>
          <a:xfrm>
            <a:off x="2465832" y="5725287"/>
            <a:ext cx="1711452" cy="384048"/>
          </a:xfrm>
          <a:prstGeom prst="rect">
            <a:avLst/>
          </a:prstGeom>
          <a:solidFill>
            <a:srgbClr val="FFFFFF"/>
          </a:solidFill>
          <a:ln/>
        </p:spPr>
      </p:sp>
      <p:sp>
        <p:nvSpPr>
          <p:cNvPr id="50" name="Text 48"/>
          <p:cNvSpPr/>
          <p:nvPr/>
        </p:nvSpPr>
        <p:spPr>
          <a:xfrm>
            <a:off x="2465832"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行程模块</a:t>
            </a:r>
            <a:endParaRPr lang="en-US" sz="1000" dirty="0"/>
          </a:p>
        </p:txBody>
      </p:sp>
      <p:sp>
        <p:nvSpPr>
          <p:cNvPr id="51" name="Shape 49"/>
          <p:cNvSpPr/>
          <p:nvPr/>
        </p:nvSpPr>
        <p:spPr>
          <a:xfrm>
            <a:off x="4914138" y="2047113"/>
            <a:ext cx="512064" cy="512064"/>
          </a:xfrm>
          <a:prstGeom prst="ellipse">
            <a:avLst/>
          </a:prstGeom>
          <a:solidFill>
            <a:srgbClr val="FAE5ED"/>
          </a:solidFill>
          <a:ln w="31750">
            <a:solidFill>
              <a:srgbClr val="E87BA4"/>
            </a:solidFill>
            <a:prstDash val="solid"/>
          </a:ln>
        </p:spPr>
      </p:sp>
      <p:sp>
        <p:nvSpPr>
          <p:cNvPr id="52" name="Shape 50"/>
          <p:cNvSpPr/>
          <p:nvPr/>
        </p:nvSpPr>
        <p:spPr>
          <a:xfrm>
            <a:off x="4314444" y="2604897"/>
            <a:ext cx="1711452" cy="384048"/>
          </a:xfrm>
          <a:prstGeom prst="rect">
            <a:avLst/>
          </a:prstGeom>
          <a:solidFill>
            <a:srgbClr val="FFFFFF"/>
          </a:solidFill>
          <a:ln/>
        </p:spPr>
      </p:sp>
      <p:sp>
        <p:nvSpPr>
          <p:cNvPr id="53" name="Text 51"/>
          <p:cNvSpPr/>
          <p:nvPr/>
        </p:nvSpPr>
        <p:spPr>
          <a:xfrm>
            <a:off x="4314444"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周期问题</a:t>
            </a:r>
            <a:endParaRPr lang="en-US" sz="1000" dirty="0"/>
          </a:p>
        </p:txBody>
      </p:sp>
      <p:sp>
        <p:nvSpPr>
          <p:cNvPr id="54" name="Shape 52"/>
          <p:cNvSpPr/>
          <p:nvPr/>
        </p:nvSpPr>
        <p:spPr>
          <a:xfrm>
            <a:off x="4914138" y="3087243"/>
            <a:ext cx="512064" cy="512064"/>
          </a:xfrm>
          <a:prstGeom prst="ellipse">
            <a:avLst/>
          </a:prstGeom>
          <a:solidFill>
            <a:srgbClr val="FAE5ED"/>
          </a:solidFill>
          <a:ln w="19050">
            <a:solidFill>
              <a:srgbClr val="E87BA4"/>
            </a:solidFill>
            <a:prstDash val="solid"/>
          </a:ln>
        </p:spPr>
      </p:sp>
      <p:sp>
        <p:nvSpPr>
          <p:cNvPr id="55" name="Shape 53"/>
          <p:cNvSpPr/>
          <p:nvPr/>
        </p:nvSpPr>
        <p:spPr>
          <a:xfrm>
            <a:off x="4314444" y="3645027"/>
            <a:ext cx="1711452" cy="384048"/>
          </a:xfrm>
          <a:prstGeom prst="rect">
            <a:avLst/>
          </a:prstGeom>
          <a:solidFill>
            <a:srgbClr val="FFFFFF"/>
          </a:solidFill>
          <a:ln/>
        </p:spPr>
      </p:sp>
      <p:sp>
        <p:nvSpPr>
          <p:cNvPr id="56" name="Text 54"/>
          <p:cNvSpPr/>
          <p:nvPr/>
        </p:nvSpPr>
        <p:spPr>
          <a:xfrm>
            <a:off x="4314444"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鸡兔同笼问题</a:t>
            </a:r>
            <a:endParaRPr lang="en-US" sz="1000" dirty="0"/>
          </a:p>
        </p:txBody>
      </p:sp>
      <p:sp>
        <p:nvSpPr>
          <p:cNvPr id="57" name="Shape 55"/>
          <p:cNvSpPr/>
          <p:nvPr/>
        </p:nvSpPr>
        <p:spPr>
          <a:xfrm>
            <a:off x="4914138" y="4127373"/>
            <a:ext cx="512064" cy="512064"/>
          </a:xfrm>
          <a:prstGeom prst="ellipse">
            <a:avLst/>
          </a:prstGeom>
          <a:solidFill>
            <a:srgbClr val="FAE5ED"/>
          </a:solidFill>
          <a:ln w="19050">
            <a:solidFill>
              <a:srgbClr val="E87BA4"/>
            </a:solidFill>
            <a:prstDash val="solid"/>
          </a:ln>
        </p:spPr>
      </p:sp>
      <p:sp>
        <p:nvSpPr>
          <p:cNvPr id="58" name="Shape 56"/>
          <p:cNvSpPr/>
          <p:nvPr/>
        </p:nvSpPr>
        <p:spPr>
          <a:xfrm>
            <a:off x="4314444" y="4685157"/>
            <a:ext cx="1711452" cy="384048"/>
          </a:xfrm>
          <a:prstGeom prst="rect">
            <a:avLst/>
          </a:prstGeom>
          <a:solidFill>
            <a:srgbClr val="FFFFFF"/>
          </a:solidFill>
          <a:ln/>
        </p:spPr>
      </p:sp>
      <p:sp>
        <p:nvSpPr>
          <p:cNvPr id="59" name="Text 57"/>
          <p:cNvSpPr/>
          <p:nvPr/>
        </p:nvSpPr>
        <p:spPr>
          <a:xfrm>
            <a:off x="4314444"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工程问题</a:t>
            </a:r>
            <a:endParaRPr lang="en-US" sz="1000" dirty="0"/>
          </a:p>
        </p:txBody>
      </p:sp>
      <p:sp>
        <p:nvSpPr>
          <p:cNvPr id="60" name="Shape 58"/>
          <p:cNvSpPr/>
          <p:nvPr/>
        </p:nvSpPr>
        <p:spPr>
          <a:xfrm>
            <a:off x="4914138" y="5167503"/>
            <a:ext cx="512064" cy="512064"/>
          </a:xfrm>
          <a:prstGeom prst="ellipse">
            <a:avLst/>
          </a:prstGeom>
          <a:solidFill>
            <a:srgbClr val="FAE5ED"/>
          </a:solidFill>
          <a:ln w="19050">
            <a:solidFill>
              <a:srgbClr val="E87BA4"/>
            </a:solidFill>
            <a:prstDash val="solid"/>
          </a:ln>
        </p:spPr>
      </p:sp>
      <p:sp>
        <p:nvSpPr>
          <p:cNvPr id="61" name="Shape 59"/>
          <p:cNvSpPr/>
          <p:nvPr/>
        </p:nvSpPr>
        <p:spPr>
          <a:xfrm>
            <a:off x="4314444" y="5725287"/>
            <a:ext cx="1711452" cy="384048"/>
          </a:xfrm>
          <a:prstGeom prst="rect">
            <a:avLst/>
          </a:prstGeom>
          <a:solidFill>
            <a:srgbClr val="FFFFFF"/>
          </a:solidFill>
          <a:ln/>
        </p:spPr>
      </p:sp>
      <p:sp>
        <p:nvSpPr>
          <p:cNvPr id="62" name="Text 60"/>
          <p:cNvSpPr/>
          <p:nvPr/>
        </p:nvSpPr>
        <p:spPr>
          <a:xfrm>
            <a:off x="4314444"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间隔问题</a:t>
            </a:r>
            <a:endParaRPr lang="en-US" sz="1000" dirty="0"/>
          </a:p>
        </p:txBody>
      </p:sp>
      <p:sp>
        <p:nvSpPr>
          <p:cNvPr id="63" name="Shape 61"/>
          <p:cNvSpPr/>
          <p:nvPr/>
        </p:nvSpPr>
        <p:spPr>
          <a:xfrm>
            <a:off x="6762750" y="2047113"/>
            <a:ext cx="512064" cy="512064"/>
          </a:xfrm>
          <a:prstGeom prst="ellipse">
            <a:avLst/>
          </a:prstGeom>
          <a:solidFill>
            <a:srgbClr val="FAE5ED"/>
          </a:solidFill>
          <a:ln w="31750">
            <a:solidFill>
              <a:srgbClr val="E87BA4"/>
            </a:solidFill>
            <a:prstDash val="solid"/>
          </a:ln>
        </p:spPr>
      </p:sp>
      <p:sp>
        <p:nvSpPr>
          <p:cNvPr id="64" name="Shape 62"/>
          <p:cNvSpPr/>
          <p:nvPr/>
        </p:nvSpPr>
        <p:spPr>
          <a:xfrm>
            <a:off x="6163056" y="2604897"/>
            <a:ext cx="1711452" cy="384048"/>
          </a:xfrm>
          <a:prstGeom prst="rect">
            <a:avLst/>
          </a:prstGeom>
          <a:solidFill>
            <a:srgbClr val="FFFFFF"/>
          </a:solidFill>
          <a:ln/>
        </p:spPr>
      </p:sp>
      <p:sp>
        <p:nvSpPr>
          <p:cNvPr id="65" name="Text 63"/>
          <p:cNvSpPr/>
          <p:nvPr/>
        </p:nvSpPr>
        <p:spPr>
          <a:xfrm>
            <a:off x="6163056"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时间中的周期问题</a:t>
            </a:r>
            <a:endParaRPr lang="en-US" sz="1000" dirty="0"/>
          </a:p>
        </p:txBody>
      </p:sp>
      <p:sp>
        <p:nvSpPr>
          <p:cNvPr id="66" name="Shape 64"/>
          <p:cNvSpPr/>
          <p:nvPr/>
        </p:nvSpPr>
        <p:spPr>
          <a:xfrm>
            <a:off x="6762750" y="3087243"/>
            <a:ext cx="512064" cy="512064"/>
          </a:xfrm>
          <a:prstGeom prst="ellipse">
            <a:avLst/>
          </a:prstGeom>
          <a:solidFill>
            <a:srgbClr val="FAE5ED"/>
          </a:solidFill>
          <a:ln w="19050">
            <a:solidFill>
              <a:srgbClr val="E87BA4"/>
            </a:solidFill>
            <a:prstDash val="solid"/>
          </a:ln>
        </p:spPr>
      </p:sp>
      <p:sp>
        <p:nvSpPr>
          <p:cNvPr id="67" name="Shape 65"/>
          <p:cNvSpPr/>
          <p:nvPr/>
        </p:nvSpPr>
        <p:spPr>
          <a:xfrm>
            <a:off x="6163056" y="3645027"/>
            <a:ext cx="1711452" cy="384048"/>
          </a:xfrm>
          <a:prstGeom prst="rect">
            <a:avLst/>
          </a:prstGeom>
          <a:solidFill>
            <a:srgbClr val="FFFFFF"/>
          </a:solidFill>
          <a:ln/>
        </p:spPr>
      </p:sp>
      <p:sp>
        <p:nvSpPr>
          <p:cNvPr id="68" name="Text 66"/>
          <p:cNvSpPr/>
          <p:nvPr/>
        </p:nvSpPr>
        <p:spPr>
          <a:xfrm>
            <a:off x="6163056"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数列操作周期问题</a:t>
            </a:r>
            <a:endParaRPr lang="en-US" sz="1000" dirty="0"/>
          </a:p>
        </p:txBody>
      </p:sp>
      <p:sp>
        <p:nvSpPr>
          <p:cNvPr id="69" name="Shape 67"/>
          <p:cNvSpPr/>
          <p:nvPr/>
        </p:nvSpPr>
        <p:spPr>
          <a:xfrm>
            <a:off x="6762750" y="4127373"/>
            <a:ext cx="512064" cy="512064"/>
          </a:xfrm>
          <a:prstGeom prst="ellipse">
            <a:avLst/>
          </a:prstGeom>
          <a:solidFill>
            <a:srgbClr val="FAE5ED"/>
          </a:solidFill>
          <a:ln w="19050">
            <a:solidFill>
              <a:srgbClr val="E87BA4"/>
            </a:solidFill>
            <a:prstDash val="solid"/>
          </a:ln>
        </p:spPr>
      </p:sp>
      <p:sp>
        <p:nvSpPr>
          <p:cNvPr id="70" name="Shape 68"/>
          <p:cNvSpPr/>
          <p:nvPr/>
        </p:nvSpPr>
        <p:spPr>
          <a:xfrm>
            <a:off x="6163056" y="4685157"/>
            <a:ext cx="1711452" cy="384048"/>
          </a:xfrm>
          <a:prstGeom prst="rect">
            <a:avLst/>
          </a:prstGeom>
          <a:solidFill>
            <a:srgbClr val="FFFFFF"/>
          </a:solidFill>
          <a:ln/>
        </p:spPr>
      </p:sp>
      <p:sp>
        <p:nvSpPr>
          <p:cNvPr id="71" name="Text 69"/>
          <p:cNvSpPr/>
          <p:nvPr/>
        </p:nvSpPr>
        <p:spPr>
          <a:xfrm>
            <a:off x="6163056"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环形操作周期问题</a:t>
            </a:r>
            <a:endParaRPr lang="en-US" sz="1000" dirty="0"/>
          </a:p>
        </p:txBody>
      </p:sp>
      <p:sp>
        <p:nvSpPr>
          <p:cNvPr id="72" name="Shape 70"/>
          <p:cNvSpPr/>
          <p:nvPr/>
        </p:nvSpPr>
        <p:spPr>
          <a:xfrm>
            <a:off x="6762750" y="5167503"/>
            <a:ext cx="512064" cy="512064"/>
          </a:xfrm>
          <a:prstGeom prst="ellipse">
            <a:avLst/>
          </a:prstGeom>
          <a:solidFill>
            <a:srgbClr val="FAE5ED"/>
          </a:solidFill>
          <a:ln w="19050">
            <a:solidFill>
              <a:srgbClr val="E87BA4"/>
            </a:solidFill>
            <a:prstDash val="solid"/>
          </a:ln>
        </p:spPr>
      </p:sp>
      <p:sp>
        <p:nvSpPr>
          <p:cNvPr id="73" name="Shape 71"/>
          <p:cNvSpPr/>
          <p:nvPr/>
        </p:nvSpPr>
        <p:spPr>
          <a:xfrm>
            <a:off x="6163056" y="5725287"/>
            <a:ext cx="1711452" cy="384048"/>
          </a:xfrm>
          <a:prstGeom prst="rect">
            <a:avLst/>
          </a:prstGeom>
          <a:solidFill>
            <a:srgbClr val="FFFFFF"/>
          </a:solidFill>
          <a:ln/>
        </p:spPr>
      </p:sp>
      <p:sp>
        <p:nvSpPr>
          <p:cNvPr id="74" name="Text 72"/>
          <p:cNvSpPr/>
          <p:nvPr/>
        </p:nvSpPr>
        <p:spPr>
          <a:xfrm>
            <a:off x="6163056"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基本排列的周期问题</a:t>
            </a:r>
            <a:endParaRPr lang="en-US" sz="1000" dirty="0"/>
          </a:p>
        </p:txBody>
      </p:sp>
      <p:sp>
        <p:nvSpPr>
          <p:cNvPr id="75" name="Shape 73"/>
          <p:cNvSpPr/>
          <p:nvPr/>
        </p:nvSpPr>
        <p:spPr>
          <a:xfrm>
            <a:off x="8611362" y="2047113"/>
            <a:ext cx="512064" cy="512064"/>
          </a:xfrm>
          <a:prstGeom prst="ellipse">
            <a:avLst/>
          </a:prstGeom>
          <a:solidFill>
            <a:srgbClr val="FAE5ED"/>
          </a:solidFill>
          <a:ln w="31750">
            <a:solidFill>
              <a:srgbClr val="E87BA4"/>
            </a:solidFill>
            <a:prstDash val="solid"/>
          </a:ln>
        </p:spPr>
      </p:sp>
      <p:sp>
        <p:nvSpPr>
          <p:cNvPr id="76" name="Shape 74"/>
          <p:cNvSpPr/>
          <p:nvPr/>
        </p:nvSpPr>
        <p:spPr>
          <a:xfrm>
            <a:off x="8011668" y="2604897"/>
            <a:ext cx="1711452" cy="384048"/>
          </a:xfrm>
          <a:prstGeom prst="rect">
            <a:avLst/>
          </a:prstGeom>
          <a:solidFill>
            <a:srgbClr val="FFFFFF"/>
          </a:solidFill>
          <a:ln/>
        </p:spPr>
      </p:sp>
      <p:sp>
        <p:nvSpPr>
          <p:cNvPr id="77" name="Text 75"/>
          <p:cNvSpPr/>
          <p:nvPr/>
        </p:nvSpPr>
        <p:spPr>
          <a:xfrm>
            <a:off x="8011668" y="2604897"/>
            <a:ext cx="1711452" cy="384048"/>
          </a:xfrm>
          <a:prstGeom prst="rect">
            <a:avLst/>
          </a:prstGeom>
          <a:noFill/>
          <a:ln/>
        </p:spPr>
        <p:txBody>
          <a:bodyPr wrap="square" lIns="0" tIns="0" rIns="0" bIns="0" rtlCol="0" anchor="t"/>
          <a:lstStyle/>
          <a:p>
            <a:pPr algn="ctr" indent="0" marL="0">
              <a:lnSpc>
                <a:spcPct val="105000"/>
              </a:lnSpc>
              <a:buNone/>
            </a:pPr>
            <a:r>
              <a:rPr lang="en-US" sz="1000" b="1" dirty="0">
                <a:solidFill>
                  <a:srgbClr val="000000"/>
                </a:solidFill>
                <a:latin typeface="Calibri" pitchFamily="34" charset="0"/>
                <a:ea typeface="Calibri" pitchFamily="34" charset="-122"/>
                <a:cs typeface="Calibri" pitchFamily="34" charset="-120"/>
              </a:rPr>
              <a:t>日期中的周期</a:t>
            </a:r>
            <a:endParaRPr lang="en-US" sz="1000" dirty="0"/>
          </a:p>
        </p:txBody>
      </p:sp>
      <p:sp>
        <p:nvSpPr>
          <p:cNvPr id="78" name="Shape 76"/>
          <p:cNvSpPr/>
          <p:nvPr/>
        </p:nvSpPr>
        <p:spPr>
          <a:xfrm>
            <a:off x="8611362" y="3087243"/>
            <a:ext cx="512064" cy="512064"/>
          </a:xfrm>
          <a:prstGeom prst="ellipse">
            <a:avLst/>
          </a:prstGeom>
          <a:solidFill>
            <a:srgbClr val="FAE5ED"/>
          </a:solidFill>
          <a:ln w="19050">
            <a:solidFill>
              <a:srgbClr val="E87BA4"/>
            </a:solidFill>
            <a:prstDash val="solid"/>
          </a:ln>
        </p:spPr>
      </p:sp>
      <p:sp>
        <p:nvSpPr>
          <p:cNvPr id="79" name="Shape 77"/>
          <p:cNvSpPr/>
          <p:nvPr/>
        </p:nvSpPr>
        <p:spPr>
          <a:xfrm>
            <a:off x="8011668" y="3645027"/>
            <a:ext cx="1711452" cy="384048"/>
          </a:xfrm>
          <a:prstGeom prst="rect">
            <a:avLst/>
          </a:prstGeom>
          <a:solidFill>
            <a:srgbClr val="FFFFFF"/>
          </a:solidFill>
          <a:ln/>
        </p:spPr>
      </p:sp>
      <p:sp>
        <p:nvSpPr>
          <p:cNvPr id="80" name="Text 78"/>
          <p:cNvSpPr/>
          <p:nvPr/>
        </p:nvSpPr>
        <p:spPr>
          <a:xfrm>
            <a:off x="8011668" y="364502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时间中的周期</a:t>
            </a:r>
            <a:endParaRPr lang="en-US" sz="1000" dirty="0"/>
          </a:p>
        </p:txBody>
      </p:sp>
      <p:sp>
        <p:nvSpPr>
          <p:cNvPr id="81" name="Shape 79"/>
          <p:cNvSpPr/>
          <p:nvPr/>
        </p:nvSpPr>
        <p:spPr>
          <a:xfrm>
            <a:off x="8611362" y="4127373"/>
            <a:ext cx="512064" cy="512064"/>
          </a:xfrm>
          <a:prstGeom prst="ellipse">
            <a:avLst/>
          </a:prstGeom>
          <a:solidFill>
            <a:srgbClr val="FAE5ED"/>
          </a:solidFill>
          <a:ln w="19050">
            <a:solidFill>
              <a:srgbClr val="E87BA4"/>
            </a:solidFill>
            <a:prstDash val="solid"/>
          </a:ln>
        </p:spPr>
      </p:sp>
      <p:sp>
        <p:nvSpPr>
          <p:cNvPr id="82" name="Shape 80"/>
          <p:cNvSpPr/>
          <p:nvPr/>
        </p:nvSpPr>
        <p:spPr>
          <a:xfrm>
            <a:off x="8011668" y="4685157"/>
            <a:ext cx="1711452" cy="384048"/>
          </a:xfrm>
          <a:prstGeom prst="rect">
            <a:avLst/>
          </a:prstGeom>
          <a:solidFill>
            <a:srgbClr val="FFFFFF"/>
          </a:solidFill>
          <a:ln/>
        </p:spPr>
      </p:sp>
      <p:sp>
        <p:nvSpPr>
          <p:cNvPr id="83" name="Text 81"/>
          <p:cNvSpPr/>
          <p:nvPr/>
        </p:nvSpPr>
        <p:spPr>
          <a:xfrm>
            <a:off x="8011668" y="468515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求再过几日是周几问题</a:t>
            </a:r>
            <a:endParaRPr lang="en-US" sz="1000" dirty="0"/>
          </a:p>
        </p:txBody>
      </p:sp>
      <p:sp>
        <p:nvSpPr>
          <p:cNvPr id="84" name="Shape 82"/>
          <p:cNvSpPr/>
          <p:nvPr/>
        </p:nvSpPr>
        <p:spPr>
          <a:xfrm>
            <a:off x="8611362" y="5167503"/>
            <a:ext cx="512064" cy="512064"/>
          </a:xfrm>
          <a:prstGeom prst="ellipse">
            <a:avLst/>
          </a:prstGeom>
          <a:solidFill>
            <a:srgbClr val="FAE5ED"/>
          </a:solidFill>
          <a:ln w="19050">
            <a:solidFill>
              <a:srgbClr val="E87BA4"/>
            </a:solidFill>
            <a:prstDash val="solid"/>
          </a:ln>
        </p:spPr>
      </p:sp>
      <p:sp>
        <p:nvSpPr>
          <p:cNvPr id="85" name="Shape 83"/>
          <p:cNvSpPr/>
          <p:nvPr/>
        </p:nvSpPr>
        <p:spPr>
          <a:xfrm>
            <a:off x="8011668" y="5725287"/>
            <a:ext cx="1711452" cy="384048"/>
          </a:xfrm>
          <a:prstGeom prst="rect">
            <a:avLst/>
          </a:prstGeom>
          <a:solidFill>
            <a:srgbClr val="FFFFFF"/>
          </a:solidFill>
          <a:ln/>
        </p:spPr>
      </p:sp>
      <p:sp>
        <p:nvSpPr>
          <p:cNvPr id="86" name="Text 84"/>
          <p:cNvSpPr/>
          <p:nvPr/>
        </p:nvSpPr>
        <p:spPr>
          <a:xfrm>
            <a:off x="8011668" y="5725287"/>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求某日期是周几问题</a:t>
            </a:r>
            <a:endParaRPr lang="en-US" sz="1000" dirty="0"/>
          </a:p>
        </p:txBody>
      </p:sp>
      <p:sp>
        <p:nvSpPr>
          <p:cNvPr id="87" name="Shape 85"/>
          <p:cNvSpPr/>
          <p:nvPr/>
        </p:nvSpPr>
        <p:spPr>
          <a:xfrm>
            <a:off x="10505694" y="1919478"/>
            <a:ext cx="420624" cy="420624"/>
          </a:xfrm>
          <a:prstGeom prst="ellipse">
            <a:avLst/>
          </a:prstGeom>
          <a:solidFill>
            <a:srgbClr val="E1E3E6"/>
          </a:solidFill>
          <a:ln w="19050">
            <a:solidFill>
              <a:srgbClr val="6B7280"/>
            </a:solidFill>
            <a:prstDash val="solid"/>
          </a:ln>
        </p:spPr>
      </p:sp>
      <p:sp>
        <p:nvSpPr>
          <p:cNvPr id="88" name="Shape 86"/>
          <p:cNvSpPr/>
          <p:nvPr/>
        </p:nvSpPr>
        <p:spPr>
          <a:xfrm>
            <a:off x="9860280" y="2385822"/>
            <a:ext cx="1711452" cy="384048"/>
          </a:xfrm>
          <a:prstGeom prst="rect">
            <a:avLst/>
          </a:prstGeom>
          <a:solidFill>
            <a:srgbClr val="FFFFFF"/>
          </a:solidFill>
          <a:ln/>
        </p:spPr>
      </p:sp>
      <p:sp>
        <p:nvSpPr>
          <p:cNvPr id="89" name="Text 87"/>
          <p:cNvSpPr/>
          <p:nvPr/>
        </p:nvSpPr>
        <p:spPr>
          <a:xfrm>
            <a:off x="9860280" y="238582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81</a:t>
            </a:r>
            <a:endParaRPr lang="en-US" sz="1000" dirty="0"/>
          </a:p>
        </p:txBody>
      </p:sp>
      <p:sp>
        <p:nvSpPr>
          <p:cNvPr id="90" name="Shape 88"/>
          <p:cNvSpPr/>
          <p:nvPr/>
        </p:nvSpPr>
        <p:spPr>
          <a:xfrm>
            <a:off x="10505694" y="2612898"/>
            <a:ext cx="420624" cy="420624"/>
          </a:xfrm>
          <a:prstGeom prst="ellipse">
            <a:avLst/>
          </a:prstGeom>
          <a:solidFill>
            <a:srgbClr val="E1E3E6"/>
          </a:solidFill>
          <a:ln w="19050">
            <a:solidFill>
              <a:srgbClr val="6B7280"/>
            </a:solidFill>
            <a:prstDash val="solid"/>
          </a:ln>
        </p:spPr>
      </p:sp>
      <p:sp>
        <p:nvSpPr>
          <p:cNvPr id="91" name="Shape 89"/>
          <p:cNvSpPr/>
          <p:nvPr/>
        </p:nvSpPr>
        <p:spPr>
          <a:xfrm>
            <a:off x="9860280" y="3079242"/>
            <a:ext cx="1711452" cy="384048"/>
          </a:xfrm>
          <a:prstGeom prst="rect">
            <a:avLst/>
          </a:prstGeom>
          <a:solidFill>
            <a:srgbClr val="FFFFFF"/>
          </a:solidFill>
          <a:ln/>
        </p:spPr>
      </p:sp>
      <p:sp>
        <p:nvSpPr>
          <p:cNvPr id="92" name="Text 90"/>
          <p:cNvSpPr/>
          <p:nvPr/>
        </p:nvSpPr>
        <p:spPr>
          <a:xfrm>
            <a:off x="9860280" y="307924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346</a:t>
            </a:r>
            <a:endParaRPr lang="en-US" sz="1000" dirty="0"/>
          </a:p>
        </p:txBody>
      </p:sp>
      <p:sp>
        <p:nvSpPr>
          <p:cNvPr id="93" name="Shape 91"/>
          <p:cNvSpPr/>
          <p:nvPr/>
        </p:nvSpPr>
        <p:spPr>
          <a:xfrm>
            <a:off x="10505694" y="3306318"/>
            <a:ext cx="420624" cy="420624"/>
          </a:xfrm>
          <a:prstGeom prst="ellipse">
            <a:avLst/>
          </a:prstGeom>
          <a:solidFill>
            <a:srgbClr val="E1E3E6"/>
          </a:solidFill>
          <a:ln w="19050">
            <a:solidFill>
              <a:srgbClr val="6B7280"/>
            </a:solidFill>
            <a:prstDash val="solid"/>
          </a:ln>
        </p:spPr>
      </p:sp>
      <p:sp>
        <p:nvSpPr>
          <p:cNvPr id="94" name="Shape 92"/>
          <p:cNvSpPr/>
          <p:nvPr/>
        </p:nvSpPr>
        <p:spPr>
          <a:xfrm>
            <a:off x="9860280" y="3772662"/>
            <a:ext cx="1711452" cy="384048"/>
          </a:xfrm>
          <a:prstGeom prst="rect">
            <a:avLst/>
          </a:prstGeom>
          <a:solidFill>
            <a:srgbClr val="FFFFFF"/>
          </a:solidFill>
          <a:ln/>
        </p:spPr>
      </p:sp>
      <p:sp>
        <p:nvSpPr>
          <p:cNvPr id="95" name="Text 93"/>
          <p:cNvSpPr/>
          <p:nvPr/>
        </p:nvSpPr>
        <p:spPr>
          <a:xfrm>
            <a:off x="9860280" y="377266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349</a:t>
            </a:r>
            <a:endParaRPr lang="en-US" sz="1000" dirty="0"/>
          </a:p>
        </p:txBody>
      </p:sp>
      <p:sp>
        <p:nvSpPr>
          <p:cNvPr id="96" name="Shape 94"/>
          <p:cNvSpPr/>
          <p:nvPr/>
        </p:nvSpPr>
        <p:spPr>
          <a:xfrm>
            <a:off x="10505694" y="3999738"/>
            <a:ext cx="420624" cy="420624"/>
          </a:xfrm>
          <a:prstGeom prst="ellipse">
            <a:avLst/>
          </a:prstGeom>
          <a:solidFill>
            <a:srgbClr val="E1E3E6"/>
          </a:solidFill>
          <a:ln w="19050">
            <a:solidFill>
              <a:srgbClr val="6B7280"/>
            </a:solidFill>
            <a:prstDash val="solid"/>
          </a:ln>
        </p:spPr>
      </p:sp>
      <p:sp>
        <p:nvSpPr>
          <p:cNvPr id="97" name="Shape 95"/>
          <p:cNvSpPr/>
          <p:nvPr/>
        </p:nvSpPr>
        <p:spPr>
          <a:xfrm>
            <a:off x="9860280" y="4466082"/>
            <a:ext cx="1711452" cy="384048"/>
          </a:xfrm>
          <a:prstGeom prst="rect">
            <a:avLst/>
          </a:prstGeom>
          <a:solidFill>
            <a:srgbClr val="FFFFFF"/>
          </a:solidFill>
          <a:ln/>
        </p:spPr>
      </p:sp>
      <p:sp>
        <p:nvSpPr>
          <p:cNvPr id="98" name="Text 96"/>
          <p:cNvSpPr/>
          <p:nvPr/>
        </p:nvSpPr>
        <p:spPr>
          <a:xfrm>
            <a:off x="9860280" y="446608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638</a:t>
            </a:r>
            <a:endParaRPr lang="en-US" sz="1000" dirty="0"/>
          </a:p>
        </p:txBody>
      </p:sp>
      <p:sp>
        <p:nvSpPr>
          <p:cNvPr id="99" name="Shape 97"/>
          <p:cNvSpPr/>
          <p:nvPr/>
        </p:nvSpPr>
        <p:spPr>
          <a:xfrm>
            <a:off x="10505694" y="4693158"/>
            <a:ext cx="420624" cy="420624"/>
          </a:xfrm>
          <a:prstGeom prst="ellipse">
            <a:avLst/>
          </a:prstGeom>
          <a:solidFill>
            <a:srgbClr val="E1E3E6"/>
          </a:solidFill>
          <a:ln w="19050">
            <a:solidFill>
              <a:srgbClr val="6B7280"/>
            </a:solidFill>
            <a:prstDash val="solid"/>
          </a:ln>
        </p:spPr>
      </p:sp>
      <p:sp>
        <p:nvSpPr>
          <p:cNvPr id="100" name="Shape 98"/>
          <p:cNvSpPr/>
          <p:nvPr/>
        </p:nvSpPr>
        <p:spPr>
          <a:xfrm>
            <a:off x="9860280" y="5159502"/>
            <a:ext cx="1711452" cy="384048"/>
          </a:xfrm>
          <a:prstGeom prst="rect">
            <a:avLst/>
          </a:prstGeom>
          <a:solidFill>
            <a:srgbClr val="FFFFFF"/>
          </a:solidFill>
          <a:ln/>
        </p:spPr>
      </p:sp>
      <p:sp>
        <p:nvSpPr>
          <p:cNvPr id="101" name="Text 99"/>
          <p:cNvSpPr/>
          <p:nvPr/>
        </p:nvSpPr>
        <p:spPr>
          <a:xfrm>
            <a:off x="9860280" y="515950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639</a:t>
            </a:r>
            <a:endParaRPr lang="en-US" sz="1000" dirty="0"/>
          </a:p>
        </p:txBody>
      </p:sp>
      <p:sp>
        <p:nvSpPr>
          <p:cNvPr id="102" name="Shape 100"/>
          <p:cNvSpPr/>
          <p:nvPr/>
        </p:nvSpPr>
        <p:spPr>
          <a:xfrm>
            <a:off x="10505694" y="5386578"/>
            <a:ext cx="420624" cy="420624"/>
          </a:xfrm>
          <a:prstGeom prst="ellipse">
            <a:avLst/>
          </a:prstGeom>
          <a:solidFill>
            <a:srgbClr val="E1E3E6"/>
          </a:solidFill>
          <a:ln w="19050">
            <a:solidFill>
              <a:srgbClr val="6B7280"/>
            </a:solidFill>
            <a:prstDash val="solid"/>
          </a:ln>
        </p:spPr>
      </p:sp>
      <p:sp>
        <p:nvSpPr>
          <p:cNvPr id="103" name="Shape 101"/>
          <p:cNvSpPr/>
          <p:nvPr/>
        </p:nvSpPr>
        <p:spPr>
          <a:xfrm>
            <a:off x="9860280" y="5852922"/>
            <a:ext cx="1711452" cy="384048"/>
          </a:xfrm>
          <a:prstGeom prst="rect">
            <a:avLst/>
          </a:prstGeom>
          <a:solidFill>
            <a:srgbClr val="FFFFFF"/>
          </a:solidFill>
          <a:ln/>
        </p:spPr>
      </p:sp>
      <p:sp>
        <p:nvSpPr>
          <p:cNvPr id="104" name="Text 102"/>
          <p:cNvSpPr/>
          <p:nvPr/>
        </p:nvSpPr>
        <p:spPr>
          <a:xfrm>
            <a:off x="9860280" y="5852922"/>
            <a:ext cx="1711452" cy="384048"/>
          </a:xfrm>
          <a:prstGeom prst="rect">
            <a:avLst/>
          </a:prstGeom>
          <a:noFill/>
          <a:ln/>
        </p:spPr>
        <p:txBody>
          <a:bodyPr wrap="square" lIns="0" tIns="0" rIns="0" bIns="0" rtlCol="0" anchor="t"/>
          <a:lstStyle/>
          <a:p>
            <a:pPr algn="ctr" indent="0" marL="0">
              <a:lnSpc>
                <a:spcPct val="105000"/>
              </a:lnSpc>
              <a:buNone/>
            </a:pPr>
            <a:r>
              <a:rPr lang="en-US" sz="1000" dirty="0">
                <a:solidFill>
                  <a:srgbClr val="000000"/>
                </a:solidFill>
                <a:latin typeface="Calibri" pitchFamily="34" charset="0"/>
                <a:ea typeface="Calibri" pitchFamily="34" charset="-122"/>
                <a:cs typeface="Calibri" pitchFamily="34" charset="-120"/>
              </a:rPr>
              <a:t>944</a:t>
            </a:r>
            <a:endParaRPr lang="en-US" sz="1000" dirty="0"/>
          </a:p>
        </p:txBody>
      </p:sp>
      <p:sp>
        <p:nvSpPr>
          <p:cNvPr id="105" name="Text 103"/>
          <p:cNvSpPr/>
          <p:nvPr/>
        </p:nvSpPr>
        <p:spPr>
          <a:xfrm>
            <a:off x="548640" y="6236208"/>
            <a:ext cx="11091672" cy="36576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Nhánh đang đi theo (viền đậm): 拓展思维 → 应用题模块 → 周期问题 → 时间中的周期问题 → 日期中的周期</a:t>
            </a:r>
            <a:endParaRPr lang="en-US" sz="1000" dirty="0"/>
          </a:p>
        </p:txBody>
      </p:sp>
      <p:sp>
        <p:nvSpPr>
          <p:cNvPr id="106" name="Text 104"/>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sơ đồ KC ↔ câu hỏi</a:t>
            </a:r>
            <a:endParaRPr lang="en-US" sz="1000" dirty="0"/>
          </a:p>
        </p:txBody>
      </p:sp>
      <p:sp>
        <p:nvSpPr>
          <p:cNvPr id="107" name="Text 105"/>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63</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84048"/>
            <a:ext cx="1399032" cy="402336"/>
          </a:xfrm>
          <a:prstGeom prst="roundRect">
            <a:avLst>
              <a:gd name="adj" fmla="val 18182"/>
            </a:avLst>
          </a:prstGeom>
          <a:solidFill>
            <a:srgbClr val="E87BA4"/>
          </a:solidFill>
          <a:ln/>
        </p:spPr>
      </p:sp>
      <p:sp>
        <p:nvSpPr>
          <p:cNvPr id="3" name="Text 1"/>
          <p:cNvSpPr/>
          <p:nvPr/>
        </p:nvSpPr>
        <p:spPr>
          <a:xfrm>
            <a:off x="548640" y="384048"/>
            <a:ext cx="1399032" cy="402336"/>
          </a:xfrm>
          <a:prstGeom prst="rect">
            <a:avLst/>
          </a:prstGeom>
          <a:noFill/>
          <a:ln/>
        </p:spPr>
        <p:txBody>
          <a:bodyPr wrap="square" lIns="0" tIns="0" rIns="0" bIns="0" rtlCol="0" anchor="ctr"/>
          <a:lstStyle/>
          <a:p>
            <a:pPr algn="ctr" indent="0" marL="0">
              <a:buNone/>
            </a:pPr>
            <a:r>
              <a:rPr lang="en-US" sz="1400" b="1" dirty="0">
                <a:solidFill>
                  <a:srgbClr val="000000"/>
                </a:solidFill>
                <a:latin typeface="Calibri" pitchFamily="34" charset="0"/>
                <a:ea typeface="Calibri" pitchFamily="34" charset="-122"/>
                <a:cs typeface="Calibri" pitchFamily="34" charset="-120"/>
              </a:rPr>
              <a:t>xes3g5m</a:t>
            </a:r>
            <a:endParaRPr lang="en-US" sz="1400" dirty="0"/>
          </a:p>
        </p:txBody>
      </p:sp>
      <p:sp>
        <p:nvSpPr>
          <p:cNvPr id="4" name="Text 2"/>
          <p:cNvSpPr/>
          <p:nvPr/>
        </p:nvSpPr>
        <p:spPr>
          <a:xfrm>
            <a:off x="2176272" y="329184"/>
            <a:ext cx="7772400" cy="457200"/>
          </a:xfrm>
          <a:prstGeom prst="rect">
            <a:avLst/>
          </a:prstGeom>
          <a:noFill/>
          <a:ln/>
        </p:spPr>
        <p:txBody>
          <a:bodyPr wrap="square" lIns="0" tIns="0" rIns="0" bIns="0" rtlCol="0" anchor="ctr"/>
          <a:lstStyle/>
          <a:p>
            <a:pPr indent="0" marL="0">
              <a:buNone/>
            </a:pPr>
            <a:r>
              <a:rPr lang="en-US" sz="2200" b="1" dirty="0">
                <a:solidFill>
                  <a:srgbClr val="000000"/>
                </a:solidFill>
                <a:latin typeface="Cambria" pitchFamily="34" charset="0"/>
                <a:ea typeface="Cambria" pitchFamily="34" charset="-122"/>
                <a:cs typeface="Cambria" pitchFamily="34" charset="-120"/>
              </a:rPr>
              <a:t>XES3G5M (question_level)</a:t>
            </a:r>
            <a:endParaRPr lang="en-US" sz="2200" dirty="0"/>
          </a:p>
        </p:txBody>
      </p:sp>
      <p:sp>
        <p:nvSpPr>
          <p:cNvPr id="5" name="Text 3"/>
          <p:cNvSpPr/>
          <p:nvPr/>
        </p:nvSpPr>
        <p:spPr>
          <a:xfrm>
            <a:off x="548640" y="896112"/>
            <a:ext cx="7315200" cy="274320"/>
          </a:xfrm>
          <a:prstGeom prst="rect">
            <a:avLst/>
          </a:prstGeom>
          <a:noFill/>
          <a:ln/>
        </p:spPr>
        <p:txBody>
          <a:bodyPr wrap="square" lIns="0" tIns="0" rIns="0" bIns="0" rtlCol="0" anchor="ctr"/>
          <a:lstStyle/>
          <a:p>
            <a:pPr indent="0" marL="0">
              <a:buNone/>
            </a:pPr>
            <a:r>
              <a:rPr lang="en-US" sz="1100" dirty="0">
                <a:solidFill>
                  <a:srgbClr val="000000"/>
                </a:solidFill>
                <a:latin typeface="Calibri" pitchFamily="34" charset="0"/>
                <a:ea typeface="Calibri" pitchFamily="34" charset="-122"/>
                <a:cs typeface="Calibri" pitchFamily="34" charset="-120"/>
              </a:rPr>
              <a:t>XES3G5M</a:t>
            </a:r>
            <a:endParaRPr lang="en-US" sz="1100" dirty="0"/>
          </a:p>
        </p:txBody>
      </p:sp>
      <p:sp>
        <p:nvSpPr>
          <p:cNvPr id="6" name="Text 4"/>
          <p:cNvSpPr/>
          <p:nvPr/>
        </p:nvSpPr>
        <p:spPr>
          <a:xfrm>
            <a:off x="548640" y="1371600"/>
            <a:ext cx="4251960" cy="256032"/>
          </a:xfrm>
          <a:prstGeom prst="rect">
            <a:avLst/>
          </a:prstGeom>
          <a:noFill/>
          <a:ln/>
        </p:spPr>
        <p:txBody>
          <a:bodyPr wrap="square" lIns="0" tIns="0" rIns="0" bIns="0" rtlCol="0" anchor="ctr"/>
          <a:lstStyle/>
          <a:p>
            <a:pPr indent="0" marL="0">
              <a:buNone/>
            </a:pPr>
            <a:r>
              <a:rPr lang="en-US" sz="1000" b="1" dirty="0">
                <a:solidFill>
                  <a:srgbClr val="000000"/>
                </a:solidFill>
                <a:latin typeface="Calibri" pitchFamily="34" charset="0"/>
                <a:ea typeface="Calibri" pitchFamily="34" charset="-122"/>
                <a:cs typeface="Calibri" pitchFamily="34" charset="-120"/>
              </a:rPr>
              <a:t>CẤU TRÚC FILE  </a:t>
            </a:r>
            <a:pPr indent="0" marL="0">
              <a:buNone/>
            </a:pPr>
            <a:r>
              <a:rPr lang="en-US" sz="1000" i="1" dirty="0">
                <a:solidFill>
                  <a:srgbClr val="000000"/>
                </a:solidFill>
                <a:latin typeface="Calibri" pitchFamily="34" charset="0"/>
                <a:ea typeface="Calibri" pitchFamily="34" charset="-122"/>
                <a:cs typeface="Calibri" pitchFamily="34" charset="-120"/>
              </a:rPr>
              <a:t>· mục 6.1 notebook</a:t>
            </a:r>
            <a:endParaRPr lang="en-US" sz="1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4251960" cy="1280160"/>
        </p:xfrm>
        <a:graphic>
          <a:graphicData uri="http://schemas.openxmlformats.org/drawingml/2006/table">
            <a:tbl>
              <a:tblPr/>
              <a:tblGrid>
                <a:gridCol w="3017520"/>
                <a:gridCol w="685800"/>
                <a:gridCol w="548640"/>
              </a:tblGrid>
              <a:tr h="256032">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File</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Dòng</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00" b="1" dirty="0">
                          <a:solidFill>
                            <a:srgbClr val="FFFFFF"/>
                          </a:solidFill>
                          <a:latin typeface="Calibri" pitchFamily="34" charset="0"/>
                          <a:ea typeface="Calibri" pitchFamily="34" charset="-122"/>
                          <a:cs typeface="Calibri" pitchFamily="34" charset="-120"/>
                        </a:rPr>
                        <a:t>Cột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question_level/train_valid_sequences_quelevel.csv  (chuỗi HS)</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30,965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kc_level/train_valid_sequences.csv  (chuỗi HS)</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33,397</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8</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metadata/questions.json  (câu hỏi)</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7,652</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256032">
                <a:tc>
                  <a:txBody>
                    <a:bodyPr/>
                    <a:lstStyle/>
                    <a:p>
                      <a:pPr indent="0" marL="0">
                        <a:buNone/>
                      </a:pPr>
                      <a:r>
                        <a:rPr lang="en-US" sz="1000" dirty="0">
                          <a:solidFill>
                            <a:srgbClr val="000000"/>
                          </a:solidFill>
                          <a:latin typeface="Calibri" pitchFamily="34" charset="0"/>
                          <a:ea typeface="Calibri" pitchFamily="34" charset="-122"/>
                          <a:cs typeface="Calibri" pitchFamily="34" charset="-120"/>
                        </a:rPr>
                        <a:t>metadata/kc_routes_map.json  (khái niệm KC)</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1,175</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00" dirty="0">
                          <a:solidFill>
                            <a:srgbClr val="000000"/>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0800" marR="50800" marT="25400" marB="254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bl>
          </a:graphicData>
        </a:graphic>
      </p:graphicFrame>
      <p:sp>
        <p:nvSpPr>
          <p:cNvPr id="8" name="Text 5"/>
          <p:cNvSpPr/>
          <p:nvPr/>
        </p:nvSpPr>
        <p:spPr>
          <a:xfrm>
            <a:off x="548640" y="3054096"/>
            <a:ext cx="4251960" cy="274320"/>
          </a:xfrm>
          <a:prstGeom prst="rect">
            <a:avLst/>
          </a:prstGeom>
          <a:noFill/>
          <a:ln/>
        </p:spPr>
        <p:txBody>
          <a:bodyPr wrap="square" lIns="0" tIns="0" rIns="0" bIns="0" rtlCol="0" anchor="ctr"/>
          <a:lstStyle/>
          <a:p>
            <a:pPr indent="0" marL="0">
              <a:buNone/>
            </a:pPr>
            <a:r>
              <a:rPr lang="en-US" sz="1000" i="1" dirty="0">
                <a:solidFill>
                  <a:srgbClr val="000000"/>
                </a:solidFill>
                <a:latin typeface="Calibri" pitchFamily="34" charset="0"/>
                <a:ea typeface="Calibri" pitchFamily="34" charset="-122"/>
                <a:cs typeface="Calibri" pitchFamily="34" charset="-120"/>
              </a:rPr>
              <a:t>+ metadata/images/: 3,869 file .png ('question_&lt;id&gt;-image_&lt;n&gt;.png' / 'analysis_&lt;id&gt;-image_&lt;n&gt;.png')</a:t>
            </a:r>
            <a:endParaRPr lang="en-US" sz="1000" dirty="0"/>
          </a:p>
        </p:txBody>
      </p:sp>
      <p:sp>
        <p:nvSpPr>
          <p:cNvPr id="9" name="Text 6"/>
          <p:cNvSpPr/>
          <p:nvPr/>
        </p:nvSpPr>
        <p:spPr>
          <a:xfrm>
            <a:off x="548640" y="3346704"/>
            <a:ext cx="4251960" cy="566928"/>
          </a:xfrm>
          <a:prstGeom prst="rect">
            <a:avLst/>
          </a:prstGeom>
          <a:noFill/>
          <a:ln/>
        </p:spPr>
        <p:txBody>
          <a:bodyPr wrap="square" lIns="0" tIns="0" rIns="0" bIns="0" rtlCol="0" anchor="ctr"/>
          <a:lstStyle/>
          <a:p>
            <a:pPr indent="0" marL="0">
              <a:lnSpc>
                <a:spcPct val="112000"/>
              </a:lnSpc>
              <a:buNone/>
            </a:pPr>
            <a:r>
              <a:rPr lang="en-US" sz="1000" i="1" dirty="0">
                <a:solidFill>
                  <a:srgbClr val="000000"/>
                </a:solidFill>
                <a:latin typeface="Calibri" pitchFamily="34" charset="0"/>
                <a:ea typeface="Calibri" pitchFamily="34" charset="-122"/>
                <a:cs typeface="Calibri" pitchFamily="34" charset="-120"/>
              </a:rPr>
              <a:t>question_level và kc_level là 2 ĐỘ CHI TIẾT của cùng dữ liệu (không phải 2 dataset khác nhau) — kc_level đã tách sẵn câu hỏi đa-KC thành nhiều bước.</a:t>
            </a:r>
            <a:endParaRPr lang="en-US" sz="1000" dirty="0"/>
          </a:p>
        </p:txBody>
      </p:sp>
      <p:sp>
        <p:nvSpPr>
          <p:cNvPr id="10" name="Shape 7"/>
          <p:cNvSpPr/>
          <p:nvPr/>
        </p:nvSpPr>
        <p:spPr>
          <a:xfrm>
            <a:off x="548640" y="4023360"/>
            <a:ext cx="1356360" cy="1074420"/>
          </a:xfrm>
          <a:prstGeom prst="roundRect">
            <a:avLst>
              <a:gd name="adj" fmla="val 4255"/>
            </a:avLst>
          </a:prstGeom>
          <a:solidFill>
            <a:srgbClr val="F5F7FC"/>
          </a:solidFill>
          <a:ln w="9525">
            <a:solidFill>
              <a:srgbClr val="E3E7F1"/>
            </a:solidFill>
            <a:prstDash val="solid"/>
          </a:ln>
        </p:spPr>
      </p:sp>
      <p:sp>
        <p:nvSpPr>
          <p:cNvPr id="11" name="Text 8"/>
          <p:cNvSpPr/>
          <p:nvPr/>
        </p:nvSpPr>
        <p:spPr>
          <a:xfrm>
            <a:off x="594360" y="4096512"/>
            <a:ext cx="1264920" cy="590931"/>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5.55 Tr</a:t>
            </a:r>
            <a:endParaRPr lang="en-US" sz="1600" dirty="0"/>
          </a:p>
        </p:txBody>
      </p:sp>
      <p:sp>
        <p:nvSpPr>
          <p:cNvPr id="12" name="Text 9"/>
          <p:cNvSpPr/>
          <p:nvPr/>
        </p:nvSpPr>
        <p:spPr>
          <a:xfrm>
            <a:off x="594360" y="4668012"/>
            <a:ext cx="1264920" cy="429768"/>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Tương tác</a:t>
            </a:r>
            <a:endParaRPr lang="en-US" sz="1000" dirty="0"/>
          </a:p>
        </p:txBody>
      </p:sp>
      <p:sp>
        <p:nvSpPr>
          <p:cNvPr id="13" name="Shape 10"/>
          <p:cNvSpPr/>
          <p:nvPr/>
        </p:nvSpPr>
        <p:spPr>
          <a:xfrm>
            <a:off x="1996440" y="4023360"/>
            <a:ext cx="1356360" cy="1074420"/>
          </a:xfrm>
          <a:prstGeom prst="roundRect">
            <a:avLst>
              <a:gd name="adj" fmla="val 4255"/>
            </a:avLst>
          </a:prstGeom>
          <a:solidFill>
            <a:srgbClr val="F5F7FC"/>
          </a:solidFill>
          <a:ln w="9525">
            <a:solidFill>
              <a:srgbClr val="E3E7F1"/>
            </a:solidFill>
            <a:prstDash val="solid"/>
          </a:ln>
        </p:spPr>
      </p:sp>
      <p:sp>
        <p:nvSpPr>
          <p:cNvPr id="14" name="Text 11"/>
          <p:cNvSpPr/>
          <p:nvPr/>
        </p:nvSpPr>
        <p:spPr>
          <a:xfrm>
            <a:off x="2042160" y="4096512"/>
            <a:ext cx="1264920" cy="590931"/>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18,066</a:t>
            </a:r>
            <a:endParaRPr lang="en-US" sz="1600" dirty="0"/>
          </a:p>
        </p:txBody>
      </p:sp>
      <p:sp>
        <p:nvSpPr>
          <p:cNvPr id="15" name="Text 12"/>
          <p:cNvSpPr/>
          <p:nvPr/>
        </p:nvSpPr>
        <p:spPr>
          <a:xfrm>
            <a:off x="2042160" y="4668012"/>
            <a:ext cx="1264920" cy="429768"/>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Học sinh</a:t>
            </a:r>
            <a:endParaRPr lang="en-US" sz="1000" dirty="0"/>
          </a:p>
        </p:txBody>
      </p:sp>
      <p:sp>
        <p:nvSpPr>
          <p:cNvPr id="16" name="Shape 13"/>
          <p:cNvSpPr/>
          <p:nvPr/>
        </p:nvSpPr>
        <p:spPr>
          <a:xfrm>
            <a:off x="3444240" y="4023360"/>
            <a:ext cx="1356360" cy="1074420"/>
          </a:xfrm>
          <a:prstGeom prst="roundRect">
            <a:avLst>
              <a:gd name="adj" fmla="val 4255"/>
            </a:avLst>
          </a:prstGeom>
          <a:solidFill>
            <a:srgbClr val="F5F7FC"/>
          </a:solidFill>
          <a:ln w="9525">
            <a:solidFill>
              <a:srgbClr val="E3E7F1"/>
            </a:solidFill>
            <a:prstDash val="solid"/>
          </a:ln>
        </p:spPr>
      </p:sp>
      <p:sp>
        <p:nvSpPr>
          <p:cNvPr id="17" name="Text 14"/>
          <p:cNvSpPr/>
          <p:nvPr/>
        </p:nvSpPr>
        <p:spPr>
          <a:xfrm>
            <a:off x="3489960" y="4096512"/>
            <a:ext cx="1264920" cy="590931"/>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7,651</a:t>
            </a:r>
            <a:endParaRPr lang="en-US" sz="1600" dirty="0"/>
          </a:p>
        </p:txBody>
      </p:sp>
      <p:sp>
        <p:nvSpPr>
          <p:cNvPr id="18" name="Text 15"/>
          <p:cNvSpPr/>
          <p:nvPr/>
        </p:nvSpPr>
        <p:spPr>
          <a:xfrm>
            <a:off x="3489960" y="4668012"/>
            <a:ext cx="1264920" cy="429768"/>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Câu hỏi</a:t>
            </a:r>
            <a:endParaRPr lang="en-US" sz="1000" dirty="0"/>
          </a:p>
        </p:txBody>
      </p:sp>
      <p:sp>
        <p:nvSpPr>
          <p:cNvPr id="19" name="Shape 16"/>
          <p:cNvSpPr/>
          <p:nvPr/>
        </p:nvSpPr>
        <p:spPr>
          <a:xfrm>
            <a:off x="548640" y="5189220"/>
            <a:ext cx="1356360" cy="1074420"/>
          </a:xfrm>
          <a:prstGeom prst="roundRect">
            <a:avLst>
              <a:gd name="adj" fmla="val 4255"/>
            </a:avLst>
          </a:prstGeom>
          <a:solidFill>
            <a:srgbClr val="F5F7FC"/>
          </a:solidFill>
          <a:ln w="9525">
            <a:solidFill>
              <a:srgbClr val="E3E7F1"/>
            </a:solidFill>
            <a:prstDash val="solid"/>
          </a:ln>
        </p:spPr>
      </p:sp>
      <p:sp>
        <p:nvSpPr>
          <p:cNvPr id="20" name="Text 17"/>
          <p:cNvSpPr/>
          <p:nvPr/>
        </p:nvSpPr>
        <p:spPr>
          <a:xfrm>
            <a:off x="594360" y="5262372"/>
            <a:ext cx="1264920" cy="590931"/>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865</a:t>
            </a:r>
            <a:endParaRPr lang="en-US" sz="1600" dirty="0"/>
          </a:p>
        </p:txBody>
      </p:sp>
      <p:sp>
        <p:nvSpPr>
          <p:cNvPr id="21" name="Text 18"/>
          <p:cNvSpPr/>
          <p:nvPr/>
        </p:nvSpPr>
        <p:spPr>
          <a:xfrm>
            <a:off x="594360" y="5833872"/>
            <a:ext cx="1264920" cy="429768"/>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KC (concepts)</a:t>
            </a:r>
            <a:endParaRPr lang="en-US" sz="1000" dirty="0"/>
          </a:p>
        </p:txBody>
      </p:sp>
      <p:sp>
        <p:nvSpPr>
          <p:cNvPr id="22" name="Shape 19"/>
          <p:cNvSpPr/>
          <p:nvPr/>
        </p:nvSpPr>
        <p:spPr>
          <a:xfrm>
            <a:off x="1996440" y="5189220"/>
            <a:ext cx="1356360" cy="1074420"/>
          </a:xfrm>
          <a:prstGeom prst="roundRect">
            <a:avLst>
              <a:gd name="adj" fmla="val 4255"/>
            </a:avLst>
          </a:prstGeom>
          <a:solidFill>
            <a:srgbClr val="F5F7FC"/>
          </a:solidFill>
          <a:ln w="9525">
            <a:solidFill>
              <a:srgbClr val="E3E7F1"/>
            </a:solidFill>
            <a:prstDash val="solid"/>
          </a:ln>
        </p:spPr>
      </p:sp>
      <p:sp>
        <p:nvSpPr>
          <p:cNvPr id="23" name="Text 20"/>
          <p:cNvSpPr/>
          <p:nvPr/>
        </p:nvSpPr>
        <p:spPr>
          <a:xfrm>
            <a:off x="2042160" y="5262372"/>
            <a:ext cx="1264920" cy="590931"/>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79.5%</a:t>
            </a:r>
            <a:endParaRPr lang="en-US" sz="1600" dirty="0"/>
          </a:p>
        </p:txBody>
      </p:sp>
      <p:sp>
        <p:nvSpPr>
          <p:cNvPr id="24" name="Text 21"/>
          <p:cNvSpPr/>
          <p:nvPr/>
        </p:nvSpPr>
        <p:spPr>
          <a:xfrm>
            <a:off x="2042160" y="5833872"/>
            <a:ext cx="1264920" cy="429768"/>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Tỉ lệ đúng chung</a:t>
            </a:r>
            <a:endParaRPr lang="en-US" sz="1000" dirty="0"/>
          </a:p>
        </p:txBody>
      </p:sp>
      <p:sp>
        <p:nvSpPr>
          <p:cNvPr id="25" name="Shape 22"/>
          <p:cNvSpPr/>
          <p:nvPr/>
        </p:nvSpPr>
        <p:spPr>
          <a:xfrm>
            <a:off x="3444240" y="5189220"/>
            <a:ext cx="1356360" cy="1074420"/>
          </a:xfrm>
          <a:prstGeom prst="roundRect">
            <a:avLst>
              <a:gd name="adj" fmla="val 4255"/>
            </a:avLst>
          </a:prstGeom>
          <a:solidFill>
            <a:srgbClr val="F5F7FC"/>
          </a:solidFill>
          <a:ln w="9525">
            <a:solidFill>
              <a:srgbClr val="E3E7F1"/>
            </a:solidFill>
            <a:prstDash val="solid"/>
          </a:ln>
        </p:spPr>
      </p:sp>
      <p:sp>
        <p:nvSpPr>
          <p:cNvPr id="26" name="Text 23"/>
          <p:cNvSpPr/>
          <p:nvPr/>
        </p:nvSpPr>
        <p:spPr>
          <a:xfrm>
            <a:off x="3489960" y="5262372"/>
            <a:ext cx="1264920" cy="590931"/>
          </a:xfrm>
          <a:prstGeom prst="rect">
            <a:avLst/>
          </a:prstGeom>
          <a:noFill/>
          <a:ln/>
        </p:spPr>
        <p:txBody>
          <a:bodyPr wrap="square" lIns="0" tIns="0" rIns="0" bIns="0" rtlCol="0" anchor="b"/>
          <a:lstStyle/>
          <a:p>
            <a:pPr algn="ctr" indent="0" marL="0">
              <a:buNone/>
            </a:pPr>
            <a:r>
              <a:rPr lang="en-US" sz="1600" b="1" dirty="0">
                <a:solidFill>
                  <a:srgbClr val="000000"/>
                </a:solidFill>
                <a:latin typeface="Cambria" pitchFamily="34" charset="0"/>
                <a:ea typeface="Cambria" pitchFamily="34" charset="-122"/>
                <a:cs typeface="Cambria" pitchFamily="34" charset="-120"/>
              </a:rPr>
              <a:t>12.5%</a:t>
            </a:r>
            <a:endParaRPr lang="en-US" sz="1600" dirty="0"/>
          </a:p>
        </p:txBody>
      </p:sp>
      <p:sp>
        <p:nvSpPr>
          <p:cNvPr id="27" name="Text 24"/>
          <p:cNvSpPr/>
          <p:nvPr/>
        </p:nvSpPr>
        <p:spPr>
          <a:xfrm>
            <a:off x="3489960" y="5833872"/>
            <a:ext cx="1264920" cy="429768"/>
          </a:xfrm>
          <a:prstGeom prst="rect">
            <a:avLst/>
          </a:prstGeom>
          <a:noFill/>
          <a:ln/>
        </p:spPr>
        <p:txBody>
          <a:bodyPr wrap="square" lIns="0" tIns="0" rIns="0" bIns="0" rtlCol="0" anchor="t"/>
          <a:lstStyle/>
          <a:p>
            <a:pPr algn="ctr" indent="0" marL="0">
              <a:buNone/>
            </a:pPr>
            <a:r>
              <a:rPr lang="en-US" sz="1000" dirty="0">
                <a:solidFill>
                  <a:srgbClr val="000000"/>
                </a:solidFill>
                <a:latin typeface="Calibri" pitchFamily="34" charset="0"/>
                <a:ea typeface="Calibri" pitchFamily="34" charset="-122"/>
                <a:cs typeface="Calibri" pitchFamily="34" charset="-120"/>
              </a:rPr>
              <a:t>Tương tác đa-KC</a:t>
            </a:r>
            <a:endParaRPr lang="en-US" sz="1000" dirty="0"/>
          </a:p>
        </p:txBody>
      </p:sp>
      <p:sp>
        <p:nvSpPr>
          <p:cNvPr id="28" name="Shape 25"/>
          <p:cNvSpPr/>
          <p:nvPr/>
        </p:nvSpPr>
        <p:spPr>
          <a:xfrm>
            <a:off x="4910328" y="1298448"/>
            <a:ext cx="6803136" cy="4581144"/>
          </a:xfrm>
          <a:prstGeom prst="roundRect">
            <a:avLst>
              <a:gd name="adj" fmla="val 798"/>
            </a:avLst>
          </a:prstGeom>
          <a:solidFill>
            <a:srgbClr val="FFFFFF"/>
          </a:solidFill>
          <a:ln w="15875">
            <a:solidFill>
              <a:srgbClr val="E87BA4"/>
            </a:solidFill>
            <a:prstDash val="solid"/>
          </a:ln>
        </p:spPr>
      </p:sp>
      <p:pic>
        <p:nvPicPr>
          <p:cNvPr id="29" name="Image 0" descr="/tmp/claude-1000/-home-admincsc-workspace-binh-openscience-kt-workspace/c4c4a90d-95e7-4615-8c88-d95bfdcdf616/scratchpad/pptx_assets/fig_64.png">    </p:cNvPr>
          <p:cNvPicPr>
            <a:picLocks noChangeAspect="1"/>
          </p:cNvPicPr>
          <p:nvPr/>
        </p:nvPicPr>
        <p:blipFill>
          <a:blip r:embed="rId1"/>
          <a:stretch>
            <a:fillRect/>
          </a:stretch>
        </p:blipFill>
        <p:spPr>
          <a:xfrm>
            <a:off x="5310236" y="1371600"/>
            <a:ext cx="6003320" cy="4434840"/>
          </a:xfrm>
          <a:prstGeom prst="rect">
            <a:avLst/>
          </a:prstGeom>
        </p:spPr>
      </p:pic>
      <p:sp>
        <p:nvSpPr>
          <p:cNvPr id="30" name="Text 26"/>
          <p:cNvSpPr/>
          <p:nvPr/>
        </p:nvSpPr>
        <p:spPr>
          <a:xfrm>
            <a:off x="4983480" y="5916168"/>
            <a:ext cx="6656832" cy="502920"/>
          </a:xfrm>
          <a:prstGeom prst="rect">
            <a:avLst/>
          </a:prstGeom>
          <a:noFill/>
          <a:ln/>
        </p:spPr>
        <p:txBody>
          <a:bodyPr wrap="square" lIns="0" tIns="0" rIns="0" bIns="0" rtlCol="0" anchor="ctr"/>
          <a:lstStyle/>
          <a:p>
            <a:pPr algn="l" indent="0" marL="0">
              <a:lnSpc>
                <a:spcPct val="110000"/>
              </a:lnSpc>
              <a:buNone/>
            </a:pPr>
            <a:r>
              <a:rPr lang="en-US" sz="1000" i="1" dirty="0">
                <a:solidFill>
                  <a:srgbClr val="000000"/>
                </a:solidFill>
                <a:latin typeface="Calibri" pitchFamily="34" charset="0"/>
                <a:ea typeface="Calibri" pitchFamily="34" charset="-122"/>
                <a:cs typeface="Calibri" pitchFamily="34" charset="-120"/>
              </a:rPr>
              <a:t>100% câu hỏi có lời giải (analysis) chi tiết; 35.8% có ≥1 ảnh minh hoạ đề bài hoặc lời giải — modality nội dung phong phú nhất trong 7 config.  ·  Nguồn hình: mục 6.2 "Phân tích &amp; trực quan hóa" – datasets_deep_dive.ipynb.</a:t>
            </a:r>
            <a:endParaRPr lang="en-US" sz="1000" dirty="0"/>
          </a:p>
        </p:txBody>
      </p:sp>
      <p:sp>
        <p:nvSpPr>
          <p:cNvPr id="31" name="Text 27"/>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xes3g5m · XES3G5M</a:t>
            </a:r>
            <a:endParaRPr lang="en-US" sz="1000" dirty="0"/>
          </a:p>
        </p:txBody>
      </p:sp>
      <p:sp>
        <p:nvSpPr>
          <p:cNvPr id="32" name="Text 28"/>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64</a:t>
            </a:r>
            <a:endParaRPr lang="en-US" sz="1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06 · So sánh chéo 7 config  ·  Nguồn: mục 7 (bảng summary_df) – datasets_deep_dive.ipynb</a:t>
            </a:r>
            <a:endParaRPr lang="en-US" sz="1100" dirty="0"/>
          </a:p>
        </p:txBody>
      </p:sp>
      <p:sp>
        <p:nvSpPr>
          <p:cNvPr id="3" name="Text 1"/>
          <p:cNvSpPr/>
          <p:nvPr/>
        </p:nvSpPr>
        <p:spPr>
          <a:xfrm>
            <a:off x="548640" y="658368"/>
            <a:ext cx="9144000" cy="548640"/>
          </a:xfrm>
          <a:prstGeom prst="rect">
            <a:avLst/>
          </a:prstGeom>
          <a:noFill/>
          <a:ln/>
        </p:spPr>
        <p:txBody>
          <a:bodyPr wrap="square" lIns="0" tIns="0" rIns="0" bIns="0" rtlCol="0" anchor="ctr"/>
          <a:lstStyle/>
          <a:p>
            <a:pPr indent="0" marL="0">
              <a:buNone/>
            </a:pPr>
            <a:r>
              <a:rPr lang="en-US" sz="2800" b="1" dirty="0">
                <a:solidFill>
                  <a:srgbClr val="000000"/>
                </a:solidFill>
                <a:latin typeface="Cambria" pitchFamily="34" charset="0"/>
                <a:ea typeface="Cambria" pitchFamily="34" charset="-122"/>
                <a:cs typeface="Cambria" pitchFamily="34" charset="-120"/>
              </a:rPr>
              <a:t>Bảng số liệu tổng hợp</a:t>
            </a:r>
            <a:endParaRPr lang="en-US" sz="2800" dirty="0"/>
          </a:p>
        </p:txBody>
      </p:sp>
      <p:graphicFrame>
        <p:nvGraphicFramePr>
          <p:cNvPr id="6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4160520"/>
        </p:xfrm>
        <a:graphic>
          <a:graphicData uri="http://schemas.openxmlformats.org/drawingml/2006/table">
            <a:tbl>
              <a:tblPr/>
              <a:tblGrid>
                <a:gridCol w="1371600"/>
                <a:gridCol w="1828800"/>
                <a:gridCol w="1417320"/>
                <a:gridCol w="1234440"/>
                <a:gridCol w="1188720"/>
                <a:gridCol w="777240"/>
                <a:gridCol w="1005840"/>
                <a:gridCol w="960120"/>
                <a:gridCol w="1280160"/>
              </a:tblGrid>
              <a:tr h="520065">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Config</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Family</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Tương tác</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Học sinh</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Câu hỏi</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KC</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 đa-KC</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 đúng</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c>
                  <a:txBody>
                    <a:bodyPr/>
                    <a:lstStyle/>
                    <a:p>
                      <a:pPr algn="r" indent="0" marL="0">
                        <a:buNone/>
                      </a:pPr>
                      <a:r>
                        <a:rPr lang="en-US" sz="1050" b="1" dirty="0">
                          <a:solidFill>
                            <a:srgbClr val="FFFFFF"/>
                          </a:solidFill>
                          <a:latin typeface="Calibri" pitchFamily="34" charset="0"/>
                          <a:ea typeface="Calibri" pitchFamily="34" charset="-122"/>
                          <a:cs typeface="Calibri" pitchFamily="34" charset="-120"/>
                        </a:rPr>
                        <a:t>Độ dài chuỗi (trung vị)</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1E2761"/>
                    </a:solidFill>
                  </a:tcPr>
                </a:tc>
              </a:tr>
              <a:tr h="520065">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assist09</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l" indent="0" marL="0">
                        <a:buNone/>
                      </a:pPr>
                      <a:r>
                        <a:rPr lang="en-US" sz="1050" dirty="0">
                          <a:solidFill>
                            <a:srgbClr val="000000"/>
                          </a:solidFill>
                          <a:latin typeface="Calibri" pitchFamily="34" charset="0"/>
                          <a:ea typeface="Calibri" pitchFamily="34" charset="-122"/>
                          <a:cs typeface="Calibri" pitchFamily="34" charset="-120"/>
                        </a:rPr>
                        <a:t>ASSISTments 09-10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283,105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4,163</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17,751</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149</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65.8%</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20065">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assist12</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Calibri" pitchFamily="34" charset="0"/>
                          <a:ea typeface="Calibri" pitchFamily="34" charset="-122"/>
                          <a:cs typeface="Calibri" pitchFamily="34" charset="-120"/>
                        </a:rPr>
                        <a:t>ASSISTments 12-13</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2,711,602</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29,018</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53,086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265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69.5%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36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20065">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algebra05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l" indent="0" marL="0">
                        <a:buNone/>
                      </a:pPr>
                      <a:r>
                        <a:rPr lang="en-US" sz="1050" dirty="0">
                          <a:solidFill>
                            <a:srgbClr val="000000"/>
                          </a:solidFill>
                          <a:latin typeface="Calibri" pitchFamily="34" charset="0"/>
                          <a:ea typeface="Calibri" pitchFamily="34" charset="-122"/>
                          <a:cs typeface="Calibri" pitchFamily="34" charset="-120"/>
                        </a:rPr>
                        <a:t>PSLC KDD Cup</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607,025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574</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1,084</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31.4%</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75.5%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574</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20065">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bridge06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Calibri" pitchFamily="34" charset="0"/>
                          <a:ea typeface="Calibri" pitchFamily="34" charset="-122"/>
                          <a:cs typeface="Calibri" pitchFamily="34" charset="-120"/>
                        </a:rPr>
                        <a:t>PSLC KDD Cup</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1,817,476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1,146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19,005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493</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0.4%</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83.2%</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1,362</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20065">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xes3g5m</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l" indent="0" marL="0">
                        <a:buNone/>
                      </a:pPr>
                      <a:r>
                        <a:rPr lang="en-US" sz="1050" dirty="0">
                          <a:solidFill>
                            <a:srgbClr val="000000"/>
                          </a:solidFill>
                          <a:latin typeface="Calibri" pitchFamily="34" charset="0"/>
                          <a:ea typeface="Calibri" pitchFamily="34" charset="-122"/>
                          <a:cs typeface="Calibri" pitchFamily="34" charset="-120"/>
                        </a:rPr>
                        <a:t>XES3G5M</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5,549,184</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18,066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7,651</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865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12.5%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79.5%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285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r h="520065">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eedi</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l" indent="0" marL="0">
                        <a:buNone/>
                      </a:pPr>
                      <a:r>
                        <a:rPr lang="en-US" sz="1050" dirty="0">
                          <a:solidFill>
                            <a:srgbClr val="000000"/>
                          </a:solidFill>
                          <a:latin typeface="Calibri" pitchFamily="34" charset="0"/>
                          <a:ea typeface="Calibri" pitchFamily="34" charset="-122"/>
                          <a:cs typeface="Calibri" pitchFamily="34" charset="-120"/>
                        </a:rPr>
                        <a:t>Eedi NeurIPS'20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15,867,850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118,971</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27,613</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316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8.9%</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64.3%</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88</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FFFFF"/>
                    </a:solidFill>
                  </a:tcPr>
                </a:tc>
              </a:tr>
              <a:tr h="520065">
                <a:tc>
                  <a:txBody>
                    <a:bodyPr/>
                    <a:lstStyle/>
                    <a:p>
                      <a:pPr algn="l" indent="0" marL="0">
                        <a:buNone/>
                      </a:pPr>
                      <a:r>
                        <a:rPr lang="en-US" sz="1050" b="1" dirty="0">
                          <a:solidFill>
                            <a:srgbClr val="000000"/>
                          </a:solidFill>
                          <a:latin typeface="Calibri" pitchFamily="34" charset="0"/>
                          <a:ea typeface="Calibri" pitchFamily="34" charset="-122"/>
                          <a:cs typeface="Calibri" pitchFamily="34" charset="-120"/>
                        </a:rPr>
                        <a:t>junyi</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l" indent="0" marL="0">
                        <a:buNone/>
                      </a:pPr>
                      <a:r>
                        <a:rPr lang="en-US" sz="1050" dirty="0">
                          <a:solidFill>
                            <a:srgbClr val="000000"/>
                          </a:solidFill>
                          <a:latin typeface="Calibri" pitchFamily="34" charset="0"/>
                          <a:ea typeface="Calibri" pitchFamily="34" charset="-122"/>
                          <a:cs typeface="Calibri" pitchFamily="34" charset="-120"/>
                        </a:rPr>
                        <a:t>Junyi Academy</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16,217,311</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72,758</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25,785</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1,326</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0.0%</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70.4%</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c>
                  <a:txBody>
                    <a:bodyPr/>
                    <a:lstStyle/>
                    <a:p>
                      <a:pPr algn="r" indent="0" marL="0">
                        <a:buNone/>
                      </a:pPr>
                      <a:r>
                        <a:rPr lang="en-US" sz="1050" dirty="0">
                          <a:solidFill>
                            <a:srgbClr val="000000"/>
                          </a:solidFill>
                          <a:latin typeface="Calibri" pitchFamily="34" charset="0"/>
                          <a:ea typeface="Calibri" pitchFamily="34" charset="-122"/>
                          <a:cs typeface="Calibri" pitchFamily="34" charset="-120"/>
                        </a:rPr>
                        <a:t>59</a:t>
                      </a:r>
                      <a:endParaRPr lang="en-US" sz="1050" dirty="0">
                        <a:latin typeface="Calibri" charset="0"/>
                        <a:ea typeface="Calibri" charset="0"/>
                        <a:cs typeface="Calibri" charset="0"/>
                      </a:endParaRPr>
                    </a:p>
                  </a:txBody>
                  <a:tcPr marL="76200" marR="76200" marT="38100" marB="38100" anchor="ctr">
                    <a:lnL w="6350" cap="flat" cmpd="sng" algn="ctr">
                      <a:solidFill>
                        <a:srgbClr val="E3E7F1"/>
                      </a:solidFill>
                      <a:prstDash val="solid"/>
                      <a:round/>
                      <a:headEnd type="none" w="med" len="med"/>
                      <a:tailEnd type="none" w="med" len="med"/>
                    </a:lnL>
                    <a:lnR w="6350" cap="flat" cmpd="sng" algn="ctr">
                      <a:solidFill>
                        <a:srgbClr val="E3E7F1"/>
                      </a:solidFill>
                      <a:prstDash val="solid"/>
                      <a:round/>
                      <a:headEnd type="none" w="med" len="med"/>
                      <a:tailEnd type="none" w="med" len="med"/>
                    </a:lnR>
                    <a:lnT w="6350" cap="flat" cmpd="sng" algn="ctr">
                      <a:solidFill>
                        <a:srgbClr val="E3E7F1"/>
                      </a:solidFill>
                      <a:prstDash val="solid"/>
                      <a:round/>
                      <a:headEnd type="none" w="med" len="med"/>
                      <a:tailEnd type="none" w="med" len="med"/>
                    </a:lnT>
                    <a:lnB w="6350" cap="flat" cmpd="sng" algn="ctr">
                      <a:solidFill>
                        <a:srgbClr val="E3E7F1"/>
                      </a:solidFill>
                      <a:prstDash val="solid"/>
                      <a:round/>
                      <a:headEnd type="none" w="med" len="med"/>
                      <a:tailEnd type="none" w="med" len="med"/>
                    </a:lnB>
                    <a:solidFill>
                      <a:srgbClr val="F5F7FC"/>
                    </a:solidFill>
                  </a:tcPr>
                </a:tc>
              </a:tr>
            </a:tbl>
          </a:graphicData>
        </a:graphic>
      </p:graphicFrame>
      <p:sp>
        <p:nvSpPr>
          <p:cNvPr id="5" name="Text 2"/>
          <p:cNvSpPr/>
          <p:nvPr/>
        </p:nvSpPr>
        <p:spPr>
          <a:xfrm>
            <a:off x="548640" y="5760720"/>
            <a:ext cx="11064240" cy="548640"/>
          </a:xfrm>
          <a:prstGeom prst="rect">
            <a:avLst/>
          </a:prstGeom>
          <a:noFill/>
          <a:ln/>
        </p:spPr>
        <p:txBody>
          <a:bodyPr wrap="square" lIns="0" tIns="0" rIns="0" bIns="0" rtlCol="0" anchor="ctr"/>
          <a:lstStyle/>
          <a:p>
            <a:pPr indent="0" marL="0">
              <a:buNone/>
            </a:pPr>
            <a:r>
              <a:rPr lang="en-US" sz="1050" i="1" dirty="0">
                <a:solidFill>
                  <a:srgbClr val="000000"/>
                </a:solidFill>
                <a:latin typeface="Calibri" pitchFamily="34" charset="0"/>
                <a:ea typeface="Calibri" pitchFamily="34" charset="-122"/>
                <a:cs typeface="Calibri" pitchFamily="34" charset="-120"/>
              </a:rPr>
              <a:t>Tổng cộng 43,053,553 tương tác trên 7 config. Chênh lệch quy mô KC vocab lên tới 2 bậc độ lớn (149 ở assist09 so với 1,326 ở junyi) và tỉ lệ đa-KC dao động từ 0% đến 31.4%.</a:t>
            </a:r>
            <a:endParaRPr lang="en-US" sz="1050" dirty="0"/>
          </a:p>
        </p:txBody>
      </p:sp>
      <p:sp>
        <p:nvSpPr>
          <p:cNvPr id="6" name="Text 3"/>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So sánh chéo — bảng tổng hợp</a:t>
            </a:r>
            <a:endParaRPr lang="en-US" sz="1000" dirty="0"/>
          </a:p>
        </p:txBody>
      </p:sp>
      <p:sp>
        <p:nvSpPr>
          <p:cNvPr id="7" name="Text 4"/>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65</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07 · So sánh chéo 7 config  ·  Nguồn: mục 8 "Tổng hợp" (schema chuẩn hoá) – datasets_deep_dive.ipynb</a:t>
            </a:r>
            <a:endParaRPr lang="en-US" sz="1100" dirty="0"/>
          </a:p>
        </p:txBody>
      </p:sp>
      <p:sp>
        <p:nvSpPr>
          <p:cNvPr id="3" name="Text 1"/>
          <p:cNvSpPr/>
          <p:nvPr/>
        </p:nvSpPr>
        <p:spPr>
          <a:xfrm>
            <a:off x="548640" y="658368"/>
            <a:ext cx="10515600" cy="502920"/>
          </a:xfrm>
          <a:prstGeom prst="rect">
            <a:avLst/>
          </a:prstGeom>
          <a:noFill/>
          <a:ln/>
        </p:spPr>
        <p:txBody>
          <a:bodyPr wrap="square" lIns="0" tIns="0" rIns="0" bIns="0" rtlCol="0" anchor="ctr"/>
          <a:lstStyle/>
          <a:p>
            <a:pPr indent="0" marL="0">
              <a:buNone/>
            </a:pPr>
            <a:r>
              <a:rPr lang="en-US" sz="2500" b="1" dirty="0">
                <a:solidFill>
                  <a:srgbClr val="000000"/>
                </a:solidFill>
                <a:latin typeface="Cambria" pitchFamily="34" charset="0"/>
                <a:ea typeface="Cambria" pitchFamily="34" charset="-122"/>
                <a:cs typeface="Cambria" pitchFamily="34" charset="-120"/>
              </a:rPr>
              <a:t>Sơ đồ quan hệ giữa 7 dataset</a:t>
            </a:r>
            <a:endParaRPr lang="en-US" sz="2500" dirty="0"/>
          </a:p>
        </p:txBody>
      </p:sp>
      <p:sp>
        <p:nvSpPr>
          <p:cNvPr id="4" name="Text 2"/>
          <p:cNvSpPr/>
          <p:nvPr/>
        </p:nvSpPr>
        <p:spPr>
          <a:xfrm>
            <a:off x="548640" y="1170432"/>
            <a:ext cx="11064240" cy="365760"/>
          </a:xfrm>
          <a:prstGeom prst="rect">
            <a:avLst/>
          </a:prstGeom>
          <a:noFill/>
          <a:ln/>
        </p:spPr>
        <p:txBody>
          <a:bodyPr wrap="square" lIns="0" tIns="0" rIns="0" bIns="0" rtlCol="0" anchor="ctr"/>
          <a:lstStyle/>
          <a:p>
            <a:pPr indent="0" marL="0">
              <a:buNone/>
            </a:pPr>
            <a:r>
              <a:rPr lang="en-US" sz="1150" i="1" dirty="0">
                <a:solidFill>
                  <a:srgbClr val="000000"/>
                </a:solidFill>
                <a:latin typeface="Calibri" pitchFamily="34" charset="0"/>
                <a:ea typeface="Calibri" pitchFamily="34" charset="-122"/>
                <a:cs typeface="Calibri" pitchFamily="34" charset="-120"/>
              </a:rPr>
              <a:t>KHÔNG có khóa chung giữa 7 nguồn - mỗi dataset độc lập, được CHUẨN HÓA riêng về cùng 1 schema, không phải join tự nhiên.</a:t>
            </a:r>
            <a:endParaRPr lang="en-US" sz="1150" dirty="0"/>
          </a:p>
        </p:txBody>
      </p:sp>
      <p:sp>
        <p:nvSpPr>
          <p:cNvPr id="5" name="Shape 3"/>
          <p:cNvSpPr/>
          <p:nvPr/>
        </p:nvSpPr>
        <p:spPr>
          <a:xfrm>
            <a:off x="5093208" y="3246120"/>
            <a:ext cx="2011680" cy="960120"/>
          </a:xfrm>
          <a:prstGeom prst="roundRect">
            <a:avLst>
              <a:gd name="adj" fmla="val 7619"/>
            </a:avLst>
          </a:prstGeom>
          <a:solidFill>
            <a:srgbClr val="1E2761"/>
          </a:solidFill>
          <a:ln/>
        </p:spPr>
      </p:sp>
      <p:sp>
        <p:nvSpPr>
          <p:cNvPr id="6" name="Text 4"/>
          <p:cNvSpPr/>
          <p:nvPr/>
        </p:nvSpPr>
        <p:spPr>
          <a:xfrm>
            <a:off x="5184648" y="3246120"/>
            <a:ext cx="1828800" cy="960120"/>
          </a:xfrm>
          <a:prstGeom prst="rect">
            <a:avLst/>
          </a:prstGeom>
          <a:noFill/>
          <a:ln/>
        </p:spPr>
        <p:txBody>
          <a:bodyPr wrap="square" lIns="0" tIns="0" rIns="0" bIns="0" rtlCol="0" anchor="ctr"/>
          <a:lstStyle/>
          <a:p>
            <a:pPr algn="ctr" indent="0" marL="0">
              <a:lnSpc>
                <a:spcPct val="120000"/>
              </a:lnSpc>
              <a:buNone/>
            </a:pPr>
            <a:r>
              <a:rPr lang="en-US" sz="1150" b="1" dirty="0">
                <a:solidFill>
                  <a:srgbClr val="FFFFFF"/>
                </a:solidFill>
                <a:latin typeface="Calibri" pitchFamily="34" charset="0"/>
                <a:ea typeface="Calibri" pitchFamily="34" charset="-122"/>
                <a:cs typeface="Calibri" pitchFamily="34" charset="-120"/>
              </a:rPr>
              <a:t>Schema chuẩn hoá
</a:t>
            </a:r>
            <a:endParaRPr lang="en-US" sz="1150" dirty="0"/>
          </a:p>
          <a:p>
            <a:pPr algn="ctr" indent="0" marL="0">
              <a:lnSpc>
                <a:spcPct val="120000"/>
              </a:lnSpc>
              <a:buNone/>
            </a:pPr>
            <a:r>
              <a:rPr lang="en-US" sz="1000" i="1" dirty="0">
                <a:solidFill>
                  <a:srgbClr val="FFFFFF"/>
                </a:solidFill>
                <a:latin typeface="Calibri" pitchFamily="34" charset="0"/>
                <a:ea typeface="Calibri" pitchFamily="34" charset="-122"/>
                <a:cs typeface="Calibri" pitchFamily="34" charset="-120"/>
              </a:rPr>
              <a:t>user, question, kcs[], correct, ts</a:t>
            </a:r>
            <a:endParaRPr lang="en-US" sz="1150" dirty="0"/>
          </a:p>
        </p:txBody>
      </p:sp>
      <p:sp>
        <p:nvSpPr>
          <p:cNvPr id="7" name="Shape 5"/>
          <p:cNvSpPr/>
          <p:nvPr/>
        </p:nvSpPr>
        <p:spPr>
          <a:xfrm>
            <a:off x="1048360" y="1783080"/>
            <a:ext cx="2331720" cy="731520"/>
          </a:xfrm>
          <a:prstGeom prst="roundRect">
            <a:avLst>
              <a:gd name="adj" fmla="val 8750"/>
            </a:avLst>
          </a:prstGeom>
          <a:solidFill>
            <a:srgbClr val="E5EFFA"/>
          </a:solidFill>
          <a:ln w="19050">
            <a:solidFill>
              <a:srgbClr val="2A78D6"/>
            </a:solidFill>
            <a:prstDash val="solid"/>
          </a:ln>
        </p:spPr>
      </p:sp>
      <p:sp>
        <p:nvSpPr>
          <p:cNvPr id="8" name="Text 6"/>
          <p:cNvSpPr/>
          <p:nvPr/>
        </p:nvSpPr>
        <p:spPr>
          <a:xfrm>
            <a:off x="1139800" y="1783080"/>
            <a:ext cx="2148840" cy="7315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assist09</a:t>
            </a:r>
            <a:endParaRPr lang="en-US" sz="1150" dirty="0"/>
          </a:p>
        </p:txBody>
      </p:sp>
      <p:sp>
        <p:nvSpPr>
          <p:cNvPr id="9" name="Shape 7"/>
          <p:cNvSpPr/>
          <p:nvPr/>
        </p:nvSpPr>
        <p:spPr>
          <a:xfrm>
            <a:off x="2214220" y="2514600"/>
            <a:ext cx="3130448" cy="731520"/>
          </a:xfrm>
          <a:prstGeom prst="line">
            <a:avLst/>
          </a:prstGeom>
          <a:noFill/>
          <a:ln w="15875">
            <a:solidFill>
              <a:srgbClr val="2A78D6"/>
            </a:solidFill>
            <a:prstDash val="dash"/>
            <a:headEnd type="none"/>
            <a:tailEnd type="triangle"/>
          </a:ln>
        </p:spPr>
      </p:sp>
      <p:sp>
        <p:nvSpPr>
          <p:cNvPr id="10" name="Shape 8"/>
          <p:cNvSpPr/>
          <p:nvPr/>
        </p:nvSpPr>
        <p:spPr>
          <a:xfrm>
            <a:off x="3636112" y="1783080"/>
            <a:ext cx="2331720" cy="731520"/>
          </a:xfrm>
          <a:prstGeom prst="roundRect">
            <a:avLst>
              <a:gd name="adj" fmla="val 8750"/>
            </a:avLst>
          </a:prstGeom>
          <a:solidFill>
            <a:srgbClr val="FDEDE7"/>
          </a:solidFill>
          <a:ln w="19050">
            <a:solidFill>
              <a:srgbClr val="EB6834"/>
            </a:solidFill>
            <a:prstDash val="solid"/>
          </a:ln>
        </p:spPr>
      </p:sp>
      <p:sp>
        <p:nvSpPr>
          <p:cNvPr id="11" name="Text 9"/>
          <p:cNvSpPr/>
          <p:nvPr/>
        </p:nvSpPr>
        <p:spPr>
          <a:xfrm>
            <a:off x="3727552" y="1783080"/>
            <a:ext cx="2148840" cy="7315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assist12</a:t>
            </a:r>
            <a:endParaRPr lang="en-US" sz="1150" dirty="0"/>
          </a:p>
        </p:txBody>
      </p:sp>
      <p:sp>
        <p:nvSpPr>
          <p:cNvPr id="12" name="Shape 10"/>
          <p:cNvSpPr/>
          <p:nvPr/>
        </p:nvSpPr>
        <p:spPr>
          <a:xfrm>
            <a:off x="4801972" y="2514600"/>
            <a:ext cx="1045616" cy="731520"/>
          </a:xfrm>
          <a:prstGeom prst="line">
            <a:avLst/>
          </a:prstGeom>
          <a:noFill/>
          <a:ln w="15875">
            <a:solidFill>
              <a:srgbClr val="EB6834"/>
            </a:solidFill>
            <a:prstDash val="dash"/>
            <a:headEnd type="none"/>
            <a:tailEnd type="triangle"/>
          </a:ln>
        </p:spPr>
      </p:sp>
      <p:sp>
        <p:nvSpPr>
          <p:cNvPr id="13" name="Shape 11"/>
          <p:cNvSpPr/>
          <p:nvPr/>
        </p:nvSpPr>
        <p:spPr>
          <a:xfrm>
            <a:off x="6223864" y="1783080"/>
            <a:ext cx="2331720" cy="731520"/>
          </a:xfrm>
          <a:prstGeom prst="roundRect">
            <a:avLst>
              <a:gd name="adj" fmla="val 8750"/>
            </a:avLst>
          </a:prstGeom>
          <a:solidFill>
            <a:srgbClr val="E0F0E0"/>
          </a:solidFill>
          <a:ln w="19050">
            <a:solidFill>
              <a:srgbClr val="008300"/>
            </a:solidFill>
            <a:prstDash val="solid"/>
          </a:ln>
        </p:spPr>
      </p:sp>
      <p:sp>
        <p:nvSpPr>
          <p:cNvPr id="14" name="Text 12"/>
          <p:cNvSpPr/>
          <p:nvPr/>
        </p:nvSpPr>
        <p:spPr>
          <a:xfrm>
            <a:off x="6315304" y="1783080"/>
            <a:ext cx="2148840" cy="7315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eedi</a:t>
            </a:r>
            <a:endParaRPr lang="en-US" sz="1150" dirty="0"/>
          </a:p>
        </p:txBody>
      </p:sp>
      <p:sp>
        <p:nvSpPr>
          <p:cNvPr id="15" name="Shape 13"/>
          <p:cNvSpPr/>
          <p:nvPr/>
        </p:nvSpPr>
        <p:spPr>
          <a:xfrm flipH="1">
            <a:off x="6350508" y="2514600"/>
            <a:ext cx="1039216" cy="731520"/>
          </a:xfrm>
          <a:prstGeom prst="line">
            <a:avLst/>
          </a:prstGeom>
          <a:noFill/>
          <a:ln w="15875">
            <a:solidFill>
              <a:srgbClr val="008300"/>
            </a:solidFill>
            <a:prstDash val="dash"/>
            <a:headEnd type="none"/>
            <a:tailEnd type="triangle"/>
          </a:ln>
        </p:spPr>
      </p:sp>
      <p:sp>
        <p:nvSpPr>
          <p:cNvPr id="16" name="Shape 14"/>
          <p:cNvSpPr/>
          <p:nvPr/>
        </p:nvSpPr>
        <p:spPr>
          <a:xfrm>
            <a:off x="8811616" y="1783080"/>
            <a:ext cx="2331720" cy="731520"/>
          </a:xfrm>
          <a:prstGeom prst="roundRect">
            <a:avLst>
              <a:gd name="adj" fmla="val 8750"/>
            </a:avLst>
          </a:prstGeom>
          <a:solidFill>
            <a:srgbClr val="E9E7F4"/>
          </a:solidFill>
          <a:ln w="19050">
            <a:solidFill>
              <a:srgbClr val="4A3AA7"/>
            </a:solidFill>
            <a:prstDash val="solid"/>
          </a:ln>
        </p:spPr>
      </p:sp>
      <p:sp>
        <p:nvSpPr>
          <p:cNvPr id="17" name="Text 15"/>
          <p:cNvSpPr/>
          <p:nvPr/>
        </p:nvSpPr>
        <p:spPr>
          <a:xfrm>
            <a:off x="8903056" y="1783080"/>
            <a:ext cx="2148840" cy="7315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junyi</a:t>
            </a:r>
            <a:endParaRPr lang="en-US" sz="1150" dirty="0"/>
          </a:p>
        </p:txBody>
      </p:sp>
      <p:sp>
        <p:nvSpPr>
          <p:cNvPr id="18" name="Shape 16"/>
          <p:cNvSpPr/>
          <p:nvPr/>
        </p:nvSpPr>
        <p:spPr>
          <a:xfrm flipH="1">
            <a:off x="6853428" y="2514600"/>
            <a:ext cx="3124048" cy="731520"/>
          </a:xfrm>
          <a:prstGeom prst="line">
            <a:avLst/>
          </a:prstGeom>
          <a:noFill/>
          <a:ln w="15875">
            <a:solidFill>
              <a:srgbClr val="4A3AA7"/>
            </a:solidFill>
            <a:prstDash val="dash"/>
            <a:headEnd type="none"/>
            <a:tailEnd type="triangle"/>
          </a:ln>
        </p:spPr>
      </p:sp>
      <p:sp>
        <p:nvSpPr>
          <p:cNvPr id="19" name="Shape 17"/>
          <p:cNvSpPr/>
          <p:nvPr/>
        </p:nvSpPr>
        <p:spPr>
          <a:xfrm>
            <a:off x="2342236" y="5257800"/>
            <a:ext cx="2331720" cy="731520"/>
          </a:xfrm>
          <a:prstGeom prst="roundRect">
            <a:avLst>
              <a:gd name="adj" fmla="val 8750"/>
            </a:avLst>
          </a:prstGeom>
          <a:solidFill>
            <a:srgbClr val="E4F5EF"/>
          </a:solidFill>
          <a:ln w="19050">
            <a:solidFill>
              <a:srgbClr val="1BAF7A"/>
            </a:solidFill>
            <a:prstDash val="solid"/>
          </a:ln>
        </p:spPr>
      </p:sp>
      <p:sp>
        <p:nvSpPr>
          <p:cNvPr id="20" name="Text 18"/>
          <p:cNvSpPr/>
          <p:nvPr/>
        </p:nvSpPr>
        <p:spPr>
          <a:xfrm>
            <a:off x="2433676" y="5257800"/>
            <a:ext cx="2148840" cy="7315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algebra05</a:t>
            </a:r>
            <a:endParaRPr lang="en-US" sz="1150" dirty="0"/>
          </a:p>
        </p:txBody>
      </p:sp>
      <p:sp>
        <p:nvSpPr>
          <p:cNvPr id="21" name="Shape 19"/>
          <p:cNvSpPr/>
          <p:nvPr/>
        </p:nvSpPr>
        <p:spPr>
          <a:xfrm flipV="1">
            <a:off x="3508096" y="4206240"/>
            <a:ext cx="1920392" cy="1051560"/>
          </a:xfrm>
          <a:prstGeom prst="line">
            <a:avLst/>
          </a:prstGeom>
          <a:noFill/>
          <a:ln w="15875">
            <a:solidFill>
              <a:srgbClr val="1BAF7A"/>
            </a:solidFill>
            <a:prstDash val="dash"/>
            <a:headEnd type="none"/>
            <a:tailEnd type="triangle"/>
          </a:ln>
        </p:spPr>
      </p:sp>
      <p:sp>
        <p:nvSpPr>
          <p:cNvPr id="22" name="Shape 20"/>
          <p:cNvSpPr/>
          <p:nvPr/>
        </p:nvSpPr>
        <p:spPr>
          <a:xfrm>
            <a:off x="4929988" y="5257800"/>
            <a:ext cx="2331720" cy="731520"/>
          </a:xfrm>
          <a:prstGeom prst="roundRect">
            <a:avLst>
              <a:gd name="adj" fmla="val 8750"/>
            </a:avLst>
          </a:prstGeom>
          <a:solidFill>
            <a:srgbClr val="FDF4E0"/>
          </a:solidFill>
          <a:ln w="19050">
            <a:solidFill>
              <a:srgbClr val="EDA100"/>
            </a:solidFill>
            <a:prstDash val="solid"/>
          </a:ln>
        </p:spPr>
      </p:sp>
      <p:sp>
        <p:nvSpPr>
          <p:cNvPr id="23" name="Text 21"/>
          <p:cNvSpPr/>
          <p:nvPr/>
        </p:nvSpPr>
        <p:spPr>
          <a:xfrm>
            <a:off x="5021428" y="5257800"/>
            <a:ext cx="2148840" cy="7315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bridge06</a:t>
            </a:r>
            <a:endParaRPr lang="en-US" sz="1150" dirty="0"/>
          </a:p>
        </p:txBody>
      </p:sp>
      <p:sp>
        <p:nvSpPr>
          <p:cNvPr id="24" name="Shape 22"/>
          <p:cNvSpPr/>
          <p:nvPr/>
        </p:nvSpPr>
        <p:spPr>
          <a:xfrm flipV="1">
            <a:off x="6095848" y="4206240"/>
            <a:ext cx="3200" cy="1051560"/>
          </a:xfrm>
          <a:prstGeom prst="line">
            <a:avLst/>
          </a:prstGeom>
          <a:noFill/>
          <a:ln w="15875">
            <a:solidFill>
              <a:srgbClr val="EDA100"/>
            </a:solidFill>
            <a:prstDash val="dash"/>
            <a:headEnd type="none"/>
            <a:tailEnd type="triangle"/>
          </a:ln>
        </p:spPr>
      </p:sp>
      <p:sp>
        <p:nvSpPr>
          <p:cNvPr id="25" name="Shape 23"/>
          <p:cNvSpPr/>
          <p:nvPr/>
        </p:nvSpPr>
        <p:spPr>
          <a:xfrm>
            <a:off x="7517740" y="5257800"/>
            <a:ext cx="2331720" cy="731520"/>
          </a:xfrm>
          <a:prstGeom prst="roundRect">
            <a:avLst>
              <a:gd name="adj" fmla="val 8750"/>
            </a:avLst>
          </a:prstGeom>
          <a:solidFill>
            <a:srgbClr val="FCEFF4"/>
          </a:solidFill>
          <a:ln w="19050">
            <a:solidFill>
              <a:srgbClr val="E87BA4"/>
            </a:solidFill>
            <a:prstDash val="solid"/>
          </a:ln>
        </p:spPr>
      </p:sp>
      <p:sp>
        <p:nvSpPr>
          <p:cNvPr id="26" name="Text 24"/>
          <p:cNvSpPr/>
          <p:nvPr/>
        </p:nvSpPr>
        <p:spPr>
          <a:xfrm>
            <a:off x="7609180" y="5257800"/>
            <a:ext cx="2148840" cy="731520"/>
          </a:xfrm>
          <a:prstGeom prst="rect">
            <a:avLst/>
          </a:prstGeom>
          <a:noFill/>
          <a:ln/>
        </p:spPr>
        <p:txBody>
          <a:bodyPr wrap="square" lIns="0" tIns="0" rIns="0" bIns="0" rtlCol="0" anchor="ctr"/>
          <a:lstStyle/>
          <a:p>
            <a:pPr algn="ctr" indent="0" marL="0">
              <a:lnSpc>
                <a:spcPct val="115000"/>
              </a:lnSpc>
              <a:buNone/>
            </a:pPr>
            <a:r>
              <a:rPr lang="en-US" sz="1150" b="1" dirty="0">
                <a:solidFill>
                  <a:srgbClr val="000000"/>
                </a:solidFill>
                <a:latin typeface="Calibri" pitchFamily="34" charset="0"/>
                <a:ea typeface="Calibri" pitchFamily="34" charset="-122"/>
                <a:cs typeface="Calibri" pitchFamily="34" charset="-120"/>
              </a:rPr>
              <a:t>xes3g5m</a:t>
            </a:r>
            <a:endParaRPr lang="en-US" sz="1150" dirty="0"/>
          </a:p>
        </p:txBody>
      </p:sp>
      <p:sp>
        <p:nvSpPr>
          <p:cNvPr id="27" name="Shape 25"/>
          <p:cNvSpPr/>
          <p:nvPr/>
        </p:nvSpPr>
        <p:spPr>
          <a:xfrm flipH="1" flipV="1">
            <a:off x="6769608" y="4206240"/>
            <a:ext cx="1913992" cy="1051560"/>
          </a:xfrm>
          <a:prstGeom prst="line">
            <a:avLst/>
          </a:prstGeom>
          <a:noFill/>
          <a:ln w="15875">
            <a:solidFill>
              <a:srgbClr val="E87BA4"/>
            </a:solidFill>
            <a:prstDash val="dash"/>
            <a:headEnd type="none"/>
            <a:tailEnd type="triangle"/>
          </a:ln>
        </p:spPr>
      </p:sp>
      <p:sp>
        <p:nvSpPr>
          <p:cNvPr id="28" name="Text 26"/>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So sánh chéo — sơ đồ quan hệ giữa các dataset</a:t>
            </a:r>
            <a:endParaRPr lang="en-US" sz="1000" dirty="0"/>
          </a:p>
        </p:txBody>
      </p:sp>
      <p:sp>
        <p:nvSpPr>
          <p:cNvPr id="29" name="Text 27"/>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66</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06 · So sánh chéo 7 config  ·  Nguồn: mục 7 (biểu đồ quy mô/KC/đúng/đa-KC) – datasets_deep_dive.ipynb</a:t>
            </a:r>
            <a:endParaRPr lang="en-US" sz="1100" dirty="0"/>
          </a:p>
        </p:txBody>
      </p:sp>
      <p:sp>
        <p:nvSpPr>
          <p:cNvPr id="3" name="Text 1"/>
          <p:cNvSpPr/>
          <p:nvPr/>
        </p:nvSpPr>
        <p:spPr>
          <a:xfrm>
            <a:off x="548640" y="658368"/>
            <a:ext cx="10058400" cy="548640"/>
          </a:xfrm>
          <a:prstGeom prst="rect">
            <a:avLst/>
          </a:prstGeom>
          <a:noFill/>
          <a:ln/>
        </p:spPr>
        <p:txBody>
          <a:bodyPr wrap="square" lIns="0" tIns="0" rIns="0" bIns="0" rtlCol="0" anchor="ctr"/>
          <a:lstStyle/>
          <a:p>
            <a:pPr indent="0" marL="0">
              <a:buNone/>
            </a:pPr>
            <a:r>
              <a:rPr lang="en-US" sz="2600" b="1" dirty="0">
                <a:solidFill>
                  <a:srgbClr val="000000"/>
                </a:solidFill>
                <a:latin typeface="Cambria" pitchFamily="34" charset="0"/>
                <a:ea typeface="Cambria" pitchFamily="34" charset="-122"/>
                <a:cs typeface="Cambria" pitchFamily="34" charset="-120"/>
              </a:rPr>
              <a:t>Quy mô, số KC, độ chính xác &amp; tỉ lệ đa-KC</a:t>
            </a:r>
            <a:endParaRPr lang="en-US" sz="2600" dirty="0"/>
          </a:p>
        </p:txBody>
      </p:sp>
      <p:pic>
        <p:nvPicPr>
          <p:cNvPr id="4" name="Image 0" descr="/tmp/claude-1000/-home-admincsc-workspace-binh-openscience-kt-workspace/c4c4a90d-95e7-4615-8c88-d95bfdcdf616/scratchpad/pptx_assets/fig_67.png">    </p:cNvPr>
          <p:cNvPicPr>
            <a:picLocks noChangeAspect="1"/>
          </p:cNvPicPr>
          <p:nvPr/>
        </p:nvPicPr>
        <p:blipFill>
          <a:blip r:embed="rId1"/>
          <a:stretch>
            <a:fillRect/>
          </a:stretch>
        </p:blipFill>
        <p:spPr>
          <a:xfrm>
            <a:off x="3904544" y="1371600"/>
            <a:ext cx="7031624" cy="4846320"/>
          </a:xfrm>
          <a:prstGeom prst="rect">
            <a:avLst/>
          </a:prstGeom>
        </p:spPr>
      </p:pic>
      <p:sp>
        <p:nvSpPr>
          <p:cNvPr id="5" name="Text 2"/>
          <p:cNvSpPr/>
          <p:nvPr/>
        </p:nvSpPr>
        <p:spPr>
          <a:xfrm>
            <a:off x="548640" y="1828800"/>
            <a:ext cx="2377440" cy="4206240"/>
          </a:xfrm>
          <a:prstGeom prst="rect">
            <a:avLst/>
          </a:prstGeom>
          <a:noFill/>
          <a:ln/>
        </p:spPr>
        <p:txBody>
          <a:bodyPr wrap="square" lIns="0" tIns="0" rIns="0" bIns="0" rtlCol="0" anchor="t"/>
          <a:lstStyle/>
          <a:p>
            <a:pPr marL="342900" indent="-342900">
              <a:lnSpc>
                <a:spcPct val="125000"/>
              </a:lnSpc>
              <a:spcAft>
                <a:spcPts val="1600"/>
              </a:spcAft>
              <a:buSzPct val="100000"/>
              <a:buChar char="•"/>
            </a:pPr>
            <a:r>
              <a:rPr lang="en-US" sz="1150" dirty="0">
                <a:solidFill>
                  <a:srgbClr val="000000"/>
                </a:solidFill>
                <a:latin typeface="Calibri" pitchFamily="34" charset="0"/>
                <a:ea typeface="Calibri" pitchFamily="34" charset="-122"/>
                <a:cs typeface="Calibri" pitchFamily="34" charset="-120"/>
              </a:rPr>
              <a:t>Eedi lớn hơn assist09 56 lần, junyi lớn hơn 57 lần, về số tương tác.</a:t>
            </a:r>
            <a:endParaRPr lang="en-US" sz="1150" dirty="0"/>
          </a:p>
          <a:p>
            <a:pPr marL="342900" indent="-342900">
              <a:lnSpc>
                <a:spcPct val="125000"/>
              </a:lnSpc>
              <a:spcAft>
                <a:spcPts val="1600"/>
              </a:spcAft>
              <a:buSzPct val="100000"/>
              <a:buChar char="•"/>
            </a:pPr>
            <a:r>
              <a:rPr lang="en-US" sz="1150" dirty="0">
                <a:solidFill>
                  <a:srgbClr val="000000"/>
                </a:solidFill>
                <a:latin typeface="Calibri" pitchFamily="34" charset="0"/>
                <a:ea typeface="Calibri" pitchFamily="34" charset="-122"/>
                <a:cs typeface="Calibri" pitchFamily="34" charset="-120"/>
              </a:rPr>
              <a:t>junyi có KC vocab lớn nhất (1,326); algebra05 nhỏ nhất (112).</a:t>
            </a:r>
            <a:endParaRPr lang="en-US" sz="1150" dirty="0"/>
          </a:p>
          <a:p>
            <a:pPr marL="342900" indent="-342900">
              <a:lnSpc>
                <a:spcPct val="125000"/>
              </a:lnSpc>
              <a:spcAft>
                <a:spcPts val="1600"/>
              </a:spcAft>
              <a:buSzPct val="100000"/>
              <a:buChar char="•"/>
            </a:pPr>
            <a:r>
              <a:rPr lang="en-US" sz="1150" dirty="0">
                <a:solidFill>
                  <a:srgbClr val="000000"/>
                </a:solidFill>
                <a:latin typeface="Calibri" pitchFamily="34" charset="0"/>
                <a:ea typeface="Calibri" pitchFamily="34" charset="-122"/>
                <a:cs typeface="Calibri" pitchFamily="34" charset="-120"/>
              </a:rPr>
              <a:t>bridge06 có tỉ lệ đúng cao nhất (83.2%); eedi thấp nhất (64.3%).</a:t>
            </a:r>
            <a:endParaRPr lang="en-US" sz="1150" dirty="0"/>
          </a:p>
          <a:p>
            <a:pPr marL="342900" indent="-342900">
              <a:lnSpc>
                <a:spcPct val="125000"/>
              </a:lnSpc>
              <a:spcAft>
                <a:spcPts val="1600"/>
              </a:spcAft>
              <a:buSzPct val="100000"/>
              <a:buChar char="•"/>
            </a:pPr>
            <a:r>
              <a:rPr lang="en-US" sz="1150" dirty="0">
                <a:solidFill>
                  <a:srgbClr val="000000"/>
                </a:solidFill>
                <a:latin typeface="Calibri" pitchFamily="34" charset="0"/>
                <a:ea typeface="Calibri" pitchFamily="34" charset="-122"/>
                <a:cs typeface="Calibri" pitchFamily="34" charset="-120"/>
              </a:rPr>
              <a:t>algebra05 dẫn đầu tỉ lệ đa-KC (31.4%) — assist09/assist12/junyi là 0%.</a:t>
            </a:r>
            <a:endParaRPr lang="en-US" sz="1150" dirty="0"/>
          </a:p>
        </p:txBody>
      </p:sp>
      <p:sp>
        <p:nvSpPr>
          <p:cNvPr id="6" name="Text 3"/>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So sánh chéo — quy mô &amp; đặc điểm</a:t>
            </a:r>
            <a:endParaRPr lang="en-US" sz="1000" dirty="0"/>
          </a:p>
        </p:txBody>
      </p:sp>
      <p:sp>
        <p:nvSpPr>
          <p:cNvPr id="7" name="Text 4"/>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67</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06 · So sánh chéo 7 config  ·  Nguồn: mục 7 (small multiples độ dài chuỗi) – datasets_deep_dive.ipynb</a:t>
            </a:r>
            <a:endParaRPr lang="en-US" sz="1100" dirty="0"/>
          </a:p>
        </p:txBody>
      </p:sp>
      <p:sp>
        <p:nvSpPr>
          <p:cNvPr id="3" name="Text 1"/>
          <p:cNvSpPr/>
          <p:nvPr/>
        </p:nvSpPr>
        <p:spPr>
          <a:xfrm>
            <a:off x="548640" y="658368"/>
            <a:ext cx="10058400" cy="548640"/>
          </a:xfrm>
          <a:prstGeom prst="rect">
            <a:avLst/>
          </a:prstGeom>
          <a:noFill/>
          <a:ln/>
        </p:spPr>
        <p:txBody>
          <a:bodyPr wrap="square" lIns="0" tIns="0" rIns="0" bIns="0" rtlCol="0" anchor="ctr"/>
          <a:lstStyle/>
          <a:p>
            <a:pPr indent="0" marL="0">
              <a:buNone/>
            </a:pPr>
            <a:r>
              <a:rPr lang="en-US" sz="2600" b="1" dirty="0">
                <a:solidFill>
                  <a:srgbClr val="000000"/>
                </a:solidFill>
                <a:latin typeface="Cambria" pitchFamily="34" charset="0"/>
                <a:ea typeface="Cambria" pitchFamily="34" charset="-122"/>
                <a:cs typeface="Cambria" pitchFamily="34" charset="-120"/>
              </a:rPr>
              <a:t>Phân phối độ dài chuỗi mỗi học sinh</a:t>
            </a:r>
            <a:endParaRPr lang="en-US" sz="2600" dirty="0"/>
          </a:p>
        </p:txBody>
      </p:sp>
      <p:sp>
        <p:nvSpPr>
          <p:cNvPr id="4" name="Text 2"/>
          <p:cNvSpPr/>
          <p:nvPr/>
        </p:nvSpPr>
        <p:spPr>
          <a:xfrm>
            <a:off x="548640" y="1188720"/>
            <a:ext cx="10515600" cy="274320"/>
          </a:xfrm>
          <a:prstGeom prst="rect">
            <a:avLst/>
          </a:prstGeom>
          <a:noFill/>
          <a:ln/>
        </p:spPr>
        <p:txBody>
          <a:bodyPr wrap="square" lIns="0" tIns="0" rIns="0" bIns="0" rtlCol="0" anchor="ctr"/>
          <a:lstStyle/>
          <a:p>
            <a:pPr indent="0" marL="0">
              <a:buNone/>
            </a:pPr>
            <a:r>
              <a:rPr lang="en-US" sz="1100" i="1" dirty="0">
                <a:solidFill>
                  <a:srgbClr val="000000"/>
                </a:solidFill>
                <a:latin typeface="Calibri" pitchFamily="34" charset="0"/>
                <a:ea typeface="Calibri" pitchFamily="34" charset="-122"/>
                <a:cs typeface="Calibri" pitchFamily="34" charset="-120"/>
              </a:rPr>
              <a:t>Mỗi ô giữ đúng màu cố định của dataset (small multiples) để tránh chồng lấn 7 màu trên cùng 1 biểu đồ.</a:t>
            </a:r>
            <a:endParaRPr lang="en-US" sz="1100" dirty="0"/>
          </a:p>
        </p:txBody>
      </p:sp>
      <p:pic>
        <p:nvPicPr>
          <p:cNvPr id="5" name="Image 0" descr="/tmp/claude-1000/-home-admincsc-workspace-binh-openscience-kt-workspace/c4c4a90d-95e7-4615-8c88-d95bfdcdf616/scratchpad/pptx_assets/fig_68.png">    </p:cNvPr>
          <p:cNvPicPr>
            <a:picLocks noChangeAspect="1"/>
          </p:cNvPicPr>
          <p:nvPr/>
        </p:nvPicPr>
        <p:blipFill>
          <a:blip r:embed="rId1"/>
          <a:stretch>
            <a:fillRect/>
          </a:stretch>
        </p:blipFill>
        <p:spPr>
          <a:xfrm>
            <a:off x="723630" y="1600200"/>
            <a:ext cx="10714259" cy="4434840"/>
          </a:xfrm>
          <a:prstGeom prst="rect">
            <a:avLst/>
          </a:prstGeom>
        </p:spPr>
      </p:pic>
      <p:sp>
        <p:nvSpPr>
          <p:cNvPr id="6" name="Text 3"/>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So sánh chéo — độ dài chuỗi</a:t>
            </a:r>
            <a:endParaRPr lang="en-US" sz="1000" dirty="0"/>
          </a:p>
        </p:txBody>
      </p:sp>
      <p:sp>
        <p:nvSpPr>
          <p:cNvPr id="7" name="Text 4"/>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68</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274320"/>
          </a:xfrm>
          <a:prstGeom prst="rect">
            <a:avLst/>
          </a:prstGeom>
          <a:noFill/>
          <a:ln/>
        </p:spPr>
        <p:txBody>
          <a:bodyPr wrap="square" lIns="0" tIns="0" rIns="0" bIns="0" rtlCol="0" anchor="ctr"/>
          <a:lstStyle/>
          <a:p>
            <a:pPr indent="0" marL="0">
              <a:buNone/>
            </a:pPr>
            <a:r>
              <a:rPr lang="en-US" sz="1100" b="1" dirty="0">
                <a:solidFill>
                  <a:srgbClr val="000000"/>
                </a:solidFill>
                <a:latin typeface="Calibri" pitchFamily="34" charset="0"/>
                <a:ea typeface="Calibri" pitchFamily="34" charset="-122"/>
                <a:cs typeface="Calibri" pitchFamily="34" charset="-120"/>
              </a:rPr>
              <a:t>06 · So sánh chéo 7 config  ·  Nguồn: mục 7 (ma trận modality) – datasets_deep_dive.ipynb</a:t>
            </a:r>
            <a:endParaRPr lang="en-US" sz="1100" dirty="0"/>
          </a:p>
        </p:txBody>
      </p:sp>
      <p:sp>
        <p:nvSpPr>
          <p:cNvPr id="3" name="Text 1"/>
          <p:cNvSpPr/>
          <p:nvPr/>
        </p:nvSpPr>
        <p:spPr>
          <a:xfrm>
            <a:off x="548640" y="658368"/>
            <a:ext cx="10058400" cy="548640"/>
          </a:xfrm>
          <a:prstGeom prst="rect">
            <a:avLst/>
          </a:prstGeom>
          <a:noFill/>
          <a:ln/>
        </p:spPr>
        <p:txBody>
          <a:bodyPr wrap="square" lIns="0" tIns="0" rIns="0" bIns="0" rtlCol="0" anchor="ctr"/>
          <a:lstStyle/>
          <a:p>
            <a:pPr indent="0" marL="0">
              <a:buNone/>
            </a:pPr>
            <a:r>
              <a:rPr lang="en-US" sz="2600" b="1" dirty="0">
                <a:solidFill>
                  <a:srgbClr val="000000"/>
                </a:solidFill>
                <a:latin typeface="Cambria" pitchFamily="34" charset="0"/>
                <a:ea typeface="Cambria" pitchFamily="34" charset="-122"/>
                <a:cs typeface="Cambria" pitchFamily="34" charset="-120"/>
              </a:rPr>
              <a:t>Modality có/không theo dataset</a:t>
            </a:r>
            <a:endParaRPr lang="en-US" sz="2600" dirty="0"/>
          </a:p>
        </p:txBody>
      </p:sp>
      <p:pic>
        <p:nvPicPr>
          <p:cNvPr id="4" name="Image 0" descr="/tmp/claude-1000/-home-admincsc-workspace-binh-openscience-kt-workspace/c4c4a90d-95e7-4615-8c88-d95bfdcdf616/scratchpad/pptx_assets/fig_69.png">    </p:cNvPr>
          <p:cNvPicPr>
            <a:picLocks noChangeAspect="1"/>
          </p:cNvPicPr>
          <p:nvPr/>
        </p:nvPicPr>
        <p:blipFill>
          <a:blip r:embed="rId1"/>
          <a:stretch>
            <a:fillRect/>
          </a:stretch>
        </p:blipFill>
        <p:spPr>
          <a:xfrm>
            <a:off x="548640" y="1574867"/>
            <a:ext cx="6126480" cy="4348346"/>
          </a:xfrm>
          <a:prstGeom prst="rect">
            <a:avLst/>
          </a:prstGeom>
        </p:spPr>
      </p:pic>
      <p:sp>
        <p:nvSpPr>
          <p:cNvPr id="5" name="Shape 2"/>
          <p:cNvSpPr/>
          <p:nvPr/>
        </p:nvSpPr>
        <p:spPr>
          <a:xfrm>
            <a:off x="6903720" y="1508760"/>
            <a:ext cx="4754880" cy="987552"/>
          </a:xfrm>
          <a:prstGeom prst="roundRect">
            <a:avLst>
              <a:gd name="adj" fmla="val 4630"/>
            </a:avLst>
          </a:prstGeom>
          <a:solidFill>
            <a:srgbClr val="F5F7FC"/>
          </a:solidFill>
          <a:ln w="9525">
            <a:solidFill>
              <a:srgbClr val="E3E7F1"/>
            </a:solidFill>
            <a:prstDash val="solid"/>
          </a:ln>
        </p:spPr>
      </p:sp>
      <p:sp>
        <p:nvSpPr>
          <p:cNvPr id="6" name="Text 3"/>
          <p:cNvSpPr/>
          <p:nvPr/>
        </p:nvSpPr>
        <p:spPr>
          <a:xfrm>
            <a:off x="7086600" y="1581912"/>
            <a:ext cx="4389120" cy="841248"/>
          </a:xfrm>
          <a:prstGeom prst="rect">
            <a:avLst/>
          </a:prstGeom>
          <a:noFill/>
          <a:ln/>
        </p:spPr>
        <p:txBody>
          <a:bodyPr wrap="square" lIns="0" tIns="0" rIns="0" bIns="0" rtlCol="0" anchor="t"/>
          <a:lstStyle/>
          <a:p>
            <a:pPr indent="0" marL="0">
              <a:lnSpc>
                <a:spcPct val="110000"/>
              </a:lnSpc>
              <a:buNone/>
            </a:pPr>
            <a:r>
              <a:rPr lang="en-US" sz="1200" b="1" dirty="0">
                <a:solidFill>
                  <a:srgbClr val="000000"/>
                </a:solidFill>
                <a:latin typeface="Calibri" pitchFamily="34" charset="0"/>
                <a:ea typeface="Calibri" pitchFamily="34" charset="-122"/>
                <a:cs typeface="Calibri" pitchFamily="34" charset="-120"/>
              </a:rPr>
              <a:t>Nhãn cảm xúc (affect)
</a:t>
            </a:r>
            <a:pPr indent="0" marL="0">
              <a:lnSpc>
                <a:spcPct val="110000"/>
              </a:lnSpc>
              <a:buNone/>
            </a:pPr>
            <a:r>
              <a:rPr lang="en-US" sz="1000" dirty="0">
                <a:solidFill>
                  <a:srgbClr val="000000"/>
                </a:solidFill>
                <a:latin typeface="Calibri" pitchFamily="34" charset="0"/>
                <a:ea typeface="Calibri" pitchFamily="34" charset="-122"/>
                <a:cs typeface="Calibri" pitchFamily="34" charset="-120"/>
              </a:rPr>
              <a:t>Chỉ có ở assist12 — 4 điểm dự đoán FRUSTRATED/CONFUSED/CONCENTRATING/BORED.</a:t>
            </a:r>
            <a:endParaRPr lang="en-US" sz="1200" dirty="0"/>
          </a:p>
        </p:txBody>
      </p:sp>
      <p:sp>
        <p:nvSpPr>
          <p:cNvPr id="7" name="Shape 4"/>
          <p:cNvSpPr/>
          <p:nvPr/>
        </p:nvSpPr>
        <p:spPr>
          <a:xfrm>
            <a:off x="6903720" y="2624328"/>
            <a:ext cx="4754880" cy="987552"/>
          </a:xfrm>
          <a:prstGeom prst="roundRect">
            <a:avLst>
              <a:gd name="adj" fmla="val 4630"/>
            </a:avLst>
          </a:prstGeom>
          <a:solidFill>
            <a:srgbClr val="F5F7FC"/>
          </a:solidFill>
          <a:ln w="9525">
            <a:solidFill>
              <a:srgbClr val="E3E7F1"/>
            </a:solidFill>
            <a:prstDash val="solid"/>
          </a:ln>
        </p:spPr>
      </p:sp>
      <p:sp>
        <p:nvSpPr>
          <p:cNvPr id="8" name="Text 5"/>
          <p:cNvSpPr/>
          <p:nvPr/>
        </p:nvSpPr>
        <p:spPr>
          <a:xfrm>
            <a:off x="7086600" y="2697480"/>
            <a:ext cx="4389120" cy="841248"/>
          </a:xfrm>
          <a:prstGeom prst="rect">
            <a:avLst/>
          </a:prstGeom>
          <a:noFill/>
          <a:ln/>
        </p:spPr>
        <p:txBody>
          <a:bodyPr wrap="square" lIns="0" tIns="0" rIns="0" bIns="0" rtlCol="0" anchor="t"/>
          <a:lstStyle/>
          <a:p>
            <a:pPr indent="0" marL="0">
              <a:lnSpc>
                <a:spcPct val="110000"/>
              </a:lnSpc>
              <a:buNone/>
            </a:pPr>
            <a:r>
              <a:rPr lang="en-US" sz="1200" b="1" dirty="0">
                <a:solidFill>
                  <a:srgbClr val="000000"/>
                </a:solidFill>
                <a:latin typeface="Calibri" pitchFamily="34" charset="0"/>
                <a:ea typeface="Calibri" pitchFamily="34" charset="-122"/>
                <a:cs typeface="Calibri" pitchFamily="34" charset="-120"/>
              </a:rPr>
              <a:t>Ảnh / nội dung phong phú
</a:t>
            </a:r>
            <a:pPr indent="0" marL="0">
              <a:lnSpc>
                <a:spcPct val="110000"/>
              </a:lnSpc>
              <a:buNone/>
            </a:pPr>
            <a:r>
              <a:rPr lang="en-US" sz="1000" dirty="0">
                <a:solidFill>
                  <a:srgbClr val="000000"/>
                </a:solidFill>
                <a:latin typeface="Calibri" pitchFamily="34" charset="0"/>
                <a:ea typeface="Calibri" pitchFamily="34" charset="-122"/>
                <a:cs typeface="Calibri" pitchFamily="34" charset="-120"/>
              </a:rPr>
              <a:t>Chỉ có ở eedi và xes3g5m — ảnh minh hoạ + (riêng xes3g5m) lời giải văn bản đầy đủ.</a:t>
            </a:r>
            <a:endParaRPr lang="en-US" sz="1200" dirty="0"/>
          </a:p>
        </p:txBody>
      </p:sp>
      <p:sp>
        <p:nvSpPr>
          <p:cNvPr id="9" name="Shape 6"/>
          <p:cNvSpPr/>
          <p:nvPr/>
        </p:nvSpPr>
        <p:spPr>
          <a:xfrm>
            <a:off x="6903720" y="3739896"/>
            <a:ext cx="4754880" cy="987552"/>
          </a:xfrm>
          <a:prstGeom prst="roundRect">
            <a:avLst>
              <a:gd name="adj" fmla="val 4630"/>
            </a:avLst>
          </a:prstGeom>
          <a:solidFill>
            <a:srgbClr val="F5F7FC"/>
          </a:solidFill>
          <a:ln w="9525">
            <a:solidFill>
              <a:srgbClr val="E3E7F1"/>
            </a:solidFill>
            <a:prstDash val="solid"/>
          </a:ln>
        </p:spPr>
      </p:sp>
      <p:sp>
        <p:nvSpPr>
          <p:cNvPr id="10" name="Text 7"/>
          <p:cNvSpPr/>
          <p:nvPr/>
        </p:nvSpPr>
        <p:spPr>
          <a:xfrm>
            <a:off x="7086600" y="3813048"/>
            <a:ext cx="4389120" cy="841248"/>
          </a:xfrm>
          <a:prstGeom prst="rect">
            <a:avLst/>
          </a:prstGeom>
          <a:noFill/>
          <a:ln/>
        </p:spPr>
        <p:txBody>
          <a:bodyPr wrap="square" lIns="0" tIns="0" rIns="0" bIns="0" rtlCol="0" anchor="t"/>
          <a:lstStyle/>
          <a:p>
            <a:pPr indent="0" marL="0">
              <a:lnSpc>
                <a:spcPct val="110000"/>
              </a:lnSpc>
              <a:buNone/>
            </a:pPr>
            <a:r>
              <a:rPr lang="en-US" sz="1200" b="1" dirty="0">
                <a:solidFill>
                  <a:srgbClr val="000000"/>
                </a:solidFill>
                <a:latin typeface="Calibri" pitchFamily="34" charset="0"/>
                <a:ea typeface="Calibri" pitchFamily="34" charset="-122"/>
                <a:cs typeface="Calibri" pitchFamily="34" charset="-120"/>
              </a:rPr>
              <a:t>Tín hiệu hint
</a:t>
            </a:r>
            <a:pPr indent="0" marL="0">
              <a:lnSpc>
                <a:spcPct val="110000"/>
              </a:lnSpc>
              <a:buNone/>
            </a:pPr>
            <a:r>
              <a:rPr lang="en-US" sz="1000" dirty="0">
                <a:solidFill>
                  <a:srgbClr val="000000"/>
                </a:solidFill>
                <a:latin typeface="Calibri" pitchFamily="34" charset="0"/>
                <a:ea typeface="Calibri" pitchFamily="34" charset="-122"/>
                <a:cs typeface="Calibri" pitchFamily="34" charset="-120"/>
              </a:rPr>
              <a:t>Có ở assist09, assist12, junyi, algebra05, bridge06 — không có ở eedi và xes3g5m.</a:t>
            </a:r>
            <a:endParaRPr lang="en-US" sz="1200" dirty="0"/>
          </a:p>
        </p:txBody>
      </p:sp>
      <p:sp>
        <p:nvSpPr>
          <p:cNvPr id="11" name="Shape 8"/>
          <p:cNvSpPr/>
          <p:nvPr/>
        </p:nvSpPr>
        <p:spPr>
          <a:xfrm>
            <a:off x="6903720" y="4855464"/>
            <a:ext cx="4754880" cy="987552"/>
          </a:xfrm>
          <a:prstGeom prst="roundRect">
            <a:avLst>
              <a:gd name="adj" fmla="val 4630"/>
            </a:avLst>
          </a:prstGeom>
          <a:solidFill>
            <a:srgbClr val="F5F7FC"/>
          </a:solidFill>
          <a:ln w="9525">
            <a:solidFill>
              <a:srgbClr val="E3E7F1"/>
            </a:solidFill>
            <a:prstDash val="solid"/>
          </a:ln>
        </p:spPr>
      </p:sp>
      <p:sp>
        <p:nvSpPr>
          <p:cNvPr id="12" name="Text 9"/>
          <p:cNvSpPr/>
          <p:nvPr/>
        </p:nvSpPr>
        <p:spPr>
          <a:xfrm>
            <a:off x="7086600" y="4928616"/>
            <a:ext cx="4389120" cy="841248"/>
          </a:xfrm>
          <a:prstGeom prst="rect">
            <a:avLst/>
          </a:prstGeom>
          <a:noFill/>
          <a:ln/>
        </p:spPr>
        <p:txBody>
          <a:bodyPr wrap="square" lIns="0" tIns="0" rIns="0" bIns="0" rtlCol="0" anchor="t"/>
          <a:lstStyle/>
          <a:p>
            <a:pPr indent="0" marL="0">
              <a:lnSpc>
                <a:spcPct val="110000"/>
              </a:lnSpc>
              <a:buNone/>
            </a:pPr>
            <a:r>
              <a:rPr lang="en-US" sz="1200" b="1" dirty="0">
                <a:solidFill>
                  <a:srgbClr val="000000"/>
                </a:solidFill>
                <a:latin typeface="Calibri" pitchFamily="34" charset="0"/>
                <a:ea typeface="Calibri" pitchFamily="34" charset="-122"/>
                <a:cs typeface="Calibri" pitchFamily="34" charset="-120"/>
              </a:rPr>
              <a:t>Đa-KC (&gt;1%)
</a:t>
            </a:r>
            <a:pPr indent="0" marL="0">
              <a:lnSpc>
                <a:spcPct val="110000"/>
              </a:lnSpc>
              <a:buNone/>
            </a:pPr>
            <a:r>
              <a:rPr lang="en-US" sz="1000" dirty="0">
                <a:solidFill>
                  <a:srgbClr val="000000"/>
                </a:solidFill>
                <a:latin typeface="Calibri" pitchFamily="34" charset="0"/>
                <a:ea typeface="Calibri" pitchFamily="34" charset="-122"/>
                <a:cs typeface="Calibri" pitchFamily="34" charset="-120"/>
              </a:rPr>
              <a:t>Có ở algebra05, bridge06, xes3g5m, eedi — không có (hoặc không đáng kể) ở assist09/assist12/junyi.</a:t>
            </a:r>
            <a:endParaRPr lang="en-US" sz="1200" dirty="0"/>
          </a:p>
        </p:txBody>
      </p:sp>
      <p:sp>
        <p:nvSpPr>
          <p:cNvPr id="13" name="Text 10"/>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000000"/>
                </a:solidFill>
                <a:latin typeface="Calibri" pitchFamily="34" charset="0"/>
                <a:ea typeface="Calibri" pitchFamily="34" charset="-122"/>
                <a:cs typeface="Calibri" pitchFamily="34" charset="-120"/>
              </a:rPr>
              <a:t>So sánh chéo — modality</a:t>
            </a:r>
            <a:endParaRPr lang="en-US" sz="1000" dirty="0"/>
          </a:p>
        </p:txBody>
      </p:sp>
      <p:sp>
        <p:nvSpPr>
          <p:cNvPr id="14" name="Text 11"/>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000000"/>
                </a:solidFill>
                <a:latin typeface="Calibri" pitchFamily="34" charset="0"/>
                <a:ea typeface="Calibri" pitchFamily="34" charset="-122"/>
                <a:cs typeface="Calibri" pitchFamily="34" charset="-120"/>
              </a:rPr>
              <a:t>69</a:t>
            </a:r>
            <a:endParaRPr lang="en-US" sz="10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502920"/>
            <a:ext cx="54864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07 · Tổng hợp</a:t>
            </a:r>
            <a:endParaRPr lang="en-US" sz="1100" dirty="0"/>
          </a:p>
        </p:txBody>
      </p:sp>
      <p:sp>
        <p:nvSpPr>
          <p:cNvPr id="3" name="Text 1"/>
          <p:cNvSpPr/>
          <p:nvPr/>
        </p:nvSpPr>
        <p:spPr>
          <a:xfrm>
            <a:off x="640080" y="777240"/>
            <a:ext cx="10515600" cy="82296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Điểm giống, điểm khác &amp; vì sao nó quan trọng</a:t>
            </a:r>
            <a:endParaRPr lang="en-US" sz="2800" dirty="0"/>
          </a:p>
        </p:txBody>
      </p:sp>
      <p:sp>
        <p:nvSpPr>
          <p:cNvPr id="4" name="Shape 2"/>
          <p:cNvSpPr/>
          <p:nvPr/>
        </p:nvSpPr>
        <p:spPr>
          <a:xfrm>
            <a:off x="640080" y="1965960"/>
            <a:ext cx="5257800" cy="1783080"/>
          </a:xfrm>
          <a:prstGeom prst="roundRect">
            <a:avLst>
              <a:gd name="adj" fmla="val 3077"/>
            </a:avLst>
          </a:prstGeom>
          <a:solidFill>
            <a:srgbClr val="141A45"/>
          </a:solidFill>
          <a:ln/>
        </p:spPr>
      </p:sp>
      <p:sp>
        <p:nvSpPr>
          <p:cNvPr id="5" name="Shape 3"/>
          <p:cNvSpPr/>
          <p:nvPr/>
        </p:nvSpPr>
        <p:spPr>
          <a:xfrm>
            <a:off x="896112" y="2203704"/>
            <a:ext cx="128016" cy="128016"/>
          </a:xfrm>
          <a:prstGeom prst="roundRect">
            <a:avLst>
              <a:gd name="adj" fmla="val 50000"/>
            </a:avLst>
          </a:prstGeom>
          <a:solidFill>
            <a:srgbClr val="8B9BD8"/>
          </a:solidFill>
          <a:ln/>
        </p:spPr>
      </p:sp>
      <p:sp>
        <p:nvSpPr>
          <p:cNvPr id="6" name="Text 4"/>
          <p:cNvSpPr/>
          <p:nvPr/>
        </p:nvSpPr>
        <p:spPr>
          <a:xfrm>
            <a:off x="1143000" y="2130552"/>
            <a:ext cx="45262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Điểm giống nhau</a:t>
            </a:r>
            <a:endParaRPr lang="en-US" sz="1400" dirty="0"/>
          </a:p>
        </p:txBody>
      </p:sp>
      <p:sp>
        <p:nvSpPr>
          <p:cNvPr id="7" name="Text 5"/>
          <p:cNvSpPr/>
          <p:nvPr/>
        </p:nvSpPr>
        <p:spPr>
          <a:xfrm>
            <a:off x="896112" y="2532888"/>
            <a:ext cx="4745736" cy="105156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Calibri" pitchFamily="34" charset="0"/>
                <a:ea typeface="Calibri" pitchFamily="34" charset="-122"/>
                <a:cs typeface="Calibri" pitchFamily="34" charset="-120"/>
              </a:rPr>
              <a:t>Cả 7 config đều là log tương tác nhị phân đúng/sai, gắn được ≥1 KC, và có đủ tín hiệu suy ra thứ tự theo học sinh — đủ để chuẩn hoá về 1 schema chung user, question, kcs[], correct, ts.</a:t>
            </a:r>
            <a:endParaRPr lang="en-US" sz="1150" dirty="0"/>
          </a:p>
        </p:txBody>
      </p:sp>
      <p:sp>
        <p:nvSpPr>
          <p:cNvPr id="8" name="Shape 6"/>
          <p:cNvSpPr/>
          <p:nvPr/>
        </p:nvSpPr>
        <p:spPr>
          <a:xfrm>
            <a:off x="6355080" y="1965960"/>
            <a:ext cx="5257800" cy="1783080"/>
          </a:xfrm>
          <a:prstGeom prst="roundRect">
            <a:avLst>
              <a:gd name="adj" fmla="val 3077"/>
            </a:avLst>
          </a:prstGeom>
          <a:solidFill>
            <a:srgbClr val="141A45"/>
          </a:solidFill>
          <a:ln/>
        </p:spPr>
      </p:sp>
      <p:sp>
        <p:nvSpPr>
          <p:cNvPr id="9" name="Shape 7"/>
          <p:cNvSpPr/>
          <p:nvPr/>
        </p:nvSpPr>
        <p:spPr>
          <a:xfrm>
            <a:off x="6611112" y="2203704"/>
            <a:ext cx="128016" cy="128016"/>
          </a:xfrm>
          <a:prstGeom prst="roundRect">
            <a:avLst>
              <a:gd name="adj" fmla="val 50000"/>
            </a:avLst>
          </a:prstGeom>
          <a:solidFill>
            <a:srgbClr val="1BAF7A"/>
          </a:solidFill>
          <a:ln/>
        </p:spPr>
      </p:sp>
      <p:sp>
        <p:nvSpPr>
          <p:cNvPr id="10" name="Text 8"/>
          <p:cNvSpPr/>
          <p:nvPr/>
        </p:nvSpPr>
        <p:spPr>
          <a:xfrm>
            <a:off x="6858000" y="2130552"/>
            <a:ext cx="45262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Quy mô KC vocab lệch 2 bậc</a:t>
            </a:r>
            <a:endParaRPr lang="en-US" sz="1400" dirty="0"/>
          </a:p>
        </p:txBody>
      </p:sp>
      <p:sp>
        <p:nvSpPr>
          <p:cNvPr id="11" name="Text 9"/>
          <p:cNvSpPr/>
          <p:nvPr/>
        </p:nvSpPr>
        <p:spPr>
          <a:xfrm>
            <a:off x="6611112" y="2532888"/>
            <a:ext cx="4745736" cy="105156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Calibri" pitchFamily="34" charset="0"/>
                <a:ea typeface="Calibri" pitchFamily="34" charset="-122"/>
                <a:cs typeface="Calibri" pitchFamily="34" charset="-120"/>
              </a:rPr>
              <a:t>assist09 (149 skill) so với eedi/bridge06/xes3g5m (hàng nghìn) — lý giải vì sao bridge06, junyi, xes3g5m được cấu hình d_v: 16 (nhỏ hơn mặc định 32) để giới hạn bộ nhớ mastery.</a:t>
            </a:r>
            <a:endParaRPr lang="en-US" sz="1150" dirty="0"/>
          </a:p>
        </p:txBody>
      </p:sp>
      <p:sp>
        <p:nvSpPr>
          <p:cNvPr id="12" name="Shape 10"/>
          <p:cNvSpPr/>
          <p:nvPr/>
        </p:nvSpPr>
        <p:spPr>
          <a:xfrm>
            <a:off x="640080" y="4206240"/>
            <a:ext cx="5257800" cy="1783080"/>
          </a:xfrm>
          <a:prstGeom prst="roundRect">
            <a:avLst>
              <a:gd name="adj" fmla="val 3077"/>
            </a:avLst>
          </a:prstGeom>
          <a:solidFill>
            <a:srgbClr val="141A45"/>
          </a:solidFill>
          <a:ln/>
        </p:spPr>
      </p:sp>
      <p:sp>
        <p:nvSpPr>
          <p:cNvPr id="13" name="Shape 11"/>
          <p:cNvSpPr/>
          <p:nvPr/>
        </p:nvSpPr>
        <p:spPr>
          <a:xfrm>
            <a:off x="896112" y="4443984"/>
            <a:ext cx="128016" cy="128016"/>
          </a:xfrm>
          <a:prstGeom prst="roundRect">
            <a:avLst>
              <a:gd name="adj" fmla="val 50000"/>
            </a:avLst>
          </a:prstGeom>
          <a:solidFill>
            <a:srgbClr val="EDA100"/>
          </a:solidFill>
          <a:ln/>
        </p:spPr>
      </p:sp>
      <p:sp>
        <p:nvSpPr>
          <p:cNvPr id="14" name="Text 12"/>
          <p:cNvSpPr/>
          <p:nvPr/>
        </p:nvSpPr>
        <p:spPr>
          <a:xfrm>
            <a:off x="1143000" y="4370832"/>
            <a:ext cx="45262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Multi-KC không đồng nhất</a:t>
            </a:r>
            <a:endParaRPr lang="en-US" sz="1400" dirty="0"/>
          </a:p>
        </p:txBody>
      </p:sp>
      <p:sp>
        <p:nvSpPr>
          <p:cNvPr id="15" name="Text 13"/>
          <p:cNvSpPr/>
          <p:nvPr/>
        </p:nvSpPr>
        <p:spPr>
          <a:xfrm>
            <a:off x="896112" y="4773168"/>
            <a:ext cx="4745736" cy="105156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Calibri" pitchFamily="34" charset="0"/>
                <a:ea typeface="Calibri" pitchFamily="34" charset="-122"/>
                <a:cs typeface="Calibri" pitchFamily="34" charset="-120"/>
              </a:rPr>
              <a:t>assist09, eedi, KDD Cup, xes3g5m có phần lớn tương tác đa-KC (đòi hỏi k_max &gt; 1); assist12 và junyi là single-KC tuyệt đối theo thiết kế log.</a:t>
            </a:r>
            <a:endParaRPr lang="en-US" sz="1150" dirty="0"/>
          </a:p>
        </p:txBody>
      </p:sp>
      <p:sp>
        <p:nvSpPr>
          <p:cNvPr id="16" name="Shape 14"/>
          <p:cNvSpPr/>
          <p:nvPr/>
        </p:nvSpPr>
        <p:spPr>
          <a:xfrm>
            <a:off x="6355080" y="4206240"/>
            <a:ext cx="5257800" cy="1783080"/>
          </a:xfrm>
          <a:prstGeom prst="roundRect">
            <a:avLst>
              <a:gd name="adj" fmla="val 3077"/>
            </a:avLst>
          </a:prstGeom>
          <a:solidFill>
            <a:srgbClr val="141A45"/>
          </a:solidFill>
          <a:ln/>
        </p:spPr>
      </p:sp>
      <p:sp>
        <p:nvSpPr>
          <p:cNvPr id="17" name="Shape 15"/>
          <p:cNvSpPr/>
          <p:nvPr/>
        </p:nvSpPr>
        <p:spPr>
          <a:xfrm>
            <a:off x="6611112" y="4443984"/>
            <a:ext cx="128016" cy="128016"/>
          </a:xfrm>
          <a:prstGeom prst="roundRect">
            <a:avLst>
              <a:gd name="adj" fmla="val 50000"/>
            </a:avLst>
          </a:prstGeom>
          <a:solidFill>
            <a:srgbClr val="E87BA4"/>
          </a:solidFill>
          <a:ln/>
        </p:spPr>
      </p:sp>
      <p:sp>
        <p:nvSpPr>
          <p:cNvPr id="18" name="Text 16"/>
          <p:cNvSpPr/>
          <p:nvPr/>
        </p:nvSpPr>
        <p:spPr>
          <a:xfrm>
            <a:off x="6858000" y="4370832"/>
            <a:ext cx="45262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Tín hiệu phụ chưa khai thác</a:t>
            </a:r>
            <a:endParaRPr lang="en-US" sz="1400" dirty="0"/>
          </a:p>
        </p:txBody>
      </p:sp>
      <p:sp>
        <p:nvSpPr>
          <p:cNvPr id="19" name="Text 17"/>
          <p:cNvSpPr/>
          <p:nvPr/>
        </p:nvSpPr>
        <p:spPr>
          <a:xfrm>
            <a:off x="6611112" y="4773168"/>
            <a:ext cx="4745736" cy="1051560"/>
          </a:xfrm>
          <a:prstGeom prst="rect">
            <a:avLst/>
          </a:prstGeom>
          <a:noFill/>
          <a:ln/>
        </p:spPr>
        <p:txBody>
          <a:bodyPr wrap="square" lIns="0" tIns="0" rIns="0" bIns="0" rtlCol="0" anchor="t"/>
          <a:lstStyle/>
          <a:p>
            <a:pPr indent="0" marL="0">
              <a:lnSpc>
                <a:spcPct val="135000"/>
              </a:lnSpc>
              <a:buNone/>
            </a:pPr>
            <a:r>
              <a:rPr lang="en-US" sz="1150" dirty="0">
                <a:solidFill>
                  <a:srgbClr val="FFFFFF"/>
                </a:solidFill>
                <a:latin typeface="Calibri" pitchFamily="34" charset="0"/>
                <a:ea typeface="Calibri" pitchFamily="34" charset="-122"/>
                <a:cs typeface="Calibri" pitchFamily="34" charset="-120"/>
              </a:rPr>
              <a:t>Affect (assist12), ảnh + lời giải tiếng Trung (xes3g5m), cờ downgrade/upgrade (Junyi), hint/step-duration chi tiết (KDD Cup, ASSISTments) — pipeline hiện tại chưa dùng, là không gian mở rộng tự nhiên.</a:t>
            </a:r>
            <a:endParaRPr lang="en-US" sz="1150" dirty="0"/>
          </a:p>
        </p:txBody>
      </p:sp>
      <p:sp>
        <p:nvSpPr>
          <p:cNvPr id="20" name="Text 18"/>
          <p:cNvSpPr/>
          <p:nvPr/>
        </p:nvSpPr>
        <p:spPr>
          <a:xfrm>
            <a:off x="457200" y="6547104"/>
            <a:ext cx="7315200" cy="256032"/>
          </a:xfrm>
          <a:prstGeom prst="rect">
            <a:avLst/>
          </a:prstGeom>
          <a:noFill/>
          <a:ln/>
        </p:spPr>
        <p:txBody>
          <a:bodyPr wrap="square" lIns="0" tIns="0" rIns="0" bIns="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Tổng hợp</a:t>
            </a:r>
            <a:endParaRPr lang="en-US" sz="1000" dirty="0"/>
          </a:p>
        </p:txBody>
      </p:sp>
      <p:sp>
        <p:nvSpPr>
          <p:cNvPr id="21" name="Text 19"/>
          <p:cNvSpPr/>
          <p:nvPr/>
        </p:nvSpPr>
        <p:spPr>
          <a:xfrm>
            <a:off x="11274552" y="6547104"/>
            <a:ext cx="457200" cy="256032"/>
          </a:xfrm>
          <a:prstGeom prst="rect">
            <a:avLst/>
          </a:prstGeom>
          <a:noFill/>
          <a:ln/>
        </p:spPr>
        <p:txBody>
          <a:bodyPr wrap="square" lIns="0" tIns="0" rIns="0" bIns="0" rtlCol="0" anchor="ctr"/>
          <a:lstStyle/>
          <a:p>
            <a:pPr algn="r" indent="0" marL="0">
              <a:buNone/>
            </a:pPr>
            <a:r>
              <a:rPr lang="en-US" sz="1000" dirty="0">
                <a:solidFill>
                  <a:srgbClr val="FFFFFF"/>
                </a:solidFill>
                <a:latin typeface="Calibri" pitchFamily="34" charset="0"/>
                <a:ea typeface="Calibri" pitchFamily="34" charset="-122"/>
                <a:cs typeface="Calibri" pitchFamily="34" charset="-120"/>
              </a:rPr>
              <a:t>70</a:t>
            </a:r>
            <a:endParaRPr lang="en-US" sz="1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822960" y="2651760"/>
            <a:ext cx="73152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Cảm ơn</a:t>
            </a:r>
            <a:endParaRPr lang="en-US" sz="4600" dirty="0"/>
          </a:p>
        </p:txBody>
      </p:sp>
      <p:sp>
        <p:nvSpPr>
          <p:cNvPr id="3" name="Text 1"/>
          <p:cNvSpPr/>
          <p:nvPr/>
        </p:nvSpPr>
        <p:spPr>
          <a:xfrm>
            <a:off x="822960" y="3657600"/>
            <a:ext cx="82296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Chi tiết đầy đủ, mã nguồn tái tạo và toàn bộ biểu đồ tương tác:</a:t>
            </a:r>
            <a:endParaRPr lang="en-US" sz="1400" dirty="0"/>
          </a:p>
        </p:txBody>
      </p:sp>
      <p:sp>
        <p:nvSpPr>
          <p:cNvPr id="4" name="Text 2"/>
          <p:cNvSpPr/>
          <p:nvPr/>
        </p:nvSpPr>
        <p:spPr>
          <a:xfrm>
            <a:off x="822960" y="4041648"/>
            <a:ext cx="82296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code/notebooks/datasets_deep_dive.ipynb</a:t>
            </a:r>
            <a:endParaRPr lang="en-US" sz="1400" dirty="0"/>
          </a:p>
        </p:txBody>
      </p:sp>
      <p:sp>
        <p:nvSpPr>
          <p:cNvPr id="5" name="Shape 3"/>
          <p:cNvSpPr/>
          <p:nvPr/>
        </p:nvSpPr>
        <p:spPr>
          <a:xfrm>
            <a:off x="822960" y="4892040"/>
            <a:ext cx="1115568" cy="365760"/>
          </a:xfrm>
          <a:prstGeom prst="roundRect">
            <a:avLst>
              <a:gd name="adj" fmla="val 20000"/>
            </a:avLst>
          </a:prstGeom>
          <a:solidFill>
            <a:srgbClr val="2A78D6"/>
          </a:solidFill>
          <a:ln/>
        </p:spPr>
      </p:sp>
      <p:sp>
        <p:nvSpPr>
          <p:cNvPr id="6" name="Text 4"/>
          <p:cNvSpPr/>
          <p:nvPr/>
        </p:nvSpPr>
        <p:spPr>
          <a:xfrm>
            <a:off x="822960" y="4892040"/>
            <a:ext cx="111556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assist09</a:t>
            </a:r>
            <a:endParaRPr lang="en-US" sz="1100" dirty="0"/>
          </a:p>
        </p:txBody>
      </p:sp>
      <p:sp>
        <p:nvSpPr>
          <p:cNvPr id="7" name="Shape 5"/>
          <p:cNvSpPr/>
          <p:nvPr/>
        </p:nvSpPr>
        <p:spPr>
          <a:xfrm>
            <a:off x="2084832" y="4892040"/>
            <a:ext cx="1115568" cy="365760"/>
          </a:xfrm>
          <a:prstGeom prst="roundRect">
            <a:avLst>
              <a:gd name="adj" fmla="val 20000"/>
            </a:avLst>
          </a:prstGeom>
          <a:solidFill>
            <a:srgbClr val="EB6834"/>
          </a:solidFill>
          <a:ln/>
        </p:spPr>
      </p:sp>
      <p:sp>
        <p:nvSpPr>
          <p:cNvPr id="8" name="Text 6"/>
          <p:cNvSpPr/>
          <p:nvPr/>
        </p:nvSpPr>
        <p:spPr>
          <a:xfrm>
            <a:off x="2084832" y="4892040"/>
            <a:ext cx="111556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assist12</a:t>
            </a:r>
            <a:endParaRPr lang="en-US" sz="1100" dirty="0"/>
          </a:p>
        </p:txBody>
      </p:sp>
      <p:sp>
        <p:nvSpPr>
          <p:cNvPr id="9" name="Shape 7"/>
          <p:cNvSpPr/>
          <p:nvPr/>
        </p:nvSpPr>
        <p:spPr>
          <a:xfrm>
            <a:off x="3346704" y="4892040"/>
            <a:ext cx="1207008" cy="365760"/>
          </a:xfrm>
          <a:prstGeom prst="roundRect">
            <a:avLst>
              <a:gd name="adj" fmla="val 20000"/>
            </a:avLst>
          </a:prstGeom>
          <a:solidFill>
            <a:srgbClr val="1BAF7A"/>
          </a:solidFill>
          <a:ln/>
        </p:spPr>
      </p:sp>
      <p:sp>
        <p:nvSpPr>
          <p:cNvPr id="10" name="Text 8"/>
          <p:cNvSpPr/>
          <p:nvPr/>
        </p:nvSpPr>
        <p:spPr>
          <a:xfrm>
            <a:off x="3346704" y="4892040"/>
            <a:ext cx="1207008"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algebra05</a:t>
            </a:r>
            <a:endParaRPr lang="en-US" sz="1100" dirty="0"/>
          </a:p>
        </p:txBody>
      </p:sp>
      <p:sp>
        <p:nvSpPr>
          <p:cNvPr id="11" name="Shape 9"/>
          <p:cNvSpPr/>
          <p:nvPr/>
        </p:nvSpPr>
        <p:spPr>
          <a:xfrm>
            <a:off x="4700016" y="4892040"/>
            <a:ext cx="1115568" cy="365760"/>
          </a:xfrm>
          <a:prstGeom prst="roundRect">
            <a:avLst>
              <a:gd name="adj" fmla="val 20000"/>
            </a:avLst>
          </a:prstGeom>
          <a:solidFill>
            <a:srgbClr val="EDA100"/>
          </a:solidFill>
          <a:ln/>
        </p:spPr>
      </p:sp>
      <p:sp>
        <p:nvSpPr>
          <p:cNvPr id="12" name="Text 10"/>
          <p:cNvSpPr/>
          <p:nvPr/>
        </p:nvSpPr>
        <p:spPr>
          <a:xfrm>
            <a:off x="4700016" y="4892040"/>
            <a:ext cx="1115568"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bridge06</a:t>
            </a:r>
            <a:endParaRPr lang="en-US" sz="1100" dirty="0"/>
          </a:p>
        </p:txBody>
      </p:sp>
      <p:sp>
        <p:nvSpPr>
          <p:cNvPr id="13" name="Shape 11"/>
          <p:cNvSpPr/>
          <p:nvPr/>
        </p:nvSpPr>
        <p:spPr>
          <a:xfrm>
            <a:off x="5961888" y="4892040"/>
            <a:ext cx="1024128" cy="365760"/>
          </a:xfrm>
          <a:prstGeom prst="roundRect">
            <a:avLst>
              <a:gd name="adj" fmla="val 20000"/>
            </a:avLst>
          </a:prstGeom>
          <a:solidFill>
            <a:srgbClr val="E87BA4"/>
          </a:solidFill>
          <a:ln/>
        </p:spPr>
      </p:sp>
      <p:sp>
        <p:nvSpPr>
          <p:cNvPr id="14" name="Text 12"/>
          <p:cNvSpPr/>
          <p:nvPr/>
        </p:nvSpPr>
        <p:spPr>
          <a:xfrm>
            <a:off x="5961888" y="4892040"/>
            <a:ext cx="1024128" cy="365760"/>
          </a:xfrm>
          <a:prstGeom prst="rect">
            <a:avLst/>
          </a:prstGeom>
          <a:noFill/>
          <a:ln/>
        </p:spPr>
        <p:txBody>
          <a:bodyPr wrap="square" lIns="0" tIns="0" rIns="0" bIns="0" rtlCol="0" anchor="ctr"/>
          <a:lstStyle/>
          <a:p>
            <a:pPr algn="ctr" indent="0" marL="0">
              <a:buNone/>
            </a:pPr>
            <a:r>
              <a:rPr lang="en-US" sz="1100" b="1" dirty="0">
                <a:solidFill>
                  <a:srgbClr val="000000"/>
                </a:solidFill>
                <a:latin typeface="Calibri" pitchFamily="34" charset="0"/>
                <a:ea typeface="Calibri" pitchFamily="34" charset="-122"/>
                <a:cs typeface="Calibri" pitchFamily="34" charset="-120"/>
              </a:rPr>
              <a:t>xes3g5m</a:t>
            </a:r>
            <a:endParaRPr lang="en-US" sz="1100" dirty="0"/>
          </a:p>
        </p:txBody>
      </p:sp>
      <p:sp>
        <p:nvSpPr>
          <p:cNvPr id="15" name="Shape 13"/>
          <p:cNvSpPr/>
          <p:nvPr/>
        </p:nvSpPr>
        <p:spPr>
          <a:xfrm>
            <a:off x="7132320" y="4892040"/>
            <a:ext cx="749808" cy="365760"/>
          </a:xfrm>
          <a:prstGeom prst="roundRect">
            <a:avLst>
              <a:gd name="adj" fmla="val 20000"/>
            </a:avLst>
          </a:prstGeom>
          <a:solidFill>
            <a:srgbClr val="008300"/>
          </a:solidFill>
          <a:ln/>
        </p:spPr>
      </p:sp>
      <p:sp>
        <p:nvSpPr>
          <p:cNvPr id="16" name="Text 14"/>
          <p:cNvSpPr/>
          <p:nvPr/>
        </p:nvSpPr>
        <p:spPr>
          <a:xfrm>
            <a:off x="7132320" y="4892040"/>
            <a:ext cx="74980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eedi</a:t>
            </a:r>
            <a:endParaRPr lang="en-US" sz="1100" dirty="0"/>
          </a:p>
        </p:txBody>
      </p:sp>
      <p:sp>
        <p:nvSpPr>
          <p:cNvPr id="17" name="Shape 15"/>
          <p:cNvSpPr/>
          <p:nvPr/>
        </p:nvSpPr>
        <p:spPr>
          <a:xfrm>
            <a:off x="8028432" y="4892040"/>
            <a:ext cx="841248" cy="365760"/>
          </a:xfrm>
          <a:prstGeom prst="roundRect">
            <a:avLst>
              <a:gd name="adj" fmla="val 20000"/>
            </a:avLst>
          </a:prstGeom>
          <a:solidFill>
            <a:srgbClr val="4A3AA7"/>
          </a:solidFill>
          <a:ln/>
        </p:spPr>
      </p:sp>
      <p:sp>
        <p:nvSpPr>
          <p:cNvPr id="18" name="Text 16"/>
          <p:cNvSpPr/>
          <p:nvPr/>
        </p:nvSpPr>
        <p:spPr>
          <a:xfrm>
            <a:off x="8028432" y="4892040"/>
            <a:ext cx="841248"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junyi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2026-08-05T07:43:21Z</dcterms:created>
  <dcterms:modified xsi:type="dcterms:W3CDTF">2026-08-05T07:43:21Z</dcterms:modified>
</cp:coreProperties>
</file>